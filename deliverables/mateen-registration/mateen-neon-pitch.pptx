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٢٥ ثانية. هذه فكرة وخطة تسجيل. مسارنا الرئيس المفتوح يجمع التعلم التفاعلي والحوار المعرفي الموثق؛ لا نسجل في المسارين الأول والثالث بالتزامن. الشعار الرسمي مرفق دون إعادة رسم.</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٤٠ ثانية. المقام ستون، لا واحد وستون. الأسئلة متعددة الاختيار؛ لا تجمع النسب. بعض المستجيبين لا يدرسون المتون حالياً، لذلك لا نزعم أنهم كلهم طلاب كليات شرعية. لا يوجد اقتباس حرفي موحد في البيانات كالعبارة المقترحة في الملف، لذلك لم ننسب لهم اقتباساً.</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٤٠ ثانية. هذا مخطط واجهة تصوري وليس لقطة من تطبيق يعمل. النطاق الأول يقيّم صحة الكلمات وترتيبها والحذف والاستبدال. تقييم التشكيل والنطق ومخارج الحروف مؤجل. التصحيح الفوري في التدريب عند ثبوت الخطأ، دون إيقاف الطالب؛ لا يكشف الجواب في الاختبار.</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٤٠ ثانية. يبدأ المقترح بنص معتمد، وإذن الميكروفون، ودفعات مرقمة، وتفريغ وتطابق كلمات داخل المنصة. مقارنة مزودي الصوت على حذف واستبدال متعمدين وأخطاء زائفة وزمن ثبات النتيجة والكلفة. لا ادعاء بزمن أقل من ٣٠٠ مللي ثانية أو بنموذج forced alignment.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٤٠ ثانية. استبيان سؤال ٦: ٤٧ من ٦٠، أي ٧٨٫٣٪ اختاروا ذكر المصدر ضمن عوامل الثقة. تؤخذ المصادر من حزمة علمية مأذون بها، وتراجع الطبعة وحقوق الاستخدام والمواضع المطبوعة قبل النشر. الحالات الحرجة: غياب المصدر، التعارض، وخارج النطاق والفتوى. لا ادعاء صفر هلوسة أو اكتمال مراجعة محتوى لم يُعتمد.</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٣٥ ثانية. توافق اختيارات المواصفات المعتمدة. WebSocket للبث وREST للعمليات المعتادة، تخزين ملفات خاص لا قاعدة البيانات، وpgvector فقط عند دعم البيئة. تدريب نموذج متخصص يُدرس إذا أثبت التقييم ضرورة ذلك، لا شرط لرحلة أولى قابلة للتسليم.</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٤٠ ثانية. الحسابات من الملف الفعلي: ٤٧/٦٠=٧٨٫٣٪؛ ٣٨/٦٠=٦٣٫٣٪ لخيار ممتاز، لا ٦٣٫٩؛ ٣٥/٦٠=٥٨٫٣٪ لتقييم ٤ أو ٥، لا ٥٧٫٤. سؤال الصوت طلب تقييم ميزة تشمل تصحيح النطق والتشكيل؛ هذا أوسع من النطاق الأول الذي يقيم الكلمات، فلا تُستعمل النسبة لإثبات تبني ميزة الكلمات تحديداً. لم نستخدم شارات Code Ready أو Production Ready لأنها غير مثبتة.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٢٥ ثانية. لا يوجد إطلاق حالي أو شراكات مبرمة. أثناء التحدي ٤–٦ أكتوبر نخطط لمتن واحد وشرح مرخّص بعد مراجعة الحقوق؛ بقية المواصفات المعتمدة على مراحل. لا تعد الشرائح بإصدار تلقائي للشهادات ولا بإطلاق مسار فقه أو لغة غير معتمد. تقاس كلفة دقيقة الصوت والسؤال والمراجعة البشرية بعد التجربة.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١٥ ثانية. مجموع وقت الحديث المقترح ٣٠٠ ثانية. لا QR وهمياً ولا روابط مخترعة ولا أرقام اتصالات خاصة. الروابط يمكن إضافتها عند توفر رابط حي فعلي ومراجعة الحقوق حسب دليل التحدي. المسؤوليات وفق ما زودنا به الفريق دون اختراع شهادات.</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eon-background.png"/>
          <p:cNvPicPr>
            <a:picLocks noChangeAspect="1"/>
          </p:cNvPicPr>
          <p:nvPr/>
        </p:nvPicPr>
        <p:blipFill>
          <a:blip r:embed="rId2"/>
          <a:stretch>
            <a:fillRect/>
          </a:stretch>
        </p:blipFill>
        <p:spPr>
          <a:xfrm>
            <a:off x="0" y="0"/>
            <a:ext cx="12191999" cy="6858000"/>
          </a:xfrm>
          <a:prstGeom prst="rect">
            <a:avLst/>
          </a:prstGeom>
        </p:spPr>
      </p:pic>
      <p:sp>
        <p:nvSpPr>
          <p:cNvPr id="3" name="Rounded Rectangle 2"/>
          <p:cNvSpPr/>
          <p:nvPr/>
        </p:nvSpPr>
        <p:spPr>
          <a:xfrm>
            <a:off x="2889504" y="1051560"/>
            <a:ext cx="6419088" cy="1792224"/>
          </a:xfrm>
          <a:prstGeom prst="roundRect">
            <a:avLst>
              <a:gd name="adj" fmla="val 7000"/>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ateen-official-logo.png"/>
          <p:cNvPicPr>
            <a:picLocks noChangeAspect="1"/>
          </p:cNvPicPr>
          <p:nvPr/>
        </p:nvPicPr>
        <p:blipFill>
          <a:blip r:embed="rId3"/>
          <a:stretch>
            <a:fillRect/>
          </a:stretch>
        </p:blipFill>
        <p:spPr>
          <a:xfrm>
            <a:off x="3986784" y="1298448"/>
            <a:ext cx="4224528" cy="1949260"/>
          </a:xfrm>
          <a:prstGeom prst="rect">
            <a:avLst/>
          </a:prstGeom>
        </p:spPr>
      </p:pic>
      <p:sp>
        <p:nvSpPr>
          <p:cNvPr id="5" name="TextBox 4"/>
          <p:cNvSpPr txBox="1"/>
          <p:nvPr/>
        </p:nvSpPr>
        <p:spPr>
          <a:xfrm>
            <a:off x="1828800" y="3063240"/>
            <a:ext cx="8549640" cy="694944"/>
          </a:xfrm>
          <a:prstGeom prst="rect">
            <a:avLst/>
          </a:prstGeom>
          <a:noFill/>
        </p:spPr>
        <p:txBody>
          <a:bodyPr wrap="square" tIns="0" bIns="0" lIns="16459" rIns="16459">
            <a:spAutoFit/>
          </a:bodyPr>
          <a:lstStyle/>
          <a:p>
            <a:pPr algn="ctr" rtl="1">
              <a:lnSpc>
                <a:spcPct val="106000"/>
              </a:lnSpc>
              <a:spcAft>
                <a:spcPts val="400"/>
              </a:spcAft>
            </a:pPr>
            <a:r>
              <a:rPr sz="3500" b="1" lang="ar-SA">
                <a:solidFill>
                  <a:srgbClr val="F8FAFC"/>
                </a:solidFill>
                <a:latin typeface="Cairo"/>
                <a:cs typeface="Cairo"/>
              </a:rPr>
              <a:t>منصة مَتِين</a:t>
            </a:r>
          </a:p>
        </p:txBody>
      </p:sp>
      <p:sp>
        <p:nvSpPr>
          <p:cNvPr id="6" name="TextBox 5"/>
          <p:cNvSpPr txBox="1"/>
          <p:nvPr/>
        </p:nvSpPr>
        <p:spPr>
          <a:xfrm>
            <a:off x="1069848" y="3877056"/>
            <a:ext cx="10058400" cy="612648"/>
          </a:xfrm>
          <a:prstGeom prst="rect">
            <a:avLst/>
          </a:prstGeom>
          <a:noFill/>
        </p:spPr>
        <p:txBody>
          <a:bodyPr wrap="square" tIns="0" bIns="0" lIns="16459" rIns="16459">
            <a:spAutoFit/>
          </a:bodyPr>
          <a:lstStyle/>
          <a:p>
            <a:pPr algn="ctr" rtl="1">
              <a:lnSpc>
                <a:spcPct val="106000"/>
              </a:lnSpc>
              <a:spcAft>
                <a:spcPts val="400"/>
              </a:spcAft>
            </a:pPr>
            <a:r>
              <a:rPr sz="2300" b="0" lang="ar-SA">
                <a:solidFill>
                  <a:srgbClr val="B5C4D7"/>
                </a:solidFill>
                <a:latin typeface="Cairo"/>
                <a:cs typeface="Cairo"/>
              </a:rPr>
              <a:t>حفظ المتون والمنظومات العلمية، وفهمها بمصدر موثوق وتوجيه بشري</a:t>
            </a:r>
          </a:p>
        </p:txBody>
      </p:sp>
      <p:sp>
        <p:nvSpPr>
          <p:cNvPr id="7" name="Rounded Rectangle 6"/>
          <p:cNvSpPr/>
          <p:nvPr/>
        </p:nvSpPr>
        <p:spPr>
          <a:xfrm>
            <a:off x="7708392" y="5056632"/>
            <a:ext cx="2761488" cy="649224"/>
          </a:xfrm>
          <a:prstGeom prst="roundRect">
            <a:avLst>
              <a:gd name="adj" fmla="val 7000"/>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18704" y="5193792"/>
            <a:ext cx="2340864" cy="347472"/>
          </a:xfrm>
          <a:prstGeom prst="rect">
            <a:avLst/>
          </a:prstGeom>
          <a:noFill/>
        </p:spPr>
        <p:txBody>
          <a:bodyPr wrap="square" tIns="0" bIns="0" lIns="16459" rIns="16459">
            <a:spAutoFit/>
          </a:bodyPr>
          <a:lstStyle/>
          <a:p>
            <a:pPr algn="ctr" rtl="1">
              <a:lnSpc>
                <a:spcPct val="106000"/>
              </a:lnSpc>
              <a:spcAft>
                <a:spcPts val="400"/>
              </a:spcAft>
            </a:pPr>
            <a:r>
              <a:rPr sz="1600" b="1" lang="ar-SA">
                <a:solidFill>
                  <a:srgbClr val="38BDF8"/>
                </a:solidFill>
                <a:latin typeface="Cairo"/>
                <a:cs typeface="Cairo"/>
              </a:rPr>
              <a:t>تسميع الكلمات</a:t>
            </a:r>
          </a:p>
        </p:txBody>
      </p:sp>
      <p:sp>
        <p:nvSpPr>
          <p:cNvPr id="9" name="Rounded Rectangle 8"/>
          <p:cNvSpPr/>
          <p:nvPr/>
        </p:nvSpPr>
        <p:spPr>
          <a:xfrm>
            <a:off x="4553712" y="5056632"/>
            <a:ext cx="2761488" cy="649224"/>
          </a:xfrm>
          <a:prstGeom prst="roundRect">
            <a:avLst>
              <a:gd name="adj" fmla="val 7000"/>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64024" y="5193792"/>
            <a:ext cx="2340864" cy="347472"/>
          </a:xfrm>
          <a:prstGeom prst="rect">
            <a:avLst/>
          </a:prstGeom>
          <a:noFill/>
        </p:spPr>
        <p:txBody>
          <a:bodyPr wrap="square" tIns="0" bIns="0" lIns="16459" rIns="16459">
            <a:spAutoFit/>
          </a:bodyPr>
          <a:lstStyle/>
          <a:p>
            <a:pPr algn="ctr" rtl="1">
              <a:lnSpc>
                <a:spcPct val="106000"/>
              </a:lnSpc>
              <a:spcAft>
                <a:spcPts val="400"/>
              </a:spcAft>
            </a:pPr>
            <a:r>
              <a:rPr sz="1600" b="1" lang="ar-SA">
                <a:solidFill>
                  <a:srgbClr val="38BDF8"/>
                </a:solidFill>
                <a:latin typeface="Cairo"/>
                <a:cs typeface="Cairo"/>
              </a:rPr>
              <a:t>شرح مسند</a:t>
            </a:r>
          </a:p>
        </p:txBody>
      </p:sp>
      <p:sp>
        <p:nvSpPr>
          <p:cNvPr id="11" name="Rounded Rectangle 10"/>
          <p:cNvSpPr/>
          <p:nvPr/>
        </p:nvSpPr>
        <p:spPr>
          <a:xfrm>
            <a:off x="1389888" y="5056632"/>
            <a:ext cx="2761488" cy="649224"/>
          </a:xfrm>
          <a:prstGeom prst="roundRect">
            <a:avLst>
              <a:gd name="adj" fmla="val 7000"/>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00200" y="5193792"/>
            <a:ext cx="2340864" cy="347472"/>
          </a:xfrm>
          <a:prstGeom prst="rect">
            <a:avLst/>
          </a:prstGeom>
          <a:noFill/>
        </p:spPr>
        <p:txBody>
          <a:bodyPr wrap="square" tIns="0" bIns="0" lIns="16459" rIns="16459">
            <a:spAutoFit/>
          </a:bodyPr>
          <a:lstStyle/>
          <a:p>
            <a:pPr algn="ctr" rtl="1">
              <a:lnSpc>
                <a:spcPct val="106000"/>
              </a:lnSpc>
              <a:spcAft>
                <a:spcPts val="400"/>
              </a:spcAft>
            </a:pPr>
            <a:r>
              <a:rPr sz="1600" b="1" lang="ar-SA">
                <a:solidFill>
                  <a:srgbClr val="38BDF8"/>
                </a:solidFill>
                <a:latin typeface="Cairo"/>
                <a:cs typeface="Cairo"/>
              </a:rPr>
              <a:t>توجيه بشري</a:t>
            </a:r>
          </a:p>
        </p:txBody>
      </p:sp>
      <p:sp>
        <p:nvSpPr>
          <p:cNvPr id="13" name="TextBox 12"/>
          <p:cNvSpPr txBox="1"/>
          <p:nvPr/>
        </p:nvSpPr>
        <p:spPr>
          <a:xfrm>
            <a:off x="1188720" y="6419088"/>
            <a:ext cx="9829800" cy="283464"/>
          </a:xfrm>
          <a:prstGeom prst="rect">
            <a:avLst/>
          </a:prstGeom>
          <a:noFill/>
        </p:spPr>
        <p:txBody>
          <a:bodyPr wrap="square" tIns="0" bIns="0" lIns="16459" rIns="16459">
            <a:spAutoFit/>
          </a:bodyPr>
          <a:lstStyle/>
          <a:p>
            <a:pPr algn="ctr" rtl="1">
              <a:lnSpc>
                <a:spcPct val="106000"/>
              </a:lnSpc>
              <a:spcAft>
                <a:spcPts val="400"/>
              </a:spcAft>
            </a:pPr>
            <a:r>
              <a:rPr sz="1100" b="0" lang="ar-SA">
                <a:solidFill>
                  <a:srgbClr val="B5C4D7"/>
                </a:solidFill>
                <a:latin typeface="Cairo"/>
                <a:cs typeface="Cairo"/>
              </a:rPr>
              <a:t>تحدي الذكاء الاصطناعي في خدمة المحتوى الإسلامي ٢٠٢٦ • المسار المفتوح</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eon-background.png"/>
          <p:cNvPicPr>
            <a:picLocks noChangeAspect="1"/>
          </p:cNvPicPr>
          <p:nvPr/>
        </p:nvPicPr>
        <p:blipFill>
          <a:blip r:embed="rId2"/>
          <a:stretch>
            <a:fillRect/>
          </a:stretch>
        </p:blipFill>
        <p:spPr>
          <a:xfrm>
            <a:off x="0" y="0"/>
            <a:ext cx="12191999" cy="6858000"/>
          </a:xfrm>
          <a:prstGeom prst="rect">
            <a:avLst/>
          </a:prstGeom>
        </p:spPr>
      </p:pic>
      <p:pic>
        <p:nvPicPr>
          <p:cNvPr id="3" name="Picture 2" descr="mateen-official-logo.png"/>
          <p:cNvPicPr>
            <a:picLocks noChangeAspect="1"/>
          </p:cNvPicPr>
          <p:nvPr/>
        </p:nvPicPr>
        <p:blipFill>
          <a:blip r:embed="rId3"/>
          <a:stretch>
            <a:fillRect/>
          </a:stretch>
        </p:blipFill>
        <p:spPr>
          <a:xfrm>
            <a:off x="10661904" y="237744"/>
            <a:ext cx="868680" cy="400822"/>
          </a:xfrm>
          <a:prstGeom prst="rect">
            <a:avLst/>
          </a:prstGeom>
        </p:spPr>
      </p:pic>
      <p:sp>
        <p:nvSpPr>
          <p:cNvPr id="4" name="TextBox 3"/>
          <p:cNvSpPr txBox="1"/>
          <p:nvPr/>
        </p:nvSpPr>
        <p:spPr>
          <a:xfrm>
            <a:off x="594360" y="283464"/>
            <a:ext cx="8961120" cy="256032"/>
          </a:xfrm>
          <a:prstGeom prst="rect">
            <a:avLst/>
          </a:prstGeom>
          <a:noFill/>
        </p:spPr>
        <p:txBody>
          <a:bodyPr wrap="square" tIns="0" bIns="0" lIns="16459" rIns="16459">
            <a:spAutoFit/>
          </a:bodyPr>
          <a:lstStyle/>
          <a:p>
            <a:pPr algn="r" rtl="1">
              <a:lnSpc>
                <a:spcPct val="106000"/>
              </a:lnSpc>
              <a:spcAft>
                <a:spcPts val="400"/>
              </a:spcAft>
            </a:pPr>
            <a:r>
              <a:rPr sz="900" b="0" lang="ar-SA">
                <a:solidFill>
                  <a:srgbClr val="B5C4D7"/>
                </a:solidFill>
                <a:latin typeface="Cairo"/>
                <a:cs typeface="Cairo"/>
              </a:rPr>
              <a:t>المسار المفتوح  /  تحدي الذكاء الاصطناعي في خدمة المحتوى الإسلامي</a:t>
            </a:r>
          </a:p>
        </p:txBody>
      </p:sp>
      <p:sp>
        <p:nvSpPr>
          <p:cNvPr id="5" name="Rectangle 4"/>
          <p:cNvSpPr/>
          <p:nvPr/>
        </p:nvSpPr>
        <p:spPr>
          <a:xfrm>
            <a:off x="594360" y="804672"/>
            <a:ext cx="10991088" cy="10972"/>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024128"/>
            <a:ext cx="10927080" cy="694944"/>
          </a:xfrm>
          <a:prstGeom prst="rect">
            <a:avLst/>
          </a:prstGeom>
          <a:noFill/>
        </p:spPr>
        <p:txBody>
          <a:bodyPr wrap="square" tIns="0" bIns="0" lIns="16459" rIns="16459">
            <a:spAutoFit/>
          </a:bodyPr>
          <a:lstStyle/>
          <a:p>
            <a:pPr algn="r" rtl="1">
              <a:lnSpc>
                <a:spcPct val="106000"/>
              </a:lnSpc>
              <a:spcAft>
                <a:spcPts val="400"/>
              </a:spcAft>
            </a:pPr>
            <a:r>
              <a:rPr sz="2900" b="1" lang="ar-SA">
                <a:solidFill>
                  <a:srgbClr val="F8FAFC"/>
                </a:solidFill>
                <a:latin typeface="Cairo"/>
                <a:cs typeface="Cairo"/>
              </a:rPr>
              <a:t>ثلاث فجوات في رحلة طالب المتون</a:t>
            </a:r>
          </a:p>
        </p:txBody>
      </p:sp>
      <p:sp>
        <p:nvSpPr>
          <p:cNvPr id="7" name="Rectangle 6"/>
          <p:cNvSpPr/>
          <p:nvPr/>
        </p:nvSpPr>
        <p:spPr>
          <a:xfrm>
            <a:off x="10753344" y="1792224"/>
            <a:ext cx="786384" cy="3200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6473952"/>
            <a:ext cx="10149840" cy="228600"/>
          </a:xfrm>
          <a:prstGeom prst="rect">
            <a:avLst/>
          </a:prstGeom>
          <a:noFill/>
        </p:spPr>
        <p:txBody>
          <a:bodyPr wrap="square" tIns="0" bIns="0" lIns="16459" rIns="16459">
            <a:spAutoFit/>
          </a:bodyPr>
          <a:lstStyle/>
          <a:p>
            <a:pPr algn="r" rtl="1">
              <a:lnSpc>
                <a:spcPct val="106000"/>
              </a:lnSpc>
              <a:spcAft>
                <a:spcPts val="400"/>
              </a:spcAft>
            </a:pPr>
            <a:r>
              <a:rPr sz="850" b="0" lang="ar-SA">
                <a:solidFill>
                  <a:srgbClr val="8193AA"/>
                </a:solidFill>
                <a:latin typeface="Cairo"/>
                <a:cs typeface="Cairo"/>
              </a:rPr>
              <a:t>استبيان الفريق: ٦٠ استجابة، ١٨–٢٢ سبتمبر ٢٠٢٦؛ الأسئلة ٢ و٣. عينة استطلاعية غير ممثلة إحصائياً.</a:t>
            </a:r>
          </a:p>
        </p:txBody>
      </p:sp>
      <p:sp>
        <p:nvSpPr>
          <p:cNvPr id="9" name="TextBox 8"/>
          <p:cNvSpPr txBox="1"/>
          <p:nvPr/>
        </p:nvSpPr>
        <p:spPr>
          <a:xfrm>
            <a:off x="594360" y="6455664"/>
            <a:ext cx="667512" cy="246888"/>
          </a:xfrm>
          <a:prstGeom prst="rect">
            <a:avLst/>
          </a:prstGeom>
          <a:noFill/>
        </p:spPr>
        <p:txBody>
          <a:bodyPr wrap="square" tIns="0" bIns="0" lIns="16459" rIns="16459">
            <a:spAutoFit/>
          </a:bodyPr>
          <a:lstStyle/>
          <a:p>
            <a:pPr algn="l" rtl="0">
              <a:lnSpc>
                <a:spcPct val="106000"/>
              </a:lnSpc>
              <a:spcAft>
                <a:spcPts val="400"/>
              </a:spcAft>
            </a:pPr>
            <a:r>
              <a:rPr sz="1000" b="0" lang="en-US">
                <a:solidFill>
                  <a:srgbClr val="B5C4D7"/>
                </a:solidFill>
                <a:latin typeface="Cairo"/>
                <a:cs typeface="Cairo"/>
              </a:rPr>
              <a:t>02 / 09</a:t>
            </a:r>
          </a:p>
        </p:txBody>
      </p:sp>
      <p:sp>
        <p:nvSpPr>
          <p:cNvPr id="10" name="TextBox 9"/>
          <p:cNvSpPr txBox="1"/>
          <p:nvPr/>
        </p:nvSpPr>
        <p:spPr>
          <a:xfrm>
            <a:off x="676656" y="1865376"/>
            <a:ext cx="10607040" cy="429768"/>
          </a:xfrm>
          <a:prstGeom prst="rect">
            <a:avLst/>
          </a:prstGeom>
          <a:noFill/>
        </p:spPr>
        <p:txBody>
          <a:bodyPr wrap="square" tIns="0" bIns="0" lIns="16459" rIns="16459">
            <a:spAutoFit/>
          </a:bodyPr>
          <a:lstStyle/>
          <a:p>
            <a:pPr algn="r" rtl="1">
              <a:lnSpc>
                <a:spcPct val="106000"/>
              </a:lnSpc>
              <a:spcAft>
                <a:spcPts val="400"/>
              </a:spcAft>
            </a:pPr>
            <a:r>
              <a:rPr sz="1700" b="0" lang="ar-SA">
                <a:solidFill>
                  <a:srgbClr val="B5C4D7"/>
                </a:solidFill>
                <a:latin typeface="Cairo"/>
                <a:cs typeface="Cairo"/>
              </a:rPr>
              <a:t>الاستبيان يحدد الحاجة، ولا يثبت أثر حل لم يُختبر بعد.</a:t>
            </a:r>
          </a:p>
        </p:txBody>
      </p:sp>
      <p:sp>
        <p:nvSpPr>
          <p:cNvPr id="11" name="Rounded Rectangle 10"/>
          <p:cNvSpPr/>
          <p:nvPr/>
        </p:nvSpPr>
        <p:spPr>
          <a:xfrm>
            <a:off x="7909560" y="2606040"/>
            <a:ext cx="3639312" cy="2953512"/>
          </a:xfrm>
          <a:prstGeom prst="roundRect">
            <a:avLst>
              <a:gd name="adj" fmla="val 7000"/>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494008" y="2807208"/>
            <a:ext cx="22860" cy="2551176"/>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19872" y="2852928"/>
            <a:ext cx="3209544" cy="740664"/>
          </a:xfrm>
          <a:prstGeom prst="rect">
            <a:avLst/>
          </a:prstGeom>
          <a:noFill/>
        </p:spPr>
        <p:txBody>
          <a:bodyPr wrap="square" tIns="0" bIns="0" lIns="16459" rIns="16459">
            <a:spAutoFit/>
          </a:bodyPr>
          <a:lstStyle/>
          <a:p>
            <a:pPr algn="r" rtl="1">
              <a:lnSpc>
                <a:spcPct val="106000"/>
              </a:lnSpc>
              <a:spcAft>
                <a:spcPts val="400"/>
              </a:spcAft>
            </a:pPr>
            <a:r>
              <a:rPr sz="4200" b="1" lang="ar-SA">
                <a:solidFill>
                  <a:srgbClr val="F87171"/>
                </a:solidFill>
                <a:latin typeface="Cairo"/>
                <a:cs typeface="Cairo"/>
              </a:rPr>
              <a:t>٧٠٪</a:t>
            </a:r>
          </a:p>
        </p:txBody>
      </p:sp>
      <p:sp>
        <p:nvSpPr>
          <p:cNvPr id="14" name="TextBox 13"/>
          <p:cNvSpPr txBox="1"/>
          <p:nvPr/>
        </p:nvSpPr>
        <p:spPr>
          <a:xfrm>
            <a:off x="8119872" y="3739896"/>
            <a:ext cx="3200400" cy="429768"/>
          </a:xfrm>
          <a:prstGeom prst="rect">
            <a:avLst/>
          </a:prstGeom>
          <a:noFill/>
        </p:spPr>
        <p:txBody>
          <a:bodyPr wrap="square" tIns="0" bIns="0" lIns="16459" rIns="16459">
            <a:spAutoFit/>
          </a:bodyPr>
          <a:lstStyle/>
          <a:p>
            <a:pPr algn="r" rtl="1">
              <a:lnSpc>
                <a:spcPct val="106000"/>
              </a:lnSpc>
              <a:spcAft>
                <a:spcPts val="400"/>
              </a:spcAft>
            </a:pPr>
            <a:r>
              <a:rPr sz="1900" b="1" lang="ar-SA">
                <a:solidFill>
                  <a:srgbClr val="F8FAFC"/>
                </a:solidFill>
                <a:latin typeface="Cairo"/>
                <a:cs typeface="Cairo"/>
              </a:rPr>
              <a:t>ضعف التفاعل</a:t>
            </a:r>
          </a:p>
        </p:txBody>
      </p:sp>
      <p:sp>
        <p:nvSpPr>
          <p:cNvPr id="15" name="TextBox 14"/>
          <p:cNvSpPr txBox="1"/>
          <p:nvPr/>
        </p:nvSpPr>
        <p:spPr>
          <a:xfrm>
            <a:off x="8119872" y="4379976"/>
            <a:ext cx="3200400" cy="1051560"/>
          </a:xfrm>
          <a:prstGeom prst="rect">
            <a:avLst/>
          </a:prstGeom>
          <a:noFill/>
        </p:spPr>
        <p:txBody>
          <a:bodyPr wrap="square" tIns="0" bIns="0" lIns="16459" rIns="16459">
            <a:spAutoFit/>
          </a:bodyPr>
          <a:lstStyle/>
          <a:p>
            <a:pPr algn="r" rtl="1">
              <a:lnSpc>
                <a:spcPct val="106000"/>
              </a:lnSpc>
              <a:spcAft>
                <a:spcPts val="400"/>
              </a:spcAft>
            </a:pPr>
            <a:r>
              <a:rPr sz="1650" b="0" lang="ar-SA">
                <a:solidFill>
                  <a:srgbClr val="B5C4D7"/>
                </a:solidFill>
                <a:latin typeface="Cairo"/>
                <a:cs typeface="Cairo"/>
              </a:rPr>
              <a:t>٤٢ مشاركاً اختاروا الملل وفقدان الحافز ضمن عوائق الحفظ.</a:t>
            </a:r>
          </a:p>
        </p:txBody>
      </p:sp>
      <p:sp>
        <p:nvSpPr>
          <p:cNvPr id="16" name="Rounded Rectangle 15"/>
          <p:cNvSpPr/>
          <p:nvPr/>
        </p:nvSpPr>
        <p:spPr>
          <a:xfrm>
            <a:off x="4270248" y="2606040"/>
            <a:ext cx="3438144" cy="2953512"/>
          </a:xfrm>
          <a:prstGeom prst="roundRect">
            <a:avLst>
              <a:gd name="adj" fmla="val 7000"/>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53527" y="2807208"/>
            <a:ext cx="22860" cy="2551176"/>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60" y="2852928"/>
            <a:ext cx="3008376" cy="740664"/>
          </a:xfrm>
          <a:prstGeom prst="rect">
            <a:avLst/>
          </a:prstGeom>
          <a:noFill/>
        </p:spPr>
        <p:txBody>
          <a:bodyPr wrap="square" tIns="0" bIns="0" lIns="16459" rIns="16459">
            <a:spAutoFit/>
          </a:bodyPr>
          <a:lstStyle/>
          <a:p>
            <a:pPr algn="r" rtl="1">
              <a:lnSpc>
                <a:spcPct val="106000"/>
              </a:lnSpc>
              <a:spcAft>
                <a:spcPts val="400"/>
              </a:spcAft>
            </a:pPr>
            <a:r>
              <a:rPr sz="4200" b="1" lang="ar-SA">
                <a:solidFill>
                  <a:srgbClr val="38BDF8"/>
                </a:solidFill>
                <a:latin typeface="Cairo"/>
                <a:cs typeface="Cairo"/>
              </a:rPr>
              <a:t>٤٦٫٧٪</a:t>
            </a:r>
          </a:p>
        </p:txBody>
      </p:sp>
      <p:sp>
        <p:nvSpPr>
          <p:cNvPr id="19" name="TextBox 18"/>
          <p:cNvSpPr txBox="1"/>
          <p:nvPr/>
        </p:nvSpPr>
        <p:spPr>
          <a:xfrm>
            <a:off x="4480560" y="3739896"/>
            <a:ext cx="2999232" cy="429768"/>
          </a:xfrm>
          <a:prstGeom prst="rect">
            <a:avLst/>
          </a:prstGeom>
          <a:noFill/>
        </p:spPr>
        <p:txBody>
          <a:bodyPr wrap="square" tIns="0" bIns="0" lIns="16459" rIns="16459">
            <a:spAutoFit/>
          </a:bodyPr>
          <a:lstStyle/>
          <a:p>
            <a:pPr algn="r" rtl="1">
              <a:lnSpc>
                <a:spcPct val="106000"/>
              </a:lnSpc>
              <a:spcAft>
                <a:spcPts val="400"/>
              </a:spcAft>
            </a:pPr>
            <a:r>
              <a:rPr sz="1900" b="1" lang="ar-SA">
                <a:solidFill>
                  <a:srgbClr val="F8FAFC"/>
                </a:solidFill>
                <a:latin typeface="Cairo"/>
                <a:cs typeface="Cairo"/>
              </a:rPr>
              <a:t>صعوبة إيجاد شيخ</a:t>
            </a:r>
          </a:p>
        </p:txBody>
      </p:sp>
      <p:sp>
        <p:nvSpPr>
          <p:cNvPr id="20" name="TextBox 19"/>
          <p:cNvSpPr txBox="1"/>
          <p:nvPr/>
        </p:nvSpPr>
        <p:spPr>
          <a:xfrm>
            <a:off x="4480560" y="4379976"/>
            <a:ext cx="2999232" cy="1051560"/>
          </a:xfrm>
          <a:prstGeom prst="rect">
            <a:avLst/>
          </a:prstGeom>
          <a:noFill/>
        </p:spPr>
        <p:txBody>
          <a:bodyPr wrap="square" tIns="0" bIns="0" lIns="16459" rIns="16459">
            <a:spAutoFit/>
          </a:bodyPr>
          <a:lstStyle/>
          <a:p>
            <a:pPr algn="r" rtl="1">
              <a:lnSpc>
                <a:spcPct val="106000"/>
              </a:lnSpc>
              <a:spcAft>
                <a:spcPts val="400"/>
              </a:spcAft>
            </a:pPr>
            <a:r>
              <a:rPr sz="1650" b="0" lang="ar-SA">
                <a:solidFill>
                  <a:srgbClr val="B5C4D7"/>
                </a:solidFill>
                <a:latin typeface="Cairo"/>
                <a:cs typeface="Cairo"/>
              </a:rPr>
              <a:t>٢٨ مشاركاً اختاروا صعوبة إيجاد من يسمّع لهم ويصحح.</a:t>
            </a:r>
          </a:p>
        </p:txBody>
      </p:sp>
      <p:sp>
        <p:nvSpPr>
          <p:cNvPr id="21" name="Rounded Rectangle 20"/>
          <p:cNvSpPr/>
          <p:nvPr/>
        </p:nvSpPr>
        <p:spPr>
          <a:xfrm>
            <a:off x="640080" y="2606040"/>
            <a:ext cx="3429000" cy="2953512"/>
          </a:xfrm>
          <a:prstGeom prst="roundRect">
            <a:avLst>
              <a:gd name="adj" fmla="val 7000"/>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014216" y="2807208"/>
            <a:ext cx="22860" cy="2551176"/>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392" y="2852928"/>
            <a:ext cx="2999232" cy="740664"/>
          </a:xfrm>
          <a:prstGeom prst="rect">
            <a:avLst/>
          </a:prstGeom>
          <a:noFill/>
        </p:spPr>
        <p:txBody>
          <a:bodyPr wrap="square" tIns="0" bIns="0" lIns="16459" rIns="16459">
            <a:spAutoFit/>
          </a:bodyPr>
          <a:lstStyle/>
          <a:p>
            <a:pPr algn="r" rtl="1">
              <a:lnSpc>
                <a:spcPct val="106000"/>
              </a:lnSpc>
              <a:spcAft>
                <a:spcPts val="400"/>
              </a:spcAft>
            </a:pPr>
            <a:r>
              <a:rPr sz="4200" b="1" lang="ar-SA">
                <a:solidFill>
                  <a:srgbClr val="34D399"/>
                </a:solidFill>
                <a:latin typeface="Cairo"/>
                <a:cs typeface="Cairo"/>
              </a:rPr>
              <a:t>٥٠٪</a:t>
            </a:r>
          </a:p>
        </p:txBody>
      </p:sp>
      <p:sp>
        <p:nvSpPr>
          <p:cNvPr id="24" name="TextBox 23"/>
          <p:cNvSpPr txBox="1"/>
          <p:nvPr/>
        </p:nvSpPr>
        <p:spPr>
          <a:xfrm>
            <a:off x="850392" y="3739896"/>
            <a:ext cx="2990088" cy="429768"/>
          </a:xfrm>
          <a:prstGeom prst="rect">
            <a:avLst/>
          </a:prstGeom>
          <a:noFill/>
        </p:spPr>
        <p:txBody>
          <a:bodyPr wrap="square" tIns="0" bIns="0" lIns="16459" rIns="16459">
            <a:spAutoFit/>
          </a:bodyPr>
          <a:lstStyle/>
          <a:p>
            <a:pPr algn="r" rtl="1">
              <a:lnSpc>
                <a:spcPct val="106000"/>
              </a:lnSpc>
              <a:spcAft>
                <a:spcPts val="400"/>
              </a:spcAft>
            </a:pPr>
            <a:r>
              <a:rPr sz="1900" b="1" lang="ar-SA">
                <a:solidFill>
                  <a:srgbClr val="F8FAFC"/>
                </a:solidFill>
                <a:latin typeface="Cairo"/>
                <a:cs typeface="Cairo"/>
              </a:rPr>
              <a:t>تشتت الشروح</a:t>
            </a:r>
          </a:p>
        </p:txBody>
      </p:sp>
      <p:sp>
        <p:nvSpPr>
          <p:cNvPr id="25" name="TextBox 24"/>
          <p:cNvSpPr txBox="1"/>
          <p:nvPr/>
        </p:nvSpPr>
        <p:spPr>
          <a:xfrm>
            <a:off x="850392" y="4379976"/>
            <a:ext cx="2990088" cy="1051560"/>
          </a:xfrm>
          <a:prstGeom prst="rect">
            <a:avLst/>
          </a:prstGeom>
          <a:noFill/>
        </p:spPr>
        <p:txBody>
          <a:bodyPr wrap="square" tIns="0" bIns="0" lIns="16459" rIns="16459">
            <a:spAutoFit/>
          </a:bodyPr>
          <a:lstStyle/>
          <a:p>
            <a:pPr algn="r" rtl="1">
              <a:lnSpc>
                <a:spcPct val="106000"/>
              </a:lnSpc>
              <a:spcAft>
                <a:spcPts val="400"/>
              </a:spcAft>
            </a:pPr>
            <a:r>
              <a:rPr sz="1650" b="0" lang="ar-SA">
                <a:solidFill>
                  <a:srgbClr val="B5C4D7"/>
                </a:solidFill>
                <a:latin typeface="Cairo"/>
                <a:cs typeface="Cairo"/>
              </a:rPr>
              <a:t>٣٠ مشاركاً اختاروا طول الشروحات وتشتتها.</a:t>
            </a:r>
          </a:p>
        </p:txBody>
      </p:sp>
      <p:sp>
        <p:nvSpPr>
          <p:cNvPr id="26" name="TextBox 25"/>
          <p:cNvSpPr txBox="1"/>
          <p:nvPr/>
        </p:nvSpPr>
        <p:spPr>
          <a:xfrm>
            <a:off x="685800" y="5870448"/>
            <a:ext cx="10652760" cy="429768"/>
          </a:xfrm>
          <a:prstGeom prst="rect">
            <a:avLst/>
          </a:prstGeom>
          <a:noFill/>
        </p:spPr>
        <p:txBody>
          <a:bodyPr wrap="square" tIns="0" bIns="0" lIns="16459" rIns="16459">
            <a:spAutoFit/>
          </a:bodyPr>
          <a:lstStyle/>
          <a:p>
            <a:pPr algn="r" rtl="1">
              <a:lnSpc>
                <a:spcPct val="106000"/>
              </a:lnSpc>
              <a:spcAft>
                <a:spcPts val="400"/>
              </a:spcAft>
            </a:pPr>
            <a:r>
              <a:rPr sz="1900" b="1" lang="ar-SA">
                <a:solidFill>
                  <a:srgbClr val="F8FAFC"/>
                </a:solidFill>
                <a:latin typeface="Cairo"/>
                <a:cs typeface="Cairo"/>
              </a:rPr>
              <a:t>نحتاج مساراً يصل الحفظ بالفهم والتوجيه، لا خدمة منفصلة لكل خطوة.</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eon-background.png"/>
          <p:cNvPicPr>
            <a:picLocks noChangeAspect="1"/>
          </p:cNvPicPr>
          <p:nvPr/>
        </p:nvPicPr>
        <p:blipFill>
          <a:blip r:embed="rId2"/>
          <a:stretch>
            <a:fillRect/>
          </a:stretch>
        </p:blipFill>
        <p:spPr>
          <a:xfrm>
            <a:off x="0" y="0"/>
            <a:ext cx="12191999" cy="6858000"/>
          </a:xfrm>
          <a:prstGeom prst="rect">
            <a:avLst/>
          </a:prstGeom>
        </p:spPr>
      </p:pic>
      <p:pic>
        <p:nvPicPr>
          <p:cNvPr id="3" name="Picture 2" descr="mateen-official-logo.png"/>
          <p:cNvPicPr>
            <a:picLocks noChangeAspect="1"/>
          </p:cNvPicPr>
          <p:nvPr/>
        </p:nvPicPr>
        <p:blipFill>
          <a:blip r:embed="rId3"/>
          <a:stretch>
            <a:fillRect/>
          </a:stretch>
        </p:blipFill>
        <p:spPr>
          <a:xfrm>
            <a:off x="10661904" y="237744"/>
            <a:ext cx="868680" cy="400822"/>
          </a:xfrm>
          <a:prstGeom prst="rect">
            <a:avLst/>
          </a:prstGeom>
        </p:spPr>
      </p:pic>
      <p:sp>
        <p:nvSpPr>
          <p:cNvPr id="4" name="TextBox 3"/>
          <p:cNvSpPr txBox="1"/>
          <p:nvPr/>
        </p:nvSpPr>
        <p:spPr>
          <a:xfrm>
            <a:off x="594360" y="283464"/>
            <a:ext cx="8961120" cy="256032"/>
          </a:xfrm>
          <a:prstGeom prst="rect">
            <a:avLst/>
          </a:prstGeom>
          <a:noFill/>
        </p:spPr>
        <p:txBody>
          <a:bodyPr wrap="square" tIns="0" bIns="0" lIns="16459" rIns="16459">
            <a:spAutoFit/>
          </a:bodyPr>
          <a:lstStyle/>
          <a:p>
            <a:pPr algn="r" rtl="1">
              <a:lnSpc>
                <a:spcPct val="106000"/>
              </a:lnSpc>
              <a:spcAft>
                <a:spcPts val="400"/>
              </a:spcAft>
            </a:pPr>
            <a:r>
              <a:rPr sz="900" b="0" lang="ar-SA">
                <a:solidFill>
                  <a:srgbClr val="B5C4D7"/>
                </a:solidFill>
                <a:latin typeface="Cairo"/>
                <a:cs typeface="Cairo"/>
              </a:rPr>
              <a:t>المسار المفتوح  /  تحدي الذكاء الاصطناعي في خدمة المحتوى الإسلامي</a:t>
            </a:r>
          </a:p>
        </p:txBody>
      </p:sp>
      <p:sp>
        <p:nvSpPr>
          <p:cNvPr id="5" name="Rectangle 4"/>
          <p:cNvSpPr/>
          <p:nvPr/>
        </p:nvSpPr>
        <p:spPr>
          <a:xfrm>
            <a:off x="594360" y="804672"/>
            <a:ext cx="10991088" cy="10972"/>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024128"/>
            <a:ext cx="10927080" cy="694944"/>
          </a:xfrm>
          <a:prstGeom prst="rect">
            <a:avLst/>
          </a:prstGeom>
          <a:noFill/>
        </p:spPr>
        <p:txBody>
          <a:bodyPr wrap="square" tIns="0" bIns="0" lIns="16459" rIns="16459">
            <a:spAutoFit/>
          </a:bodyPr>
          <a:lstStyle/>
          <a:p>
            <a:pPr algn="r" rtl="1">
              <a:lnSpc>
                <a:spcPct val="106000"/>
              </a:lnSpc>
              <a:spcAft>
                <a:spcPts val="400"/>
              </a:spcAft>
            </a:pPr>
            <a:r>
              <a:rPr sz="2900" b="1" lang="ar-SA">
                <a:solidFill>
                  <a:srgbClr val="F8FAFC"/>
                </a:solidFill>
                <a:latin typeface="Cairo"/>
                <a:cs typeface="Cairo"/>
              </a:rPr>
              <a:t>مَتِين: من حفظ النص إلى فهمه في رحلة واحدة</a:t>
            </a:r>
          </a:p>
        </p:txBody>
      </p:sp>
      <p:sp>
        <p:nvSpPr>
          <p:cNvPr id="7" name="Rectangle 6"/>
          <p:cNvSpPr/>
          <p:nvPr/>
        </p:nvSpPr>
        <p:spPr>
          <a:xfrm>
            <a:off x="10753344" y="1792224"/>
            <a:ext cx="786384" cy="3200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6473952"/>
            <a:ext cx="10149840" cy="228600"/>
          </a:xfrm>
          <a:prstGeom prst="rect">
            <a:avLst/>
          </a:prstGeom>
          <a:noFill/>
        </p:spPr>
        <p:txBody>
          <a:bodyPr wrap="square" tIns="0" bIns="0" lIns="16459" rIns="16459">
            <a:spAutoFit/>
          </a:bodyPr>
          <a:lstStyle/>
          <a:p>
            <a:pPr algn="r" rtl="1">
              <a:lnSpc>
                <a:spcPct val="106000"/>
              </a:lnSpc>
              <a:spcAft>
                <a:spcPts val="400"/>
              </a:spcAft>
            </a:pPr>
            <a:r>
              <a:rPr sz="850" b="0" lang="ar-SA">
                <a:solidFill>
                  <a:srgbClr val="8193AA"/>
                </a:solidFill>
                <a:latin typeface="Cairo"/>
                <a:cs typeface="Cairo"/>
              </a:rPr>
              <a:t>مَتِين • عرض فكرة مقترحة للتسجيل، وليس عرض منتج منفّذ</a:t>
            </a:r>
          </a:p>
        </p:txBody>
      </p:sp>
      <p:sp>
        <p:nvSpPr>
          <p:cNvPr id="9" name="TextBox 8"/>
          <p:cNvSpPr txBox="1"/>
          <p:nvPr/>
        </p:nvSpPr>
        <p:spPr>
          <a:xfrm>
            <a:off x="594360" y="6455664"/>
            <a:ext cx="667512" cy="246888"/>
          </a:xfrm>
          <a:prstGeom prst="rect">
            <a:avLst/>
          </a:prstGeom>
          <a:noFill/>
        </p:spPr>
        <p:txBody>
          <a:bodyPr wrap="square" tIns="0" bIns="0" lIns="16459" rIns="16459">
            <a:spAutoFit/>
          </a:bodyPr>
          <a:lstStyle/>
          <a:p>
            <a:pPr algn="l" rtl="0">
              <a:lnSpc>
                <a:spcPct val="106000"/>
              </a:lnSpc>
              <a:spcAft>
                <a:spcPts val="400"/>
              </a:spcAft>
            </a:pPr>
            <a:r>
              <a:rPr sz="1000" b="0" lang="en-US">
                <a:solidFill>
                  <a:srgbClr val="B5C4D7"/>
                </a:solidFill>
                <a:latin typeface="Cairo"/>
                <a:cs typeface="Cairo"/>
              </a:rPr>
              <a:t>03 / 09</a:t>
            </a:r>
          </a:p>
        </p:txBody>
      </p:sp>
      <p:sp>
        <p:nvSpPr>
          <p:cNvPr id="10" name="Rounded Rectangle 9"/>
          <p:cNvSpPr/>
          <p:nvPr/>
        </p:nvSpPr>
        <p:spPr>
          <a:xfrm>
            <a:off x="7955279" y="2340864"/>
            <a:ext cx="3419856" cy="2395728"/>
          </a:xfrm>
          <a:prstGeom prst="roundRect">
            <a:avLst>
              <a:gd name="adj" fmla="val 7000"/>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320272" y="2542032"/>
            <a:ext cx="22860" cy="19933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65592" y="2679192"/>
            <a:ext cx="2980944" cy="429768"/>
          </a:xfrm>
          <a:prstGeom prst="rect">
            <a:avLst/>
          </a:prstGeom>
          <a:noFill/>
        </p:spPr>
        <p:txBody>
          <a:bodyPr wrap="square" tIns="0" bIns="0" lIns="16459" rIns="16459">
            <a:spAutoFit/>
          </a:bodyPr>
          <a:lstStyle/>
          <a:p>
            <a:pPr algn="r" rtl="1">
              <a:lnSpc>
                <a:spcPct val="106000"/>
              </a:lnSpc>
              <a:spcAft>
                <a:spcPts val="400"/>
              </a:spcAft>
            </a:pPr>
            <a:r>
              <a:rPr sz="1900" b="1" lang="ar-SA">
                <a:solidFill>
                  <a:srgbClr val="F8FAFC"/>
                </a:solidFill>
                <a:latin typeface="Cairo"/>
                <a:cs typeface="Cairo"/>
              </a:rPr>
              <a:t>١ / التسميع</a:t>
            </a:r>
          </a:p>
        </p:txBody>
      </p:sp>
      <p:sp>
        <p:nvSpPr>
          <p:cNvPr id="13" name="TextBox 12"/>
          <p:cNvSpPr txBox="1"/>
          <p:nvPr/>
        </p:nvSpPr>
        <p:spPr>
          <a:xfrm>
            <a:off x="8165592" y="3319272"/>
            <a:ext cx="2980944" cy="1289304"/>
          </a:xfrm>
          <a:prstGeom prst="rect">
            <a:avLst/>
          </a:prstGeom>
          <a:noFill/>
        </p:spPr>
        <p:txBody>
          <a:bodyPr wrap="square" tIns="0" bIns="0" lIns="16459" rIns="16459">
            <a:spAutoFit/>
          </a:bodyPr>
          <a:lstStyle/>
          <a:p>
            <a:pPr algn="r" rtl="1">
              <a:lnSpc>
                <a:spcPct val="106000"/>
              </a:lnSpc>
              <a:spcAft>
                <a:spcPts val="400"/>
              </a:spcAft>
            </a:pPr>
            <a:r>
              <a:rPr sz="1650" b="0" lang="ar-SA">
                <a:solidFill>
                  <a:srgbClr val="B5C4D7"/>
                </a:solidFill>
                <a:latin typeface="Cairo"/>
                <a:cs typeface="Cairo"/>
              </a:rPr>
              <a:t>مطابقة الكلمات بالمتن؛ رصد الحذف والاستبدال بعد ثبوتهما.</a:t>
            </a:r>
          </a:p>
        </p:txBody>
      </p:sp>
      <p:sp>
        <p:nvSpPr>
          <p:cNvPr id="14" name="Rounded Rectangle 13"/>
          <p:cNvSpPr/>
          <p:nvPr/>
        </p:nvSpPr>
        <p:spPr>
          <a:xfrm>
            <a:off x="4297680" y="2340864"/>
            <a:ext cx="3419856" cy="2395728"/>
          </a:xfrm>
          <a:prstGeom prst="roundRect">
            <a:avLst>
              <a:gd name="adj" fmla="val 7000"/>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62672" y="2542032"/>
            <a:ext cx="22860" cy="199339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07992" y="2679192"/>
            <a:ext cx="2980944" cy="429768"/>
          </a:xfrm>
          <a:prstGeom prst="rect">
            <a:avLst/>
          </a:prstGeom>
          <a:noFill/>
        </p:spPr>
        <p:txBody>
          <a:bodyPr wrap="square" tIns="0" bIns="0" lIns="16459" rIns="16459">
            <a:spAutoFit/>
          </a:bodyPr>
          <a:lstStyle/>
          <a:p>
            <a:pPr algn="r" rtl="1">
              <a:lnSpc>
                <a:spcPct val="106000"/>
              </a:lnSpc>
              <a:spcAft>
                <a:spcPts val="400"/>
              </a:spcAft>
            </a:pPr>
            <a:r>
              <a:rPr sz="1900" b="1" lang="ar-SA">
                <a:solidFill>
                  <a:srgbClr val="F8FAFC"/>
                </a:solidFill>
                <a:latin typeface="Cairo"/>
                <a:cs typeface="Cairo"/>
              </a:rPr>
              <a:t>٢ / الفهم</a:t>
            </a:r>
          </a:p>
        </p:txBody>
      </p:sp>
      <p:sp>
        <p:nvSpPr>
          <p:cNvPr id="17" name="TextBox 16"/>
          <p:cNvSpPr txBox="1"/>
          <p:nvPr/>
        </p:nvSpPr>
        <p:spPr>
          <a:xfrm>
            <a:off x="4507992" y="3319272"/>
            <a:ext cx="2980944" cy="1289304"/>
          </a:xfrm>
          <a:prstGeom prst="rect">
            <a:avLst/>
          </a:prstGeom>
          <a:noFill/>
        </p:spPr>
        <p:txBody>
          <a:bodyPr wrap="square" tIns="0" bIns="0" lIns="16459" rIns="16459">
            <a:spAutoFit/>
          </a:bodyPr>
          <a:lstStyle/>
          <a:p>
            <a:pPr algn="r" rtl="1">
              <a:lnSpc>
                <a:spcPct val="106000"/>
              </a:lnSpc>
              <a:spcAft>
                <a:spcPts val="400"/>
              </a:spcAft>
            </a:pPr>
            <a:r>
              <a:rPr sz="1650" b="0" lang="ar-SA">
                <a:solidFill>
                  <a:srgbClr val="B5C4D7"/>
                </a:solidFill>
                <a:latin typeface="Cairo"/>
                <a:cs typeface="Cairo"/>
              </a:rPr>
              <a:t>شرح من شروح معتمدة مع إحالة دقيقة إلى المرجع.</a:t>
            </a:r>
          </a:p>
        </p:txBody>
      </p:sp>
      <p:sp>
        <p:nvSpPr>
          <p:cNvPr id="18" name="Rounded Rectangle 17"/>
          <p:cNvSpPr/>
          <p:nvPr/>
        </p:nvSpPr>
        <p:spPr>
          <a:xfrm>
            <a:off x="640080" y="2340864"/>
            <a:ext cx="3419856" cy="2395728"/>
          </a:xfrm>
          <a:prstGeom prst="roundRect">
            <a:avLst>
              <a:gd name="adj" fmla="val 7000"/>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005072" y="2542032"/>
            <a:ext cx="22860" cy="19933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 y="2679192"/>
            <a:ext cx="2980944" cy="429768"/>
          </a:xfrm>
          <a:prstGeom prst="rect">
            <a:avLst/>
          </a:prstGeom>
          <a:noFill/>
        </p:spPr>
        <p:txBody>
          <a:bodyPr wrap="square" tIns="0" bIns="0" lIns="16459" rIns="16459">
            <a:spAutoFit/>
          </a:bodyPr>
          <a:lstStyle/>
          <a:p>
            <a:pPr algn="r" rtl="1">
              <a:lnSpc>
                <a:spcPct val="106000"/>
              </a:lnSpc>
              <a:spcAft>
                <a:spcPts val="400"/>
              </a:spcAft>
            </a:pPr>
            <a:r>
              <a:rPr sz="1900" b="1" lang="ar-SA">
                <a:solidFill>
                  <a:srgbClr val="F8FAFC"/>
                </a:solidFill>
                <a:latin typeface="Cairo"/>
                <a:cs typeface="Cairo"/>
              </a:rPr>
              <a:t>٣ / التوجيه</a:t>
            </a:r>
          </a:p>
        </p:txBody>
      </p:sp>
      <p:sp>
        <p:nvSpPr>
          <p:cNvPr id="21" name="TextBox 20"/>
          <p:cNvSpPr txBox="1"/>
          <p:nvPr/>
        </p:nvSpPr>
        <p:spPr>
          <a:xfrm>
            <a:off x="850392" y="3319272"/>
            <a:ext cx="2980944" cy="1289304"/>
          </a:xfrm>
          <a:prstGeom prst="rect">
            <a:avLst/>
          </a:prstGeom>
          <a:noFill/>
        </p:spPr>
        <p:txBody>
          <a:bodyPr wrap="square" tIns="0" bIns="0" lIns="16459" rIns="16459">
            <a:spAutoFit/>
          </a:bodyPr>
          <a:lstStyle/>
          <a:p>
            <a:pPr algn="r" rtl="1">
              <a:lnSpc>
                <a:spcPct val="106000"/>
              </a:lnSpc>
              <a:spcAft>
                <a:spcPts val="400"/>
              </a:spcAft>
            </a:pPr>
            <a:r>
              <a:rPr sz="1650" b="0" lang="ar-SA">
                <a:solidFill>
                  <a:srgbClr val="B5C4D7"/>
                </a:solidFill>
                <a:latin typeface="Cairo"/>
                <a:cs typeface="Cairo"/>
              </a:rPr>
              <a:t>إحالة نصية لمعلم معتمد أو سؤال مباشر عند الحاجة.</a:t>
            </a:r>
          </a:p>
        </p:txBody>
      </p:sp>
      <p:sp>
        <p:nvSpPr>
          <p:cNvPr id="22" name="Rounded Rectangle 21"/>
          <p:cNvSpPr/>
          <p:nvPr/>
        </p:nvSpPr>
        <p:spPr>
          <a:xfrm>
            <a:off x="640080" y="5074920"/>
            <a:ext cx="10716768" cy="1124712"/>
          </a:xfrm>
          <a:prstGeom prst="roundRect">
            <a:avLst>
              <a:gd name="adj" fmla="val 7000"/>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5256" y="5330952"/>
            <a:ext cx="10168128" cy="438912"/>
          </a:xfrm>
          <a:prstGeom prst="rect">
            <a:avLst/>
          </a:prstGeom>
          <a:noFill/>
        </p:spPr>
        <p:txBody>
          <a:bodyPr wrap="square" tIns="0" bIns="0" lIns="16459" rIns="16459">
            <a:spAutoFit/>
          </a:bodyPr>
          <a:lstStyle/>
          <a:p>
            <a:pPr algn="r" rtl="1">
              <a:lnSpc>
                <a:spcPct val="106000"/>
              </a:lnSpc>
              <a:spcAft>
                <a:spcPts val="400"/>
              </a:spcAft>
            </a:pPr>
            <a:r>
              <a:rPr sz="1900" b="0" lang="ar-SA">
                <a:solidFill>
                  <a:srgbClr val="F8FAFC"/>
                </a:solidFill>
                <a:latin typeface="Cairo"/>
                <a:cs typeface="Cairo"/>
              </a:rPr>
              <a:t>تصور للتغذية الراجعة:  الكلمة الصحيحة  /  كلمة تحتاج إعادة  /  شرح مرتبط بالموضع</a:t>
            </a:r>
          </a:p>
        </p:txBody>
      </p:sp>
      <p:sp>
        <p:nvSpPr>
          <p:cNvPr id="24" name="TextBox 23"/>
          <p:cNvSpPr txBox="1"/>
          <p:nvPr/>
        </p:nvSpPr>
        <p:spPr>
          <a:xfrm>
            <a:off x="932688" y="5779008"/>
            <a:ext cx="10094976" cy="292608"/>
          </a:xfrm>
          <a:prstGeom prst="rect">
            <a:avLst/>
          </a:prstGeom>
          <a:noFill/>
        </p:spPr>
        <p:txBody>
          <a:bodyPr wrap="square" tIns="0" bIns="0" lIns="16459" rIns="16459">
            <a:spAutoFit/>
          </a:bodyPr>
          <a:lstStyle/>
          <a:p>
            <a:pPr algn="r" rtl="1">
              <a:lnSpc>
                <a:spcPct val="106000"/>
              </a:lnSpc>
              <a:spcAft>
                <a:spcPts val="400"/>
              </a:spcAft>
            </a:pPr>
            <a:r>
              <a:rPr sz="1500" b="0" lang="ar-SA">
                <a:solidFill>
                  <a:srgbClr val="34D399"/>
                </a:solidFill>
                <a:latin typeface="Cairo"/>
                <a:cs typeface="Cairo"/>
              </a:rPr>
              <a:t>النتيجة غير الواضحة تُطلب إعادتها؛ لا تُحسب خطأ حفظ مؤكداً.</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eon-background.png"/>
          <p:cNvPicPr>
            <a:picLocks noChangeAspect="1"/>
          </p:cNvPicPr>
          <p:nvPr/>
        </p:nvPicPr>
        <p:blipFill>
          <a:blip r:embed="rId2"/>
          <a:stretch>
            <a:fillRect/>
          </a:stretch>
        </p:blipFill>
        <p:spPr>
          <a:xfrm>
            <a:off x="0" y="0"/>
            <a:ext cx="12191999" cy="6858000"/>
          </a:xfrm>
          <a:prstGeom prst="rect">
            <a:avLst/>
          </a:prstGeom>
        </p:spPr>
      </p:pic>
      <p:pic>
        <p:nvPicPr>
          <p:cNvPr id="3" name="Picture 2" descr="mateen-official-logo.png"/>
          <p:cNvPicPr>
            <a:picLocks noChangeAspect="1"/>
          </p:cNvPicPr>
          <p:nvPr/>
        </p:nvPicPr>
        <p:blipFill>
          <a:blip r:embed="rId3"/>
          <a:stretch>
            <a:fillRect/>
          </a:stretch>
        </p:blipFill>
        <p:spPr>
          <a:xfrm>
            <a:off x="10661904" y="237744"/>
            <a:ext cx="868680" cy="400822"/>
          </a:xfrm>
          <a:prstGeom prst="rect">
            <a:avLst/>
          </a:prstGeom>
        </p:spPr>
      </p:pic>
      <p:sp>
        <p:nvSpPr>
          <p:cNvPr id="4" name="TextBox 3"/>
          <p:cNvSpPr txBox="1"/>
          <p:nvPr/>
        </p:nvSpPr>
        <p:spPr>
          <a:xfrm>
            <a:off x="594360" y="283464"/>
            <a:ext cx="8961120" cy="256032"/>
          </a:xfrm>
          <a:prstGeom prst="rect">
            <a:avLst/>
          </a:prstGeom>
          <a:noFill/>
        </p:spPr>
        <p:txBody>
          <a:bodyPr wrap="square" tIns="0" bIns="0" lIns="16459" rIns="16459">
            <a:spAutoFit/>
          </a:bodyPr>
          <a:lstStyle/>
          <a:p>
            <a:pPr algn="r" rtl="1">
              <a:lnSpc>
                <a:spcPct val="106000"/>
              </a:lnSpc>
              <a:spcAft>
                <a:spcPts val="400"/>
              </a:spcAft>
            </a:pPr>
            <a:r>
              <a:rPr sz="900" b="0" lang="ar-SA">
                <a:solidFill>
                  <a:srgbClr val="B5C4D7"/>
                </a:solidFill>
                <a:latin typeface="Cairo"/>
                <a:cs typeface="Cairo"/>
              </a:rPr>
              <a:t>المسار المفتوح  /  تحدي الذكاء الاصطناعي في خدمة المحتوى الإسلامي</a:t>
            </a:r>
          </a:p>
        </p:txBody>
      </p:sp>
      <p:sp>
        <p:nvSpPr>
          <p:cNvPr id="5" name="Rectangle 4"/>
          <p:cNvSpPr/>
          <p:nvPr/>
        </p:nvSpPr>
        <p:spPr>
          <a:xfrm>
            <a:off x="594360" y="804672"/>
            <a:ext cx="10991088" cy="10972"/>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024128"/>
            <a:ext cx="10927080" cy="694944"/>
          </a:xfrm>
          <a:prstGeom prst="rect">
            <a:avLst/>
          </a:prstGeom>
          <a:noFill/>
        </p:spPr>
        <p:txBody>
          <a:bodyPr wrap="square" tIns="0" bIns="0" lIns="16459" rIns="16459">
            <a:spAutoFit/>
          </a:bodyPr>
          <a:lstStyle/>
          <a:p>
            <a:pPr algn="r" rtl="1">
              <a:lnSpc>
                <a:spcPct val="106000"/>
              </a:lnSpc>
              <a:spcAft>
                <a:spcPts val="400"/>
              </a:spcAft>
            </a:pPr>
            <a:r>
              <a:rPr sz="2900" b="1" lang="ar-SA">
                <a:solidFill>
                  <a:srgbClr val="F8FAFC"/>
                </a:solidFill>
                <a:latin typeface="Cairo"/>
                <a:cs typeface="Cairo"/>
              </a:rPr>
              <a:t>كيف نقترح أن يعمل التسميع؟</a:t>
            </a:r>
          </a:p>
        </p:txBody>
      </p:sp>
      <p:sp>
        <p:nvSpPr>
          <p:cNvPr id="7" name="Rectangle 6"/>
          <p:cNvSpPr/>
          <p:nvPr/>
        </p:nvSpPr>
        <p:spPr>
          <a:xfrm>
            <a:off x="10753344" y="1792224"/>
            <a:ext cx="786384" cy="3200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6473952"/>
            <a:ext cx="10149840" cy="228600"/>
          </a:xfrm>
          <a:prstGeom prst="rect">
            <a:avLst/>
          </a:prstGeom>
          <a:noFill/>
        </p:spPr>
        <p:txBody>
          <a:bodyPr wrap="square" tIns="0" bIns="0" lIns="16459" rIns="16459">
            <a:spAutoFit/>
          </a:bodyPr>
          <a:lstStyle/>
          <a:p>
            <a:pPr algn="r" rtl="1">
              <a:lnSpc>
                <a:spcPct val="106000"/>
              </a:lnSpc>
              <a:spcAft>
                <a:spcPts val="400"/>
              </a:spcAft>
            </a:pPr>
            <a:r>
              <a:rPr sz="850" b="0" lang="ar-SA">
                <a:solidFill>
                  <a:srgbClr val="8193AA"/>
                </a:solidFill>
                <a:latin typeface="Cairo"/>
                <a:cs typeface="Cairo"/>
              </a:rPr>
              <a:t>مَتِين • عرض فكرة مقترحة للتسجيل، وليس عرض منتج منفّذ</a:t>
            </a:r>
          </a:p>
        </p:txBody>
      </p:sp>
      <p:sp>
        <p:nvSpPr>
          <p:cNvPr id="9" name="TextBox 8"/>
          <p:cNvSpPr txBox="1"/>
          <p:nvPr/>
        </p:nvSpPr>
        <p:spPr>
          <a:xfrm>
            <a:off x="594360" y="6455664"/>
            <a:ext cx="667512" cy="246888"/>
          </a:xfrm>
          <a:prstGeom prst="rect">
            <a:avLst/>
          </a:prstGeom>
          <a:noFill/>
        </p:spPr>
        <p:txBody>
          <a:bodyPr wrap="square" tIns="0" bIns="0" lIns="16459" rIns="16459">
            <a:spAutoFit/>
          </a:bodyPr>
          <a:lstStyle/>
          <a:p>
            <a:pPr algn="l" rtl="0">
              <a:lnSpc>
                <a:spcPct val="106000"/>
              </a:lnSpc>
              <a:spcAft>
                <a:spcPts val="400"/>
              </a:spcAft>
            </a:pPr>
            <a:r>
              <a:rPr sz="1000" b="0" lang="en-US">
                <a:solidFill>
                  <a:srgbClr val="B5C4D7"/>
                </a:solidFill>
                <a:latin typeface="Cairo"/>
                <a:cs typeface="Cairo"/>
              </a:rPr>
              <a:t>04 / 09</a:t>
            </a:r>
          </a:p>
        </p:txBody>
      </p:sp>
      <p:sp>
        <p:nvSpPr>
          <p:cNvPr id="10" name="Rounded Rectangle 9"/>
          <p:cNvSpPr/>
          <p:nvPr/>
        </p:nvSpPr>
        <p:spPr>
          <a:xfrm>
            <a:off x="8887968" y="2587752"/>
            <a:ext cx="2596896" cy="2203704"/>
          </a:xfrm>
          <a:prstGeom prst="roundRect">
            <a:avLst>
              <a:gd name="adj" fmla="val 7000"/>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61704" y="2779776"/>
            <a:ext cx="2249424" cy="557784"/>
          </a:xfrm>
          <a:prstGeom prst="rect">
            <a:avLst/>
          </a:prstGeom>
          <a:noFill/>
        </p:spPr>
        <p:txBody>
          <a:bodyPr wrap="square" tIns="0" bIns="0" lIns="16459" rIns="16459">
            <a:spAutoFit/>
          </a:bodyPr>
          <a:lstStyle/>
          <a:p>
            <a:pPr algn="r" rtl="1">
              <a:lnSpc>
                <a:spcPct val="106000"/>
              </a:lnSpc>
              <a:spcAft>
                <a:spcPts val="400"/>
              </a:spcAft>
            </a:pPr>
            <a:r>
              <a:rPr sz="3000" b="1" lang="ar-SA">
                <a:solidFill>
                  <a:srgbClr val="38BDF8"/>
                </a:solidFill>
                <a:latin typeface="Cairo"/>
                <a:cs typeface="Cairo"/>
              </a:rPr>
              <a:t>٠١</a:t>
            </a:r>
          </a:p>
        </p:txBody>
      </p:sp>
      <p:sp>
        <p:nvSpPr>
          <p:cNvPr id="12" name="TextBox 11"/>
          <p:cNvSpPr txBox="1"/>
          <p:nvPr/>
        </p:nvSpPr>
        <p:spPr>
          <a:xfrm>
            <a:off x="9061704" y="3465576"/>
            <a:ext cx="2249424" cy="402336"/>
          </a:xfrm>
          <a:prstGeom prst="rect">
            <a:avLst/>
          </a:prstGeom>
          <a:noFill/>
        </p:spPr>
        <p:txBody>
          <a:bodyPr wrap="square" tIns="0" bIns="0" lIns="16459" rIns="16459">
            <a:spAutoFit/>
          </a:bodyPr>
          <a:lstStyle/>
          <a:p>
            <a:pPr algn="r" rtl="1">
              <a:lnSpc>
                <a:spcPct val="106000"/>
              </a:lnSpc>
              <a:spcAft>
                <a:spcPts val="400"/>
              </a:spcAft>
            </a:pPr>
            <a:r>
              <a:rPr sz="1700" b="1" lang="ar-SA">
                <a:solidFill>
                  <a:srgbClr val="F8FAFC"/>
                </a:solidFill>
                <a:latin typeface="Cairo"/>
                <a:cs typeface="Cairo"/>
              </a:rPr>
              <a:t>اختيار النص</a:t>
            </a:r>
          </a:p>
        </p:txBody>
      </p:sp>
      <p:sp>
        <p:nvSpPr>
          <p:cNvPr id="13" name="TextBox 12"/>
          <p:cNvSpPr txBox="1"/>
          <p:nvPr/>
        </p:nvSpPr>
        <p:spPr>
          <a:xfrm>
            <a:off x="9061704" y="4032504"/>
            <a:ext cx="2249424" cy="603504"/>
          </a:xfrm>
          <a:prstGeom prst="rect">
            <a:avLst/>
          </a:prstGeom>
          <a:noFill/>
        </p:spPr>
        <p:txBody>
          <a:bodyPr wrap="square" tIns="0" bIns="0" lIns="16459" rIns="16459">
            <a:spAutoFit/>
          </a:bodyPr>
          <a:lstStyle/>
          <a:p>
            <a:pPr algn="r" rtl="1">
              <a:lnSpc>
                <a:spcPct val="106000"/>
              </a:lnSpc>
              <a:spcAft>
                <a:spcPts val="400"/>
              </a:spcAft>
            </a:pPr>
            <a:r>
              <a:rPr sz="1600" b="0" lang="ar-SA">
                <a:solidFill>
                  <a:srgbClr val="B5C4D7"/>
                </a:solidFill>
                <a:latin typeface="Cairo"/>
                <a:cs typeface="Cairo"/>
              </a:rPr>
              <a:t>متن معتمد ومقطع محدد.</a:t>
            </a:r>
          </a:p>
        </p:txBody>
      </p:sp>
      <p:sp>
        <p:nvSpPr>
          <p:cNvPr id="14" name="TextBox 13"/>
          <p:cNvSpPr txBox="1"/>
          <p:nvPr/>
        </p:nvSpPr>
        <p:spPr>
          <a:xfrm>
            <a:off x="8622792" y="3355848"/>
            <a:ext cx="219456" cy="402336"/>
          </a:xfrm>
          <a:prstGeom prst="rect">
            <a:avLst/>
          </a:prstGeom>
          <a:noFill/>
        </p:spPr>
        <p:txBody>
          <a:bodyPr wrap="square" tIns="0" bIns="0" lIns="16459" rIns="16459">
            <a:spAutoFit/>
          </a:bodyPr>
          <a:lstStyle/>
          <a:p>
            <a:pPr algn="r" rtl="1">
              <a:lnSpc>
                <a:spcPct val="106000"/>
              </a:lnSpc>
              <a:spcAft>
                <a:spcPts val="400"/>
              </a:spcAft>
            </a:pPr>
            <a:r>
              <a:rPr sz="1600" b="0" lang="ar-SA">
                <a:solidFill>
                  <a:srgbClr val="38BDF8"/>
                </a:solidFill>
                <a:latin typeface="Cairo"/>
                <a:cs typeface="Cairo"/>
              </a:rPr>
              <a:t>←</a:t>
            </a:r>
          </a:p>
        </p:txBody>
      </p:sp>
      <p:sp>
        <p:nvSpPr>
          <p:cNvPr id="15" name="Rounded Rectangle 14"/>
          <p:cNvSpPr/>
          <p:nvPr/>
        </p:nvSpPr>
        <p:spPr>
          <a:xfrm>
            <a:off x="6153912" y="2587752"/>
            <a:ext cx="2596896" cy="2203704"/>
          </a:xfrm>
          <a:prstGeom prst="roundRect">
            <a:avLst>
              <a:gd name="adj" fmla="val 7000"/>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27648" y="2779776"/>
            <a:ext cx="2249424" cy="557784"/>
          </a:xfrm>
          <a:prstGeom prst="rect">
            <a:avLst/>
          </a:prstGeom>
          <a:noFill/>
        </p:spPr>
        <p:txBody>
          <a:bodyPr wrap="square" tIns="0" bIns="0" lIns="16459" rIns="16459">
            <a:spAutoFit/>
          </a:bodyPr>
          <a:lstStyle/>
          <a:p>
            <a:pPr algn="r" rtl="1">
              <a:lnSpc>
                <a:spcPct val="106000"/>
              </a:lnSpc>
              <a:spcAft>
                <a:spcPts val="400"/>
              </a:spcAft>
            </a:pPr>
            <a:r>
              <a:rPr sz="3000" b="1" lang="ar-SA">
                <a:solidFill>
                  <a:srgbClr val="38BDF8"/>
                </a:solidFill>
                <a:latin typeface="Cairo"/>
                <a:cs typeface="Cairo"/>
              </a:rPr>
              <a:t>٠٢</a:t>
            </a:r>
          </a:p>
        </p:txBody>
      </p:sp>
      <p:sp>
        <p:nvSpPr>
          <p:cNvPr id="17" name="TextBox 16"/>
          <p:cNvSpPr txBox="1"/>
          <p:nvPr/>
        </p:nvSpPr>
        <p:spPr>
          <a:xfrm>
            <a:off x="6327648" y="3465576"/>
            <a:ext cx="2249424" cy="402336"/>
          </a:xfrm>
          <a:prstGeom prst="rect">
            <a:avLst/>
          </a:prstGeom>
          <a:noFill/>
        </p:spPr>
        <p:txBody>
          <a:bodyPr wrap="square" tIns="0" bIns="0" lIns="16459" rIns="16459">
            <a:spAutoFit/>
          </a:bodyPr>
          <a:lstStyle/>
          <a:p>
            <a:pPr algn="r" rtl="1">
              <a:lnSpc>
                <a:spcPct val="106000"/>
              </a:lnSpc>
              <a:spcAft>
                <a:spcPts val="400"/>
              </a:spcAft>
            </a:pPr>
            <a:r>
              <a:rPr sz="1700" b="1" lang="ar-SA">
                <a:solidFill>
                  <a:srgbClr val="F8FAFC"/>
                </a:solidFill>
                <a:latin typeface="Cairo"/>
                <a:cs typeface="Cairo"/>
              </a:rPr>
              <a:t>إرسال الصوت</a:t>
            </a:r>
          </a:p>
        </p:txBody>
      </p:sp>
      <p:sp>
        <p:nvSpPr>
          <p:cNvPr id="18" name="TextBox 17"/>
          <p:cNvSpPr txBox="1"/>
          <p:nvPr/>
        </p:nvSpPr>
        <p:spPr>
          <a:xfrm>
            <a:off x="6327648" y="4032504"/>
            <a:ext cx="2249424" cy="603504"/>
          </a:xfrm>
          <a:prstGeom prst="rect">
            <a:avLst/>
          </a:prstGeom>
          <a:noFill/>
        </p:spPr>
        <p:txBody>
          <a:bodyPr wrap="square" tIns="0" bIns="0" lIns="16459" rIns="16459">
            <a:spAutoFit/>
          </a:bodyPr>
          <a:lstStyle/>
          <a:p>
            <a:pPr algn="r" rtl="1">
              <a:lnSpc>
                <a:spcPct val="106000"/>
              </a:lnSpc>
              <a:spcAft>
                <a:spcPts val="400"/>
              </a:spcAft>
            </a:pPr>
            <a:r>
              <a:rPr sz="1600" b="0" lang="ar-SA">
                <a:solidFill>
                  <a:srgbClr val="B5C4D7"/>
                </a:solidFill>
                <a:latin typeface="Cairo"/>
                <a:cs typeface="Cairo"/>
              </a:rPr>
              <a:t>دفعات قصيرة مع حالة اتصال.</a:t>
            </a:r>
          </a:p>
        </p:txBody>
      </p:sp>
      <p:sp>
        <p:nvSpPr>
          <p:cNvPr id="19" name="TextBox 18"/>
          <p:cNvSpPr txBox="1"/>
          <p:nvPr/>
        </p:nvSpPr>
        <p:spPr>
          <a:xfrm>
            <a:off x="5888736" y="3355848"/>
            <a:ext cx="219456" cy="402336"/>
          </a:xfrm>
          <a:prstGeom prst="rect">
            <a:avLst/>
          </a:prstGeom>
          <a:noFill/>
        </p:spPr>
        <p:txBody>
          <a:bodyPr wrap="square" tIns="0" bIns="0" lIns="16459" rIns="16459">
            <a:spAutoFit/>
          </a:bodyPr>
          <a:lstStyle/>
          <a:p>
            <a:pPr algn="r" rtl="1">
              <a:lnSpc>
                <a:spcPct val="106000"/>
              </a:lnSpc>
              <a:spcAft>
                <a:spcPts val="400"/>
              </a:spcAft>
            </a:pPr>
            <a:r>
              <a:rPr sz="1600" b="0" lang="ar-SA">
                <a:solidFill>
                  <a:srgbClr val="38BDF8"/>
                </a:solidFill>
                <a:latin typeface="Cairo"/>
                <a:cs typeface="Cairo"/>
              </a:rPr>
              <a:t>←</a:t>
            </a:r>
          </a:p>
        </p:txBody>
      </p:sp>
      <p:sp>
        <p:nvSpPr>
          <p:cNvPr id="20" name="Rounded Rectangle 19"/>
          <p:cNvSpPr/>
          <p:nvPr/>
        </p:nvSpPr>
        <p:spPr>
          <a:xfrm>
            <a:off x="3419856" y="2587752"/>
            <a:ext cx="2596896" cy="2203704"/>
          </a:xfrm>
          <a:prstGeom prst="roundRect">
            <a:avLst>
              <a:gd name="adj" fmla="val 7000"/>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93592" y="2779776"/>
            <a:ext cx="2249424" cy="557784"/>
          </a:xfrm>
          <a:prstGeom prst="rect">
            <a:avLst/>
          </a:prstGeom>
          <a:noFill/>
        </p:spPr>
        <p:txBody>
          <a:bodyPr wrap="square" tIns="0" bIns="0" lIns="16459" rIns="16459">
            <a:spAutoFit/>
          </a:bodyPr>
          <a:lstStyle/>
          <a:p>
            <a:pPr algn="r" rtl="1">
              <a:lnSpc>
                <a:spcPct val="106000"/>
              </a:lnSpc>
              <a:spcAft>
                <a:spcPts val="400"/>
              </a:spcAft>
            </a:pPr>
            <a:r>
              <a:rPr sz="3000" b="1" lang="ar-SA">
                <a:solidFill>
                  <a:srgbClr val="38BDF8"/>
                </a:solidFill>
                <a:latin typeface="Cairo"/>
                <a:cs typeface="Cairo"/>
              </a:rPr>
              <a:t>٠٣</a:t>
            </a:r>
          </a:p>
        </p:txBody>
      </p:sp>
      <p:sp>
        <p:nvSpPr>
          <p:cNvPr id="22" name="TextBox 21"/>
          <p:cNvSpPr txBox="1"/>
          <p:nvPr/>
        </p:nvSpPr>
        <p:spPr>
          <a:xfrm>
            <a:off x="3593592" y="3465576"/>
            <a:ext cx="2249424" cy="402336"/>
          </a:xfrm>
          <a:prstGeom prst="rect">
            <a:avLst/>
          </a:prstGeom>
          <a:noFill/>
        </p:spPr>
        <p:txBody>
          <a:bodyPr wrap="square" tIns="0" bIns="0" lIns="16459" rIns="16459">
            <a:spAutoFit/>
          </a:bodyPr>
          <a:lstStyle/>
          <a:p>
            <a:pPr algn="r" rtl="1">
              <a:lnSpc>
                <a:spcPct val="106000"/>
              </a:lnSpc>
              <a:spcAft>
                <a:spcPts val="400"/>
              </a:spcAft>
            </a:pPr>
            <a:r>
              <a:rPr sz="1700" b="1" lang="ar-SA">
                <a:solidFill>
                  <a:srgbClr val="F8FAFC"/>
                </a:solidFill>
                <a:latin typeface="Cairo"/>
                <a:cs typeface="Cairo"/>
              </a:rPr>
              <a:t>تفريغ ومطابقة</a:t>
            </a:r>
          </a:p>
        </p:txBody>
      </p:sp>
      <p:sp>
        <p:nvSpPr>
          <p:cNvPr id="23" name="TextBox 22"/>
          <p:cNvSpPr txBox="1"/>
          <p:nvPr/>
        </p:nvSpPr>
        <p:spPr>
          <a:xfrm>
            <a:off x="3593592" y="4032504"/>
            <a:ext cx="2249424" cy="603504"/>
          </a:xfrm>
          <a:prstGeom prst="rect">
            <a:avLst/>
          </a:prstGeom>
          <a:noFill/>
        </p:spPr>
        <p:txBody>
          <a:bodyPr wrap="square" tIns="0" bIns="0" lIns="16459" rIns="16459">
            <a:spAutoFit/>
          </a:bodyPr>
          <a:lstStyle/>
          <a:p>
            <a:pPr algn="r" rtl="1">
              <a:lnSpc>
                <a:spcPct val="106000"/>
              </a:lnSpc>
              <a:spcAft>
                <a:spcPts val="400"/>
              </a:spcAft>
            </a:pPr>
            <a:r>
              <a:rPr sz="1600" b="0" lang="ar-SA">
                <a:solidFill>
                  <a:srgbClr val="B5C4D7"/>
                </a:solidFill>
                <a:latin typeface="Cairo"/>
                <a:cs typeface="Cairo"/>
              </a:rPr>
              <a:t>مقارنة الكلمات بنص المقطع.</a:t>
            </a:r>
          </a:p>
        </p:txBody>
      </p:sp>
      <p:sp>
        <p:nvSpPr>
          <p:cNvPr id="24" name="TextBox 23"/>
          <p:cNvSpPr txBox="1"/>
          <p:nvPr/>
        </p:nvSpPr>
        <p:spPr>
          <a:xfrm>
            <a:off x="3154680" y="3355848"/>
            <a:ext cx="219456" cy="402336"/>
          </a:xfrm>
          <a:prstGeom prst="rect">
            <a:avLst/>
          </a:prstGeom>
          <a:noFill/>
        </p:spPr>
        <p:txBody>
          <a:bodyPr wrap="square" tIns="0" bIns="0" lIns="16459" rIns="16459">
            <a:spAutoFit/>
          </a:bodyPr>
          <a:lstStyle/>
          <a:p>
            <a:pPr algn="r" rtl="1">
              <a:lnSpc>
                <a:spcPct val="106000"/>
              </a:lnSpc>
              <a:spcAft>
                <a:spcPts val="400"/>
              </a:spcAft>
            </a:pPr>
            <a:r>
              <a:rPr sz="1600" b="0" lang="ar-SA">
                <a:solidFill>
                  <a:srgbClr val="38BDF8"/>
                </a:solidFill>
                <a:latin typeface="Cairo"/>
                <a:cs typeface="Cairo"/>
              </a:rPr>
              <a:t>←</a:t>
            </a:r>
          </a:p>
        </p:txBody>
      </p:sp>
      <p:sp>
        <p:nvSpPr>
          <p:cNvPr id="25" name="Rounded Rectangle 24"/>
          <p:cNvSpPr/>
          <p:nvPr/>
        </p:nvSpPr>
        <p:spPr>
          <a:xfrm>
            <a:off x="685800" y="2587752"/>
            <a:ext cx="2596896" cy="2203704"/>
          </a:xfrm>
          <a:prstGeom prst="roundRect">
            <a:avLst>
              <a:gd name="adj" fmla="val 7000"/>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2779776"/>
            <a:ext cx="2249424" cy="557784"/>
          </a:xfrm>
          <a:prstGeom prst="rect">
            <a:avLst/>
          </a:prstGeom>
          <a:noFill/>
        </p:spPr>
        <p:txBody>
          <a:bodyPr wrap="square" tIns="0" bIns="0" lIns="16459" rIns="16459">
            <a:spAutoFit/>
          </a:bodyPr>
          <a:lstStyle/>
          <a:p>
            <a:pPr algn="r" rtl="1">
              <a:lnSpc>
                <a:spcPct val="106000"/>
              </a:lnSpc>
              <a:spcAft>
                <a:spcPts val="400"/>
              </a:spcAft>
            </a:pPr>
            <a:r>
              <a:rPr sz="3000" b="1" lang="ar-SA">
                <a:solidFill>
                  <a:srgbClr val="38BDF8"/>
                </a:solidFill>
                <a:latin typeface="Cairo"/>
                <a:cs typeface="Cairo"/>
              </a:rPr>
              <a:t>٠٤</a:t>
            </a:r>
          </a:p>
        </p:txBody>
      </p:sp>
      <p:sp>
        <p:nvSpPr>
          <p:cNvPr id="27" name="TextBox 26"/>
          <p:cNvSpPr txBox="1"/>
          <p:nvPr/>
        </p:nvSpPr>
        <p:spPr>
          <a:xfrm>
            <a:off x="859536" y="3465576"/>
            <a:ext cx="2249424" cy="402336"/>
          </a:xfrm>
          <a:prstGeom prst="rect">
            <a:avLst/>
          </a:prstGeom>
          <a:noFill/>
        </p:spPr>
        <p:txBody>
          <a:bodyPr wrap="square" tIns="0" bIns="0" lIns="16459" rIns="16459">
            <a:spAutoFit/>
          </a:bodyPr>
          <a:lstStyle/>
          <a:p>
            <a:pPr algn="r" rtl="1">
              <a:lnSpc>
                <a:spcPct val="106000"/>
              </a:lnSpc>
              <a:spcAft>
                <a:spcPts val="400"/>
              </a:spcAft>
            </a:pPr>
            <a:r>
              <a:rPr sz="1700" b="1" lang="ar-SA">
                <a:solidFill>
                  <a:srgbClr val="F8FAFC"/>
                </a:solidFill>
                <a:latin typeface="Cairo"/>
                <a:cs typeface="Cairo"/>
              </a:rPr>
              <a:t>نتيجة مفهومة</a:t>
            </a:r>
          </a:p>
        </p:txBody>
      </p:sp>
      <p:sp>
        <p:nvSpPr>
          <p:cNvPr id="28" name="TextBox 27"/>
          <p:cNvSpPr txBox="1"/>
          <p:nvPr/>
        </p:nvSpPr>
        <p:spPr>
          <a:xfrm>
            <a:off x="859536" y="4032504"/>
            <a:ext cx="2249424" cy="603504"/>
          </a:xfrm>
          <a:prstGeom prst="rect">
            <a:avLst/>
          </a:prstGeom>
          <a:noFill/>
        </p:spPr>
        <p:txBody>
          <a:bodyPr wrap="square" tIns="0" bIns="0" lIns="16459" rIns="16459">
            <a:spAutoFit/>
          </a:bodyPr>
          <a:lstStyle/>
          <a:p>
            <a:pPr algn="r" rtl="1">
              <a:lnSpc>
                <a:spcPct val="106000"/>
              </a:lnSpc>
              <a:spcAft>
                <a:spcPts val="400"/>
              </a:spcAft>
            </a:pPr>
            <a:r>
              <a:rPr sz="1600" b="0" lang="ar-SA">
                <a:solidFill>
                  <a:srgbClr val="B5C4D7"/>
                </a:solidFill>
                <a:latin typeface="Cairo"/>
                <a:cs typeface="Cairo"/>
              </a:rPr>
              <a:t>تأكيد الخطأ أو طلب الإعادة.</a:t>
            </a:r>
          </a:p>
        </p:txBody>
      </p:sp>
      <p:sp>
        <p:nvSpPr>
          <p:cNvPr id="29" name="Rounded Rectangle 28"/>
          <p:cNvSpPr/>
          <p:nvPr/>
        </p:nvSpPr>
        <p:spPr>
          <a:xfrm>
            <a:off x="676656" y="5166360"/>
            <a:ext cx="10744200" cy="941832"/>
          </a:xfrm>
          <a:prstGeom prst="roundRect">
            <a:avLst>
              <a:gd name="adj" fmla="val 7000"/>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23544" y="5440680"/>
            <a:ext cx="10222992" cy="493776"/>
          </a:xfrm>
          <a:prstGeom prst="rect">
            <a:avLst/>
          </a:prstGeom>
          <a:noFill/>
        </p:spPr>
        <p:txBody>
          <a:bodyPr wrap="square" tIns="0" bIns="0" lIns="16459" rIns="16459">
            <a:spAutoFit/>
          </a:bodyPr>
          <a:lstStyle/>
          <a:p>
            <a:pPr algn="r" rtl="1">
              <a:lnSpc>
                <a:spcPct val="106000"/>
              </a:lnSpc>
              <a:spcAft>
                <a:spcPts val="400"/>
              </a:spcAft>
            </a:pPr>
            <a:r>
              <a:rPr sz="1900" b="1" lang="ar-SA">
                <a:solidFill>
                  <a:srgbClr val="34D399"/>
                </a:solidFill>
                <a:latin typeface="Cairo"/>
                <a:cs typeface="Cairo"/>
              </a:rPr>
              <a:t>مبدآن للتحقق: لا يعد الصمت وحده حذفاً؛ ولا يتحول صوت غير واضح إلى درجة أو خطأ نهائي.</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eon-background.png"/>
          <p:cNvPicPr>
            <a:picLocks noChangeAspect="1"/>
          </p:cNvPicPr>
          <p:nvPr/>
        </p:nvPicPr>
        <p:blipFill>
          <a:blip r:embed="rId2"/>
          <a:stretch>
            <a:fillRect/>
          </a:stretch>
        </p:blipFill>
        <p:spPr>
          <a:xfrm>
            <a:off x="0" y="0"/>
            <a:ext cx="12191999" cy="6858000"/>
          </a:xfrm>
          <a:prstGeom prst="rect">
            <a:avLst/>
          </a:prstGeom>
        </p:spPr>
      </p:pic>
      <p:pic>
        <p:nvPicPr>
          <p:cNvPr id="3" name="Picture 2" descr="mateen-official-logo.png"/>
          <p:cNvPicPr>
            <a:picLocks noChangeAspect="1"/>
          </p:cNvPicPr>
          <p:nvPr/>
        </p:nvPicPr>
        <p:blipFill>
          <a:blip r:embed="rId3"/>
          <a:stretch>
            <a:fillRect/>
          </a:stretch>
        </p:blipFill>
        <p:spPr>
          <a:xfrm>
            <a:off x="10661904" y="237744"/>
            <a:ext cx="868680" cy="400822"/>
          </a:xfrm>
          <a:prstGeom prst="rect">
            <a:avLst/>
          </a:prstGeom>
        </p:spPr>
      </p:pic>
      <p:sp>
        <p:nvSpPr>
          <p:cNvPr id="4" name="TextBox 3"/>
          <p:cNvSpPr txBox="1"/>
          <p:nvPr/>
        </p:nvSpPr>
        <p:spPr>
          <a:xfrm>
            <a:off x="594360" y="283464"/>
            <a:ext cx="8961120" cy="256032"/>
          </a:xfrm>
          <a:prstGeom prst="rect">
            <a:avLst/>
          </a:prstGeom>
          <a:noFill/>
        </p:spPr>
        <p:txBody>
          <a:bodyPr wrap="square" tIns="0" bIns="0" lIns="16459" rIns="16459">
            <a:spAutoFit/>
          </a:bodyPr>
          <a:lstStyle/>
          <a:p>
            <a:pPr algn="r" rtl="1">
              <a:lnSpc>
                <a:spcPct val="106000"/>
              </a:lnSpc>
              <a:spcAft>
                <a:spcPts val="400"/>
              </a:spcAft>
            </a:pPr>
            <a:r>
              <a:rPr sz="900" b="0" lang="ar-SA">
                <a:solidFill>
                  <a:srgbClr val="B5C4D7"/>
                </a:solidFill>
                <a:latin typeface="Cairo"/>
                <a:cs typeface="Cairo"/>
              </a:rPr>
              <a:t>المسار المفتوح  /  تحدي الذكاء الاصطناعي في خدمة المحتوى الإسلامي</a:t>
            </a:r>
          </a:p>
        </p:txBody>
      </p:sp>
      <p:sp>
        <p:nvSpPr>
          <p:cNvPr id="5" name="Rectangle 4"/>
          <p:cNvSpPr/>
          <p:nvPr/>
        </p:nvSpPr>
        <p:spPr>
          <a:xfrm>
            <a:off x="594360" y="804672"/>
            <a:ext cx="10991088" cy="10972"/>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024128"/>
            <a:ext cx="10927080" cy="694944"/>
          </a:xfrm>
          <a:prstGeom prst="rect">
            <a:avLst/>
          </a:prstGeom>
          <a:noFill/>
        </p:spPr>
        <p:txBody>
          <a:bodyPr wrap="square" tIns="0" bIns="0" lIns="16459" rIns="16459">
            <a:spAutoFit/>
          </a:bodyPr>
          <a:lstStyle/>
          <a:p>
            <a:pPr algn="r" rtl="1">
              <a:lnSpc>
                <a:spcPct val="106000"/>
              </a:lnSpc>
              <a:spcAft>
                <a:spcPts val="400"/>
              </a:spcAft>
            </a:pPr>
            <a:r>
              <a:rPr sz="2900" b="1" lang="ar-SA">
                <a:solidFill>
                  <a:srgbClr val="F8FAFC"/>
                </a:solidFill>
                <a:latin typeface="Cairo"/>
                <a:cs typeface="Cairo"/>
              </a:rPr>
              <a:t>الثقة العلمية تبدأ بحدود واضحة</a:t>
            </a:r>
          </a:p>
        </p:txBody>
      </p:sp>
      <p:sp>
        <p:nvSpPr>
          <p:cNvPr id="7" name="Rectangle 6"/>
          <p:cNvSpPr/>
          <p:nvPr/>
        </p:nvSpPr>
        <p:spPr>
          <a:xfrm>
            <a:off x="10753344" y="1792224"/>
            <a:ext cx="786384" cy="3200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6473952"/>
            <a:ext cx="10149840" cy="228600"/>
          </a:xfrm>
          <a:prstGeom prst="rect">
            <a:avLst/>
          </a:prstGeom>
          <a:noFill/>
        </p:spPr>
        <p:txBody>
          <a:bodyPr wrap="square" tIns="0" bIns="0" lIns="16459" rIns="16459">
            <a:spAutoFit/>
          </a:bodyPr>
          <a:lstStyle/>
          <a:p>
            <a:pPr algn="r" rtl="1">
              <a:lnSpc>
                <a:spcPct val="106000"/>
              </a:lnSpc>
              <a:spcAft>
                <a:spcPts val="400"/>
              </a:spcAft>
            </a:pPr>
            <a:r>
              <a:rPr sz="850" b="0" lang="ar-SA">
                <a:solidFill>
                  <a:srgbClr val="8193AA"/>
                </a:solidFill>
                <a:latin typeface="Cairo"/>
                <a:cs typeface="Cairo"/>
              </a:rPr>
              <a:t>دليل المشارك: الموثوقية والسالمة العلمية ٢٠٪ من معايير القبول؛ الاستبيان س٦.</a:t>
            </a:r>
          </a:p>
        </p:txBody>
      </p:sp>
      <p:sp>
        <p:nvSpPr>
          <p:cNvPr id="9" name="TextBox 8"/>
          <p:cNvSpPr txBox="1"/>
          <p:nvPr/>
        </p:nvSpPr>
        <p:spPr>
          <a:xfrm>
            <a:off x="594360" y="6455664"/>
            <a:ext cx="667512" cy="246888"/>
          </a:xfrm>
          <a:prstGeom prst="rect">
            <a:avLst/>
          </a:prstGeom>
          <a:noFill/>
        </p:spPr>
        <p:txBody>
          <a:bodyPr wrap="square" tIns="0" bIns="0" lIns="16459" rIns="16459">
            <a:spAutoFit/>
          </a:bodyPr>
          <a:lstStyle/>
          <a:p>
            <a:pPr algn="l" rtl="0">
              <a:lnSpc>
                <a:spcPct val="106000"/>
              </a:lnSpc>
              <a:spcAft>
                <a:spcPts val="400"/>
              </a:spcAft>
            </a:pPr>
            <a:r>
              <a:rPr sz="1000" b="0" lang="en-US">
                <a:solidFill>
                  <a:srgbClr val="B5C4D7"/>
                </a:solidFill>
                <a:latin typeface="Cairo"/>
                <a:cs typeface="Cairo"/>
              </a:rPr>
              <a:t>05 / 09</a:t>
            </a:r>
          </a:p>
        </p:txBody>
      </p:sp>
      <p:sp>
        <p:nvSpPr>
          <p:cNvPr id="10" name="Rounded Rectangle 9"/>
          <p:cNvSpPr/>
          <p:nvPr/>
        </p:nvSpPr>
        <p:spPr>
          <a:xfrm>
            <a:off x="6172200" y="2395728"/>
            <a:ext cx="5193792" cy="3191256"/>
          </a:xfrm>
          <a:prstGeom prst="roundRect">
            <a:avLst>
              <a:gd name="adj" fmla="val 7000"/>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311128" y="2596896"/>
            <a:ext cx="22860" cy="27889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2512" y="2734056"/>
            <a:ext cx="4754879" cy="429768"/>
          </a:xfrm>
          <a:prstGeom prst="rect">
            <a:avLst/>
          </a:prstGeom>
          <a:noFill/>
        </p:spPr>
        <p:txBody>
          <a:bodyPr wrap="square" tIns="0" bIns="0" lIns="16459" rIns="16459">
            <a:spAutoFit/>
          </a:bodyPr>
          <a:lstStyle/>
          <a:p>
            <a:pPr algn="r" rtl="1">
              <a:lnSpc>
                <a:spcPct val="106000"/>
              </a:lnSpc>
              <a:spcAft>
                <a:spcPts val="400"/>
              </a:spcAft>
            </a:pPr>
            <a:r>
              <a:rPr sz="1900" b="1" lang="ar-SA">
                <a:solidFill>
                  <a:srgbClr val="F8FAFC"/>
                </a:solidFill>
                <a:latin typeface="Cairo"/>
                <a:cs typeface="Cairo"/>
              </a:rPr>
              <a:t>المساعد المسند</a:t>
            </a:r>
          </a:p>
        </p:txBody>
      </p:sp>
      <p:sp>
        <p:nvSpPr>
          <p:cNvPr id="13" name="TextBox 12"/>
          <p:cNvSpPr txBox="1"/>
          <p:nvPr/>
        </p:nvSpPr>
        <p:spPr>
          <a:xfrm>
            <a:off x="6382512" y="3374136"/>
            <a:ext cx="4754879" cy="2084832"/>
          </a:xfrm>
          <a:prstGeom prst="rect">
            <a:avLst/>
          </a:prstGeom>
          <a:noFill/>
        </p:spPr>
        <p:txBody>
          <a:bodyPr wrap="square" tIns="0" bIns="0" lIns="16459" rIns="16459">
            <a:spAutoFit/>
          </a:bodyPr>
          <a:lstStyle/>
          <a:p>
            <a:pPr algn="r" rtl="1">
              <a:lnSpc>
                <a:spcPct val="106000"/>
              </a:lnSpc>
              <a:spcAft>
                <a:spcPts val="400"/>
              </a:spcAft>
            </a:pPr>
            <a:r>
              <a:rPr sz="1650" b="0" lang="ar-SA">
                <a:solidFill>
                  <a:srgbClr val="B5C4D7"/>
                </a:solidFill>
                <a:latin typeface="Cairo"/>
                <a:cs typeface="Cairo"/>
              </a:rPr>
              <a:t>بحث في مصادر معتمدة ومرخّصة.</a:t>
            </a:r>
          </a:p>
          <a:p>
            <a:pPr algn="r" rtl="1">
              <a:lnSpc>
                <a:spcPct val="106000"/>
              </a:lnSpc>
              <a:spcAft>
                <a:spcPts val="400"/>
              </a:spcAft>
            </a:pPr>
            <a:r>
              <a:rPr sz="1650" b="0" lang="ar-SA">
                <a:solidFill>
                  <a:srgbClr val="B5C4D7"/>
                </a:solidFill>
                <a:latin typeface="Cairo"/>
                <a:cs typeface="Cairo"/>
              </a:rPr>
              <a:t>شرح محدود مع الكتاب والجزء والصفحة.</a:t>
            </a:r>
          </a:p>
          <a:p>
            <a:pPr algn="r" rtl="1">
              <a:lnSpc>
                <a:spcPct val="106000"/>
              </a:lnSpc>
              <a:spcAft>
                <a:spcPts val="400"/>
              </a:spcAft>
            </a:pPr>
            <a:r>
              <a:rPr sz="1650" b="0" lang="ar-SA">
                <a:solidFill>
                  <a:srgbClr val="B5C4D7"/>
                </a:solidFill>
                <a:latin typeface="Cairo"/>
                <a:cs typeface="Cairo"/>
              </a:rPr>
              <a:t>الامتناع عند غياب المرجع أو تعارضه.</a:t>
            </a:r>
          </a:p>
        </p:txBody>
      </p:sp>
      <p:sp>
        <p:nvSpPr>
          <p:cNvPr id="14" name="Rounded Rectangle 13"/>
          <p:cNvSpPr/>
          <p:nvPr/>
        </p:nvSpPr>
        <p:spPr>
          <a:xfrm>
            <a:off x="640080" y="2395728"/>
            <a:ext cx="5193792" cy="3191256"/>
          </a:xfrm>
          <a:prstGeom prst="roundRect">
            <a:avLst>
              <a:gd name="adj" fmla="val 7000"/>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779008" y="2596896"/>
            <a:ext cx="22860" cy="27889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2734056"/>
            <a:ext cx="4754879" cy="429768"/>
          </a:xfrm>
          <a:prstGeom prst="rect">
            <a:avLst/>
          </a:prstGeom>
          <a:noFill/>
        </p:spPr>
        <p:txBody>
          <a:bodyPr wrap="square" tIns="0" bIns="0" lIns="16459" rIns="16459">
            <a:spAutoFit/>
          </a:bodyPr>
          <a:lstStyle/>
          <a:p>
            <a:pPr algn="r" rtl="1">
              <a:lnSpc>
                <a:spcPct val="106000"/>
              </a:lnSpc>
              <a:spcAft>
                <a:spcPts val="400"/>
              </a:spcAft>
            </a:pPr>
            <a:r>
              <a:rPr sz="1900" b="1" lang="ar-SA">
                <a:solidFill>
                  <a:srgbClr val="F8FAFC"/>
                </a:solidFill>
                <a:latin typeface="Cairo"/>
                <a:cs typeface="Cairo"/>
              </a:rPr>
              <a:t>الإحالة إلى المختص</a:t>
            </a:r>
          </a:p>
        </p:txBody>
      </p:sp>
      <p:sp>
        <p:nvSpPr>
          <p:cNvPr id="17" name="TextBox 16"/>
          <p:cNvSpPr txBox="1"/>
          <p:nvPr/>
        </p:nvSpPr>
        <p:spPr>
          <a:xfrm>
            <a:off x="850392" y="3374136"/>
            <a:ext cx="4754879" cy="2084832"/>
          </a:xfrm>
          <a:prstGeom prst="rect">
            <a:avLst/>
          </a:prstGeom>
          <a:noFill/>
        </p:spPr>
        <p:txBody>
          <a:bodyPr wrap="square" tIns="0" bIns="0" lIns="16459" rIns="16459">
            <a:spAutoFit/>
          </a:bodyPr>
          <a:lstStyle/>
          <a:p>
            <a:pPr algn="r" rtl="1">
              <a:lnSpc>
                <a:spcPct val="106000"/>
              </a:lnSpc>
              <a:spcAft>
                <a:spcPts val="400"/>
              </a:spcAft>
            </a:pPr>
            <a:r>
              <a:rPr sz="1650" b="0" lang="ar-SA">
                <a:solidFill>
                  <a:srgbClr val="B5C4D7"/>
                </a:solidFill>
                <a:latin typeface="Cairo"/>
                <a:cs typeface="Cairo"/>
              </a:rPr>
              <a:t>لا فتوى مولّدة من عند النظام.</a:t>
            </a:r>
          </a:p>
          <a:p>
            <a:pPr algn="r" rtl="1">
              <a:lnSpc>
                <a:spcPct val="106000"/>
              </a:lnSpc>
              <a:spcAft>
                <a:spcPts val="400"/>
              </a:spcAft>
            </a:pPr>
            <a:r>
              <a:rPr sz="1650" b="0" lang="ar-SA">
                <a:solidFill>
                  <a:srgbClr val="B5C4D7"/>
                </a:solidFill>
                <a:latin typeface="Cairo"/>
                <a:cs typeface="Cairo"/>
              </a:rPr>
              <a:t>السؤال المباشر متاح دون المرور بالمساعد.</a:t>
            </a:r>
          </a:p>
          <a:p>
            <a:pPr algn="r" rtl="1">
              <a:lnSpc>
                <a:spcPct val="106000"/>
              </a:lnSpc>
              <a:spcAft>
                <a:spcPts val="400"/>
              </a:spcAft>
            </a:pPr>
            <a:r>
              <a:rPr sz="1650" b="0" lang="ar-SA">
                <a:solidFill>
                  <a:srgbClr val="B5C4D7"/>
                </a:solidFill>
                <a:latin typeface="Cairo"/>
                <a:cs typeface="Cairo"/>
              </a:rPr>
              <a:t>السياق المشارك مع المعلم بموافقة الطالب.</a:t>
            </a:r>
          </a:p>
        </p:txBody>
      </p:sp>
      <p:sp>
        <p:nvSpPr>
          <p:cNvPr id="18" name="TextBox 17"/>
          <p:cNvSpPr txBox="1"/>
          <p:nvPr/>
        </p:nvSpPr>
        <p:spPr>
          <a:xfrm>
            <a:off x="685800" y="5870448"/>
            <a:ext cx="10716768" cy="438912"/>
          </a:xfrm>
          <a:prstGeom prst="rect">
            <a:avLst/>
          </a:prstGeom>
          <a:noFill/>
        </p:spPr>
        <p:txBody>
          <a:bodyPr wrap="square" tIns="0" bIns="0" lIns="16459" rIns="16459">
            <a:spAutoFit/>
          </a:bodyPr>
          <a:lstStyle/>
          <a:p>
            <a:pPr algn="r" rtl="1">
              <a:lnSpc>
                <a:spcPct val="106000"/>
              </a:lnSpc>
              <a:spcAft>
                <a:spcPts val="400"/>
              </a:spcAft>
            </a:pPr>
            <a:r>
              <a:rPr sz="1900" b="1" lang="ar-SA">
                <a:solidFill>
                  <a:srgbClr val="F87171"/>
                </a:solidFill>
                <a:latin typeface="Cairo"/>
                <a:cs typeface="Cairo"/>
              </a:rPr>
              <a:t>الاسترجاع المقيد يخفف المخاطر ولا يجعل الإجابة معصومة من الخطأ.</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eon-background.png"/>
          <p:cNvPicPr>
            <a:picLocks noChangeAspect="1"/>
          </p:cNvPicPr>
          <p:nvPr/>
        </p:nvPicPr>
        <p:blipFill>
          <a:blip r:embed="rId2"/>
          <a:stretch>
            <a:fillRect/>
          </a:stretch>
        </p:blipFill>
        <p:spPr>
          <a:xfrm>
            <a:off x="0" y="0"/>
            <a:ext cx="12191999" cy="6858000"/>
          </a:xfrm>
          <a:prstGeom prst="rect">
            <a:avLst/>
          </a:prstGeom>
        </p:spPr>
      </p:pic>
      <p:pic>
        <p:nvPicPr>
          <p:cNvPr id="3" name="Picture 2" descr="mateen-official-logo.png"/>
          <p:cNvPicPr>
            <a:picLocks noChangeAspect="1"/>
          </p:cNvPicPr>
          <p:nvPr/>
        </p:nvPicPr>
        <p:blipFill>
          <a:blip r:embed="rId3"/>
          <a:stretch>
            <a:fillRect/>
          </a:stretch>
        </p:blipFill>
        <p:spPr>
          <a:xfrm>
            <a:off x="10661904" y="237744"/>
            <a:ext cx="868680" cy="400822"/>
          </a:xfrm>
          <a:prstGeom prst="rect">
            <a:avLst/>
          </a:prstGeom>
        </p:spPr>
      </p:pic>
      <p:sp>
        <p:nvSpPr>
          <p:cNvPr id="4" name="TextBox 3"/>
          <p:cNvSpPr txBox="1"/>
          <p:nvPr/>
        </p:nvSpPr>
        <p:spPr>
          <a:xfrm>
            <a:off x="594360" y="283464"/>
            <a:ext cx="8961120" cy="256032"/>
          </a:xfrm>
          <a:prstGeom prst="rect">
            <a:avLst/>
          </a:prstGeom>
          <a:noFill/>
        </p:spPr>
        <p:txBody>
          <a:bodyPr wrap="square" tIns="0" bIns="0" lIns="16459" rIns="16459">
            <a:spAutoFit/>
          </a:bodyPr>
          <a:lstStyle/>
          <a:p>
            <a:pPr algn="r" rtl="1">
              <a:lnSpc>
                <a:spcPct val="106000"/>
              </a:lnSpc>
              <a:spcAft>
                <a:spcPts val="400"/>
              </a:spcAft>
            </a:pPr>
            <a:r>
              <a:rPr sz="900" b="0" lang="ar-SA">
                <a:solidFill>
                  <a:srgbClr val="B5C4D7"/>
                </a:solidFill>
                <a:latin typeface="Cairo"/>
                <a:cs typeface="Cairo"/>
              </a:rPr>
              <a:t>المسار المفتوح  /  تحدي الذكاء الاصطناعي في خدمة المحتوى الإسلامي</a:t>
            </a:r>
          </a:p>
        </p:txBody>
      </p:sp>
      <p:sp>
        <p:nvSpPr>
          <p:cNvPr id="5" name="Rectangle 4"/>
          <p:cNvSpPr/>
          <p:nvPr/>
        </p:nvSpPr>
        <p:spPr>
          <a:xfrm>
            <a:off x="594360" y="804672"/>
            <a:ext cx="10991088" cy="10972"/>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024128"/>
            <a:ext cx="10927080" cy="694944"/>
          </a:xfrm>
          <a:prstGeom prst="rect">
            <a:avLst/>
          </a:prstGeom>
          <a:noFill/>
        </p:spPr>
        <p:txBody>
          <a:bodyPr wrap="square" tIns="0" bIns="0" lIns="16459" rIns="16459">
            <a:spAutoFit/>
          </a:bodyPr>
          <a:lstStyle/>
          <a:p>
            <a:pPr algn="r" rtl="1">
              <a:lnSpc>
                <a:spcPct val="106000"/>
              </a:lnSpc>
              <a:spcAft>
                <a:spcPts val="400"/>
              </a:spcAft>
            </a:pPr>
            <a:r>
              <a:rPr sz="2900" b="1" lang="ar-SA">
                <a:solidFill>
                  <a:srgbClr val="F8FAFC"/>
                </a:solidFill>
                <a:latin typeface="Cairo"/>
                <a:cs typeface="Cairo"/>
              </a:rPr>
              <a:t>معمارية مقترحة، قابلة للاختبار والاستبدال</a:t>
            </a:r>
          </a:p>
        </p:txBody>
      </p:sp>
      <p:sp>
        <p:nvSpPr>
          <p:cNvPr id="7" name="Rectangle 6"/>
          <p:cNvSpPr/>
          <p:nvPr/>
        </p:nvSpPr>
        <p:spPr>
          <a:xfrm>
            <a:off x="10753344" y="1792224"/>
            <a:ext cx="786384" cy="3200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6473952"/>
            <a:ext cx="10149840" cy="228600"/>
          </a:xfrm>
          <a:prstGeom prst="rect">
            <a:avLst/>
          </a:prstGeom>
          <a:noFill/>
        </p:spPr>
        <p:txBody>
          <a:bodyPr wrap="square" tIns="0" bIns="0" lIns="16459" rIns="16459">
            <a:spAutoFit/>
          </a:bodyPr>
          <a:lstStyle/>
          <a:p>
            <a:pPr algn="r" rtl="1">
              <a:lnSpc>
                <a:spcPct val="106000"/>
              </a:lnSpc>
              <a:spcAft>
                <a:spcPts val="400"/>
              </a:spcAft>
            </a:pPr>
            <a:r>
              <a:rPr sz="850" b="0" lang="ar-SA">
                <a:solidFill>
                  <a:srgbClr val="8193AA"/>
                </a:solidFill>
                <a:latin typeface="Cairo"/>
                <a:cs typeface="Cairo"/>
              </a:rPr>
              <a:t>مَتِين • عرض فكرة مقترحة للتسجيل، وليس عرض منتج منفّذ</a:t>
            </a:r>
          </a:p>
        </p:txBody>
      </p:sp>
      <p:sp>
        <p:nvSpPr>
          <p:cNvPr id="9" name="TextBox 8"/>
          <p:cNvSpPr txBox="1"/>
          <p:nvPr/>
        </p:nvSpPr>
        <p:spPr>
          <a:xfrm>
            <a:off x="594360" y="6455664"/>
            <a:ext cx="667512" cy="246888"/>
          </a:xfrm>
          <a:prstGeom prst="rect">
            <a:avLst/>
          </a:prstGeom>
          <a:noFill/>
        </p:spPr>
        <p:txBody>
          <a:bodyPr wrap="square" tIns="0" bIns="0" lIns="16459" rIns="16459">
            <a:spAutoFit/>
          </a:bodyPr>
          <a:lstStyle/>
          <a:p>
            <a:pPr algn="l" rtl="0">
              <a:lnSpc>
                <a:spcPct val="106000"/>
              </a:lnSpc>
              <a:spcAft>
                <a:spcPts val="400"/>
              </a:spcAft>
            </a:pPr>
            <a:r>
              <a:rPr sz="1000" b="0" lang="en-US">
                <a:solidFill>
                  <a:srgbClr val="B5C4D7"/>
                </a:solidFill>
                <a:latin typeface="Cairo"/>
                <a:cs typeface="Cairo"/>
              </a:rPr>
              <a:t>06 / 09</a:t>
            </a:r>
          </a:p>
        </p:txBody>
      </p:sp>
      <p:sp>
        <p:nvSpPr>
          <p:cNvPr id="10" name="Rounded Rectangle 9"/>
          <p:cNvSpPr/>
          <p:nvPr/>
        </p:nvSpPr>
        <p:spPr>
          <a:xfrm>
            <a:off x="685800" y="2249424"/>
            <a:ext cx="10771632" cy="502920"/>
          </a:xfrm>
          <a:prstGeom prst="roundRect">
            <a:avLst>
              <a:gd name="adj" fmla="val 7000"/>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97696" y="2313432"/>
            <a:ext cx="2240280" cy="329184"/>
          </a:xfrm>
          <a:prstGeom prst="rect">
            <a:avLst/>
          </a:prstGeom>
          <a:noFill/>
        </p:spPr>
        <p:txBody>
          <a:bodyPr wrap="square" tIns="0" bIns="0" lIns="16459" rIns="16459">
            <a:spAutoFit/>
          </a:bodyPr>
          <a:lstStyle/>
          <a:p>
            <a:pPr algn="r" rtl="1">
              <a:lnSpc>
                <a:spcPct val="106000"/>
              </a:lnSpc>
              <a:spcAft>
                <a:spcPts val="400"/>
              </a:spcAft>
            </a:pPr>
            <a:r>
              <a:rPr sz="1500" b="1" lang="ar-SA">
                <a:solidFill>
                  <a:srgbClr val="0B0F19"/>
                </a:solidFill>
                <a:latin typeface="Cairo"/>
                <a:cs typeface="Cairo"/>
              </a:rPr>
              <a:t>الدور</a:t>
            </a:r>
          </a:p>
        </p:txBody>
      </p:sp>
      <p:sp>
        <p:nvSpPr>
          <p:cNvPr id="12" name="TextBox 11"/>
          <p:cNvSpPr txBox="1"/>
          <p:nvPr/>
        </p:nvSpPr>
        <p:spPr>
          <a:xfrm>
            <a:off x="4370832" y="2313432"/>
            <a:ext cx="4389120" cy="329184"/>
          </a:xfrm>
          <a:prstGeom prst="rect">
            <a:avLst/>
          </a:prstGeom>
          <a:noFill/>
        </p:spPr>
        <p:txBody>
          <a:bodyPr wrap="square" tIns="0" bIns="0" lIns="16459" rIns="16459">
            <a:spAutoFit/>
          </a:bodyPr>
          <a:lstStyle/>
          <a:p>
            <a:pPr algn="r" rtl="1">
              <a:lnSpc>
                <a:spcPct val="106000"/>
              </a:lnSpc>
              <a:spcAft>
                <a:spcPts val="400"/>
              </a:spcAft>
            </a:pPr>
            <a:r>
              <a:rPr sz="1500" b="1" lang="ar-SA">
                <a:solidFill>
                  <a:srgbClr val="0B0F19"/>
                </a:solidFill>
                <a:latin typeface="Cairo"/>
                <a:cs typeface="Cairo"/>
              </a:rPr>
              <a:t>الخيار</a:t>
            </a:r>
          </a:p>
        </p:txBody>
      </p:sp>
      <p:sp>
        <p:nvSpPr>
          <p:cNvPr id="13" name="TextBox 12"/>
          <p:cNvSpPr txBox="1"/>
          <p:nvPr/>
        </p:nvSpPr>
        <p:spPr>
          <a:xfrm>
            <a:off x="914400" y="2313432"/>
            <a:ext cx="3236976" cy="329184"/>
          </a:xfrm>
          <a:prstGeom prst="rect">
            <a:avLst/>
          </a:prstGeom>
          <a:noFill/>
        </p:spPr>
        <p:txBody>
          <a:bodyPr wrap="square" tIns="0" bIns="0" lIns="16459" rIns="16459">
            <a:spAutoFit/>
          </a:bodyPr>
          <a:lstStyle/>
          <a:p>
            <a:pPr algn="r" rtl="1">
              <a:lnSpc>
                <a:spcPct val="106000"/>
              </a:lnSpc>
              <a:spcAft>
                <a:spcPts val="400"/>
              </a:spcAft>
            </a:pPr>
            <a:r>
              <a:rPr sz="1500" b="1" lang="ar-SA">
                <a:solidFill>
                  <a:srgbClr val="0B0F19"/>
                </a:solidFill>
                <a:latin typeface="Cairo"/>
                <a:cs typeface="Cairo"/>
              </a:rPr>
              <a:t>النتيجة</a:t>
            </a:r>
          </a:p>
        </p:txBody>
      </p:sp>
      <p:sp>
        <p:nvSpPr>
          <p:cNvPr id="14" name="Rounded Rectangle 13"/>
          <p:cNvSpPr/>
          <p:nvPr/>
        </p:nvSpPr>
        <p:spPr>
          <a:xfrm>
            <a:off x="685800" y="2852928"/>
            <a:ext cx="10771632" cy="548640"/>
          </a:xfrm>
          <a:prstGeom prst="roundRect">
            <a:avLst>
              <a:gd name="adj" fmla="val 7000"/>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42832" y="2926080"/>
            <a:ext cx="2267712" cy="365760"/>
          </a:xfrm>
          <a:prstGeom prst="rect">
            <a:avLst/>
          </a:prstGeom>
          <a:noFill/>
        </p:spPr>
        <p:txBody>
          <a:bodyPr wrap="square" tIns="0" bIns="0" lIns="16459" rIns="16459">
            <a:spAutoFit/>
          </a:bodyPr>
          <a:lstStyle/>
          <a:p>
            <a:pPr algn="r" rtl="1">
              <a:lnSpc>
                <a:spcPct val="106000"/>
              </a:lnSpc>
              <a:spcAft>
                <a:spcPts val="400"/>
              </a:spcAft>
            </a:pPr>
            <a:r>
              <a:rPr sz="1450" b="1" lang="ar-SA">
                <a:solidFill>
                  <a:srgbClr val="F8FAFC"/>
                </a:solidFill>
                <a:latin typeface="Cairo"/>
                <a:cs typeface="Cairo"/>
              </a:rPr>
              <a:t>الواجهة</a:t>
            </a:r>
          </a:p>
        </p:txBody>
      </p:sp>
      <p:sp>
        <p:nvSpPr>
          <p:cNvPr id="16" name="TextBox 15"/>
          <p:cNvSpPr txBox="1"/>
          <p:nvPr/>
        </p:nvSpPr>
        <p:spPr>
          <a:xfrm>
            <a:off x="4197096" y="2935224"/>
            <a:ext cx="4553712" cy="365760"/>
          </a:xfrm>
          <a:prstGeom prst="rect">
            <a:avLst/>
          </a:prstGeom>
          <a:noFill/>
        </p:spPr>
        <p:txBody>
          <a:bodyPr wrap="square" tIns="0" bIns="0" lIns="16459" rIns="16459">
            <a:spAutoFit/>
          </a:bodyPr>
          <a:lstStyle/>
          <a:p>
            <a:pPr algn="r" rtl="1">
              <a:lnSpc>
                <a:spcPct val="106000"/>
              </a:lnSpc>
              <a:spcAft>
                <a:spcPts val="400"/>
              </a:spcAft>
            </a:pPr>
            <a:r>
              <a:rPr sz="1350" b="0" lang="ar-SA">
                <a:solidFill>
                  <a:srgbClr val="38BDF8"/>
                </a:solidFill>
                <a:latin typeface="Cairo"/>
                <a:cs typeface="Cairo"/>
              </a:rPr>
              <a:t>React + TypeScript + Tailwind</a:t>
            </a:r>
          </a:p>
        </p:txBody>
      </p:sp>
      <p:sp>
        <p:nvSpPr>
          <p:cNvPr id="17" name="TextBox 16"/>
          <p:cNvSpPr txBox="1"/>
          <p:nvPr/>
        </p:nvSpPr>
        <p:spPr>
          <a:xfrm>
            <a:off x="932688" y="2926080"/>
            <a:ext cx="3054096" cy="365760"/>
          </a:xfrm>
          <a:prstGeom prst="rect">
            <a:avLst/>
          </a:prstGeom>
          <a:noFill/>
        </p:spPr>
        <p:txBody>
          <a:bodyPr wrap="square" tIns="0" bIns="0" lIns="16459" rIns="16459">
            <a:spAutoFit/>
          </a:bodyPr>
          <a:lstStyle/>
          <a:p>
            <a:pPr algn="r" rtl="1">
              <a:lnSpc>
                <a:spcPct val="106000"/>
              </a:lnSpc>
              <a:spcAft>
                <a:spcPts val="400"/>
              </a:spcAft>
            </a:pPr>
            <a:r>
              <a:rPr sz="1450" b="0" lang="ar-SA">
                <a:solidFill>
                  <a:srgbClr val="B5C4D7"/>
                </a:solidFill>
                <a:latin typeface="Cairo"/>
                <a:cs typeface="Cairo"/>
              </a:rPr>
              <a:t>قراءة عربية وتفاعل RTL</a:t>
            </a:r>
          </a:p>
        </p:txBody>
      </p:sp>
      <p:sp>
        <p:nvSpPr>
          <p:cNvPr id="18" name="Rounded Rectangle 17"/>
          <p:cNvSpPr/>
          <p:nvPr/>
        </p:nvSpPr>
        <p:spPr>
          <a:xfrm>
            <a:off x="685800" y="3483864"/>
            <a:ext cx="10771632" cy="548640"/>
          </a:xfrm>
          <a:prstGeom prst="roundRect">
            <a:avLst>
              <a:gd name="adj" fmla="val 7000"/>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42832" y="3557016"/>
            <a:ext cx="2267712" cy="365760"/>
          </a:xfrm>
          <a:prstGeom prst="rect">
            <a:avLst/>
          </a:prstGeom>
          <a:noFill/>
        </p:spPr>
        <p:txBody>
          <a:bodyPr wrap="square" tIns="0" bIns="0" lIns="16459" rIns="16459">
            <a:spAutoFit/>
          </a:bodyPr>
          <a:lstStyle/>
          <a:p>
            <a:pPr algn="r" rtl="1">
              <a:lnSpc>
                <a:spcPct val="106000"/>
              </a:lnSpc>
              <a:spcAft>
                <a:spcPts val="400"/>
              </a:spcAft>
            </a:pPr>
            <a:r>
              <a:rPr sz="1450" b="1" lang="ar-SA">
                <a:solidFill>
                  <a:srgbClr val="F8FAFC"/>
                </a:solidFill>
                <a:latin typeface="Cairo"/>
                <a:cs typeface="Cairo"/>
              </a:rPr>
              <a:t>الخادم والبيانات</a:t>
            </a:r>
          </a:p>
        </p:txBody>
      </p:sp>
      <p:sp>
        <p:nvSpPr>
          <p:cNvPr id="20" name="TextBox 19"/>
          <p:cNvSpPr txBox="1"/>
          <p:nvPr/>
        </p:nvSpPr>
        <p:spPr>
          <a:xfrm>
            <a:off x="4197096" y="3566160"/>
            <a:ext cx="4553712" cy="365760"/>
          </a:xfrm>
          <a:prstGeom prst="rect">
            <a:avLst/>
          </a:prstGeom>
          <a:noFill/>
        </p:spPr>
        <p:txBody>
          <a:bodyPr wrap="square" tIns="0" bIns="0" lIns="16459" rIns="16459">
            <a:spAutoFit/>
          </a:bodyPr>
          <a:lstStyle/>
          <a:p>
            <a:pPr algn="r" rtl="1">
              <a:lnSpc>
                <a:spcPct val="106000"/>
              </a:lnSpc>
              <a:spcAft>
                <a:spcPts val="400"/>
              </a:spcAft>
            </a:pPr>
            <a:r>
              <a:rPr sz="1350" b="0" lang="ar-SA">
                <a:solidFill>
                  <a:srgbClr val="38BDF8"/>
                </a:solidFill>
                <a:latin typeface="Cairo"/>
                <a:cs typeface="Cairo"/>
              </a:rPr>
              <a:t>Node.js + Express + PostgreSQL / Drizzle</a:t>
            </a:r>
          </a:p>
        </p:txBody>
      </p:sp>
      <p:sp>
        <p:nvSpPr>
          <p:cNvPr id="21" name="TextBox 20"/>
          <p:cNvSpPr txBox="1"/>
          <p:nvPr/>
        </p:nvSpPr>
        <p:spPr>
          <a:xfrm>
            <a:off x="932688" y="3557016"/>
            <a:ext cx="3054096" cy="365760"/>
          </a:xfrm>
          <a:prstGeom prst="rect">
            <a:avLst/>
          </a:prstGeom>
          <a:noFill/>
        </p:spPr>
        <p:txBody>
          <a:bodyPr wrap="square" tIns="0" bIns="0" lIns="16459" rIns="16459">
            <a:spAutoFit/>
          </a:bodyPr>
          <a:lstStyle/>
          <a:p>
            <a:pPr algn="r" rtl="1">
              <a:lnSpc>
                <a:spcPct val="106000"/>
              </a:lnSpc>
              <a:spcAft>
                <a:spcPts val="400"/>
              </a:spcAft>
            </a:pPr>
            <a:r>
              <a:rPr sz="1450" b="0" lang="ar-SA">
                <a:solidFill>
                  <a:srgbClr val="B5C4D7"/>
                </a:solidFill>
                <a:latin typeface="Cairo"/>
                <a:cs typeface="Cairo"/>
              </a:rPr>
              <a:t>صلاحيات وتقدم ومصادر</a:t>
            </a:r>
          </a:p>
        </p:txBody>
      </p:sp>
      <p:sp>
        <p:nvSpPr>
          <p:cNvPr id="22" name="Rounded Rectangle 21"/>
          <p:cNvSpPr/>
          <p:nvPr/>
        </p:nvSpPr>
        <p:spPr>
          <a:xfrm>
            <a:off x="685800" y="4114800"/>
            <a:ext cx="10771632" cy="548640"/>
          </a:xfrm>
          <a:prstGeom prst="roundRect">
            <a:avLst>
              <a:gd name="adj" fmla="val 7000"/>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42832" y="4187952"/>
            <a:ext cx="2267712" cy="365760"/>
          </a:xfrm>
          <a:prstGeom prst="rect">
            <a:avLst/>
          </a:prstGeom>
          <a:noFill/>
        </p:spPr>
        <p:txBody>
          <a:bodyPr wrap="square" tIns="0" bIns="0" lIns="16459" rIns="16459">
            <a:spAutoFit/>
          </a:bodyPr>
          <a:lstStyle/>
          <a:p>
            <a:pPr algn="r" rtl="1">
              <a:lnSpc>
                <a:spcPct val="106000"/>
              </a:lnSpc>
              <a:spcAft>
                <a:spcPts val="400"/>
              </a:spcAft>
            </a:pPr>
            <a:r>
              <a:rPr sz="1450" b="1" lang="ar-SA">
                <a:solidFill>
                  <a:srgbClr val="F8FAFC"/>
                </a:solidFill>
                <a:latin typeface="Cairo"/>
                <a:cs typeface="Cairo"/>
              </a:rPr>
              <a:t>الصوت</a:t>
            </a:r>
          </a:p>
        </p:txBody>
      </p:sp>
      <p:sp>
        <p:nvSpPr>
          <p:cNvPr id="24" name="TextBox 23"/>
          <p:cNvSpPr txBox="1"/>
          <p:nvPr/>
        </p:nvSpPr>
        <p:spPr>
          <a:xfrm>
            <a:off x="4197096" y="4197096"/>
            <a:ext cx="4553712" cy="365760"/>
          </a:xfrm>
          <a:prstGeom prst="rect">
            <a:avLst/>
          </a:prstGeom>
          <a:noFill/>
        </p:spPr>
        <p:txBody>
          <a:bodyPr wrap="square" tIns="0" bIns="0" lIns="16459" rIns="16459">
            <a:spAutoFit/>
          </a:bodyPr>
          <a:lstStyle/>
          <a:p>
            <a:pPr algn="r" rtl="1">
              <a:lnSpc>
                <a:spcPct val="106000"/>
              </a:lnSpc>
              <a:spcAft>
                <a:spcPts val="400"/>
              </a:spcAft>
            </a:pPr>
            <a:r>
              <a:rPr sz="1350" b="0" lang="ar-SA">
                <a:solidFill>
                  <a:srgbClr val="38BDF8"/>
                </a:solidFill>
                <a:latin typeface="Cairo"/>
                <a:cs typeface="Cairo"/>
              </a:rPr>
              <a:t>مزود تفريغ قابل للتقييم + مطابقة كلمات</a:t>
            </a:r>
          </a:p>
        </p:txBody>
      </p:sp>
      <p:sp>
        <p:nvSpPr>
          <p:cNvPr id="25" name="TextBox 24"/>
          <p:cNvSpPr txBox="1"/>
          <p:nvPr/>
        </p:nvSpPr>
        <p:spPr>
          <a:xfrm>
            <a:off x="932688" y="4187952"/>
            <a:ext cx="3054096" cy="365760"/>
          </a:xfrm>
          <a:prstGeom prst="rect">
            <a:avLst/>
          </a:prstGeom>
          <a:noFill/>
        </p:spPr>
        <p:txBody>
          <a:bodyPr wrap="square" tIns="0" bIns="0" lIns="16459" rIns="16459">
            <a:spAutoFit/>
          </a:bodyPr>
          <a:lstStyle/>
          <a:p>
            <a:pPr algn="r" rtl="1">
              <a:lnSpc>
                <a:spcPct val="106000"/>
              </a:lnSpc>
              <a:spcAft>
                <a:spcPts val="400"/>
              </a:spcAft>
            </a:pPr>
            <a:r>
              <a:rPr sz="1450" b="0" lang="ar-SA">
                <a:solidFill>
                  <a:srgbClr val="B5C4D7"/>
                </a:solidFill>
                <a:latin typeface="Cairo"/>
                <a:cs typeface="Cairo"/>
              </a:rPr>
              <a:t>نتيجة تدريجية ثم حكم مستقر</a:t>
            </a:r>
          </a:p>
        </p:txBody>
      </p:sp>
      <p:sp>
        <p:nvSpPr>
          <p:cNvPr id="26" name="Rounded Rectangle 25"/>
          <p:cNvSpPr/>
          <p:nvPr/>
        </p:nvSpPr>
        <p:spPr>
          <a:xfrm>
            <a:off x="685800" y="4745736"/>
            <a:ext cx="10771632" cy="548640"/>
          </a:xfrm>
          <a:prstGeom prst="roundRect">
            <a:avLst>
              <a:gd name="adj" fmla="val 7000"/>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42832" y="4818888"/>
            <a:ext cx="2267712" cy="365760"/>
          </a:xfrm>
          <a:prstGeom prst="rect">
            <a:avLst/>
          </a:prstGeom>
          <a:noFill/>
        </p:spPr>
        <p:txBody>
          <a:bodyPr wrap="square" tIns="0" bIns="0" lIns="16459" rIns="16459">
            <a:spAutoFit/>
          </a:bodyPr>
          <a:lstStyle/>
          <a:p>
            <a:pPr algn="r" rtl="1">
              <a:lnSpc>
                <a:spcPct val="106000"/>
              </a:lnSpc>
              <a:spcAft>
                <a:spcPts val="400"/>
              </a:spcAft>
            </a:pPr>
            <a:r>
              <a:rPr sz="1450" b="1" lang="ar-SA">
                <a:solidFill>
                  <a:srgbClr val="F8FAFC"/>
                </a:solidFill>
                <a:latin typeface="Cairo"/>
                <a:cs typeface="Cairo"/>
              </a:rPr>
              <a:t>المعرفة</a:t>
            </a:r>
          </a:p>
        </p:txBody>
      </p:sp>
      <p:sp>
        <p:nvSpPr>
          <p:cNvPr id="28" name="TextBox 27"/>
          <p:cNvSpPr txBox="1"/>
          <p:nvPr/>
        </p:nvSpPr>
        <p:spPr>
          <a:xfrm>
            <a:off x="4197096" y="4828031"/>
            <a:ext cx="4553712" cy="365760"/>
          </a:xfrm>
          <a:prstGeom prst="rect">
            <a:avLst/>
          </a:prstGeom>
          <a:noFill/>
        </p:spPr>
        <p:txBody>
          <a:bodyPr wrap="square" tIns="0" bIns="0" lIns="16459" rIns="16459">
            <a:spAutoFit/>
          </a:bodyPr>
          <a:lstStyle/>
          <a:p>
            <a:pPr algn="r" rtl="1">
              <a:lnSpc>
                <a:spcPct val="106000"/>
              </a:lnSpc>
              <a:spcAft>
                <a:spcPts val="400"/>
              </a:spcAft>
            </a:pPr>
            <a:r>
              <a:rPr sz="1350" b="0" lang="ar-SA">
                <a:solidFill>
                  <a:srgbClr val="38BDF8"/>
                </a:solidFill>
                <a:latin typeface="Cairo"/>
                <a:cs typeface="Cairo"/>
              </a:rPr>
              <a:t>بحث نصي ودلالي + استرجاع مسند</a:t>
            </a:r>
          </a:p>
        </p:txBody>
      </p:sp>
      <p:sp>
        <p:nvSpPr>
          <p:cNvPr id="29" name="TextBox 28"/>
          <p:cNvSpPr txBox="1"/>
          <p:nvPr/>
        </p:nvSpPr>
        <p:spPr>
          <a:xfrm>
            <a:off x="932688" y="4818888"/>
            <a:ext cx="3054096" cy="365760"/>
          </a:xfrm>
          <a:prstGeom prst="rect">
            <a:avLst/>
          </a:prstGeom>
          <a:noFill/>
        </p:spPr>
        <p:txBody>
          <a:bodyPr wrap="square" tIns="0" bIns="0" lIns="16459" rIns="16459">
            <a:spAutoFit/>
          </a:bodyPr>
          <a:lstStyle/>
          <a:p>
            <a:pPr algn="r" rtl="1">
              <a:lnSpc>
                <a:spcPct val="106000"/>
              </a:lnSpc>
              <a:spcAft>
                <a:spcPts val="400"/>
              </a:spcAft>
            </a:pPr>
            <a:r>
              <a:rPr sz="1450" b="0" lang="ar-SA">
                <a:solidFill>
                  <a:srgbClr val="B5C4D7"/>
                </a:solidFill>
                <a:latin typeface="Cairo"/>
                <a:cs typeface="Cairo"/>
              </a:rPr>
              <a:t>شرح بإحالة قابلة للتحقق</a:t>
            </a:r>
          </a:p>
        </p:txBody>
      </p:sp>
      <p:sp>
        <p:nvSpPr>
          <p:cNvPr id="30" name="TextBox 29"/>
          <p:cNvSpPr txBox="1"/>
          <p:nvPr/>
        </p:nvSpPr>
        <p:spPr>
          <a:xfrm>
            <a:off x="749808" y="5715000"/>
            <a:ext cx="10515600" cy="566928"/>
          </a:xfrm>
          <a:prstGeom prst="rect">
            <a:avLst/>
          </a:prstGeom>
          <a:noFill/>
        </p:spPr>
        <p:txBody>
          <a:bodyPr wrap="square" tIns="0" bIns="0" lIns="16459" rIns="16459">
            <a:spAutoFit/>
          </a:bodyPr>
          <a:lstStyle/>
          <a:p>
            <a:pPr algn="r" rtl="1">
              <a:lnSpc>
                <a:spcPct val="106000"/>
              </a:lnSpc>
              <a:spcAft>
                <a:spcPts val="400"/>
              </a:spcAft>
            </a:pPr>
            <a:r>
              <a:rPr sz="1800" b="0" lang="ar-SA">
                <a:solidFill>
                  <a:srgbClr val="34D399"/>
                </a:solidFill>
                <a:latin typeface="Cairo"/>
                <a:cs typeface="Cairo"/>
              </a:rPr>
              <a:t>اختيار مزود الصوت والبحث النهائي يتبع اختبار الدقة والتكلفة وشروط الاحتفاظ، لا أسماء النماذج وحدها.</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eon-background.png"/>
          <p:cNvPicPr>
            <a:picLocks noChangeAspect="1"/>
          </p:cNvPicPr>
          <p:nvPr/>
        </p:nvPicPr>
        <p:blipFill>
          <a:blip r:embed="rId2"/>
          <a:stretch>
            <a:fillRect/>
          </a:stretch>
        </p:blipFill>
        <p:spPr>
          <a:xfrm>
            <a:off x="0" y="0"/>
            <a:ext cx="12191999" cy="6858000"/>
          </a:xfrm>
          <a:prstGeom prst="rect">
            <a:avLst/>
          </a:prstGeom>
        </p:spPr>
      </p:pic>
      <p:pic>
        <p:nvPicPr>
          <p:cNvPr id="3" name="Picture 2" descr="mateen-official-logo.png"/>
          <p:cNvPicPr>
            <a:picLocks noChangeAspect="1"/>
          </p:cNvPicPr>
          <p:nvPr/>
        </p:nvPicPr>
        <p:blipFill>
          <a:blip r:embed="rId3"/>
          <a:stretch>
            <a:fillRect/>
          </a:stretch>
        </p:blipFill>
        <p:spPr>
          <a:xfrm>
            <a:off x="10661904" y="237744"/>
            <a:ext cx="868680" cy="400822"/>
          </a:xfrm>
          <a:prstGeom prst="rect">
            <a:avLst/>
          </a:prstGeom>
        </p:spPr>
      </p:pic>
      <p:sp>
        <p:nvSpPr>
          <p:cNvPr id="4" name="TextBox 3"/>
          <p:cNvSpPr txBox="1"/>
          <p:nvPr/>
        </p:nvSpPr>
        <p:spPr>
          <a:xfrm>
            <a:off x="594360" y="283464"/>
            <a:ext cx="8961120" cy="256032"/>
          </a:xfrm>
          <a:prstGeom prst="rect">
            <a:avLst/>
          </a:prstGeom>
          <a:noFill/>
        </p:spPr>
        <p:txBody>
          <a:bodyPr wrap="square" tIns="0" bIns="0" lIns="16459" rIns="16459">
            <a:spAutoFit/>
          </a:bodyPr>
          <a:lstStyle/>
          <a:p>
            <a:pPr algn="r" rtl="1">
              <a:lnSpc>
                <a:spcPct val="106000"/>
              </a:lnSpc>
              <a:spcAft>
                <a:spcPts val="400"/>
              </a:spcAft>
            </a:pPr>
            <a:r>
              <a:rPr sz="900" b="0" lang="ar-SA">
                <a:solidFill>
                  <a:srgbClr val="B5C4D7"/>
                </a:solidFill>
                <a:latin typeface="Cairo"/>
                <a:cs typeface="Cairo"/>
              </a:rPr>
              <a:t>المسار المفتوح  /  تحدي الذكاء الاصطناعي في خدمة المحتوى الإسلامي</a:t>
            </a:r>
          </a:p>
        </p:txBody>
      </p:sp>
      <p:sp>
        <p:nvSpPr>
          <p:cNvPr id="5" name="Rectangle 4"/>
          <p:cNvSpPr/>
          <p:nvPr/>
        </p:nvSpPr>
        <p:spPr>
          <a:xfrm>
            <a:off x="594360" y="804672"/>
            <a:ext cx="10991088" cy="10972"/>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024128"/>
            <a:ext cx="10927080" cy="694944"/>
          </a:xfrm>
          <a:prstGeom prst="rect">
            <a:avLst/>
          </a:prstGeom>
          <a:noFill/>
        </p:spPr>
        <p:txBody>
          <a:bodyPr wrap="square" tIns="0" bIns="0" lIns="16459" rIns="16459">
            <a:spAutoFit/>
          </a:bodyPr>
          <a:lstStyle/>
          <a:p>
            <a:pPr algn="r" rtl="1">
              <a:lnSpc>
                <a:spcPct val="106000"/>
              </a:lnSpc>
              <a:spcAft>
                <a:spcPts val="400"/>
              </a:spcAft>
            </a:pPr>
            <a:r>
              <a:rPr sz="2900" b="1" lang="ar-SA">
                <a:solidFill>
                  <a:srgbClr val="F8FAFC"/>
                </a:solidFill>
                <a:latin typeface="Cairo"/>
                <a:cs typeface="Cairo"/>
              </a:rPr>
              <a:t>ما قاله المستجيبون عن الثقة وتقبّل الفكرة</a:t>
            </a:r>
          </a:p>
        </p:txBody>
      </p:sp>
      <p:sp>
        <p:nvSpPr>
          <p:cNvPr id="7" name="Rectangle 6"/>
          <p:cNvSpPr/>
          <p:nvPr/>
        </p:nvSpPr>
        <p:spPr>
          <a:xfrm>
            <a:off x="10753344" y="1792224"/>
            <a:ext cx="786384" cy="3200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6473952"/>
            <a:ext cx="10149840" cy="228600"/>
          </a:xfrm>
          <a:prstGeom prst="rect">
            <a:avLst/>
          </a:prstGeom>
          <a:noFill/>
        </p:spPr>
        <p:txBody>
          <a:bodyPr wrap="square" tIns="0" bIns="0" lIns="16459" rIns="16459">
            <a:spAutoFit/>
          </a:bodyPr>
          <a:lstStyle/>
          <a:p>
            <a:pPr algn="r" rtl="1">
              <a:lnSpc>
                <a:spcPct val="106000"/>
              </a:lnSpc>
              <a:spcAft>
                <a:spcPts val="400"/>
              </a:spcAft>
            </a:pPr>
            <a:r>
              <a:rPr sz="850" b="0" lang="ar-SA">
                <a:solidFill>
                  <a:srgbClr val="8193AA"/>
                </a:solidFill>
                <a:latin typeface="Cairo"/>
                <a:cs typeface="Cairo"/>
              </a:rPr>
              <a:t>استبيان الفريق، ٦٠ استجابة، س٤–٦؛ الآراء عن فكرة مقترحة، لا رضا عن تجربة منتج.</a:t>
            </a:r>
          </a:p>
        </p:txBody>
      </p:sp>
      <p:sp>
        <p:nvSpPr>
          <p:cNvPr id="9" name="TextBox 8"/>
          <p:cNvSpPr txBox="1"/>
          <p:nvPr/>
        </p:nvSpPr>
        <p:spPr>
          <a:xfrm>
            <a:off x="594360" y="6455664"/>
            <a:ext cx="667512" cy="246888"/>
          </a:xfrm>
          <a:prstGeom prst="rect">
            <a:avLst/>
          </a:prstGeom>
          <a:noFill/>
        </p:spPr>
        <p:txBody>
          <a:bodyPr wrap="square" tIns="0" bIns="0" lIns="16459" rIns="16459">
            <a:spAutoFit/>
          </a:bodyPr>
          <a:lstStyle/>
          <a:p>
            <a:pPr algn="l" rtl="0">
              <a:lnSpc>
                <a:spcPct val="106000"/>
              </a:lnSpc>
              <a:spcAft>
                <a:spcPts val="400"/>
              </a:spcAft>
            </a:pPr>
            <a:r>
              <a:rPr sz="1000" b="0" lang="en-US">
                <a:solidFill>
                  <a:srgbClr val="B5C4D7"/>
                </a:solidFill>
                <a:latin typeface="Cairo"/>
                <a:cs typeface="Cairo"/>
              </a:rPr>
              <a:t>07 / 09</a:t>
            </a:r>
          </a:p>
        </p:txBody>
      </p:sp>
      <p:sp>
        <p:nvSpPr>
          <p:cNvPr id="10" name="Rounded Rectangle 9"/>
          <p:cNvSpPr/>
          <p:nvPr/>
        </p:nvSpPr>
        <p:spPr>
          <a:xfrm>
            <a:off x="7900416" y="2569464"/>
            <a:ext cx="3648456" cy="3081528"/>
          </a:xfrm>
          <a:prstGeom prst="roundRect">
            <a:avLst>
              <a:gd name="adj" fmla="val 7000"/>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494008" y="2770632"/>
            <a:ext cx="22860" cy="26791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10728" y="2816352"/>
            <a:ext cx="3218688" cy="740664"/>
          </a:xfrm>
          <a:prstGeom prst="rect">
            <a:avLst/>
          </a:prstGeom>
          <a:noFill/>
        </p:spPr>
        <p:txBody>
          <a:bodyPr wrap="square" tIns="0" bIns="0" lIns="16459" rIns="16459">
            <a:spAutoFit/>
          </a:bodyPr>
          <a:lstStyle/>
          <a:p>
            <a:pPr algn="r" rtl="1">
              <a:lnSpc>
                <a:spcPct val="106000"/>
              </a:lnSpc>
              <a:spcAft>
                <a:spcPts val="400"/>
              </a:spcAft>
            </a:pPr>
            <a:r>
              <a:rPr sz="4200" b="1" lang="ar-SA">
                <a:solidFill>
                  <a:srgbClr val="38BDF8"/>
                </a:solidFill>
                <a:latin typeface="Cairo"/>
                <a:cs typeface="Cairo"/>
              </a:rPr>
              <a:t>٧٨٫٣٪</a:t>
            </a:r>
          </a:p>
        </p:txBody>
      </p:sp>
      <p:sp>
        <p:nvSpPr>
          <p:cNvPr id="13" name="TextBox 12"/>
          <p:cNvSpPr txBox="1"/>
          <p:nvPr/>
        </p:nvSpPr>
        <p:spPr>
          <a:xfrm>
            <a:off x="8110728" y="3703320"/>
            <a:ext cx="3209544" cy="429768"/>
          </a:xfrm>
          <a:prstGeom prst="rect">
            <a:avLst/>
          </a:prstGeom>
          <a:noFill/>
        </p:spPr>
        <p:txBody>
          <a:bodyPr wrap="square" tIns="0" bIns="0" lIns="16459" rIns="16459">
            <a:spAutoFit/>
          </a:bodyPr>
          <a:lstStyle/>
          <a:p>
            <a:pPr algn="r" rtl="1">
              <a:lnSpc>
                <a:spcPct val="106000"/>
              </a:lnSpc>
              <a:spcAft>
                <a:spcPts val="400"/>
              </a:spcAft>
            </a:pPr>
            <a:r>
              <a:rPr sz="1900" b="1" lang="ar-SA">
                <a:solidFill>
                  <a:srgbClr val="F8FAFC"/>
                </a:solidFill>
                <a:latin typeface="Cairo"/>
                <a:cs typeface="Cairo"/>
              </a:rPr>
              <a:t>المصدر ضمن عوامل الثقة</a:t>
            </a:r>
          </a:p>
        </p:txBody>
      </p:sp>
      <p:sp>
        <p:nvSpPr>
          <p:cNvPr id="14" name="TextBox 13"/>
          <p:cNvSpPr txBox="1"/>
          <p:nvPr/>
        </p:nvSpPr>
        <p:spPr>
          <a:xfrm>
            <a:off x="8110728" y="4343400"/>
            <a:ext cx="3209544" cy="1179576"/>
          </a:xfrm>
          <a:prstGeom prst="rect">
            <a:avLst/>
          </a:prstGeom>
          <a:noFill/>
        </p:spPr>
        <p:txBody>
          <a:bodyPr wrap="square" tIns="0" bIns="0" lIns="16459" rIns="16459">
            <a:spAutoFit/>
          </a:bodyPr>
          <a:lstStyle/>
          <a:p>
            <a:pPr algn="r" rtl="1">
              <a:lnSpc>
                <a:spcPct val="106000"/>
              </a:lnSpc>
              <a:spcAft>
                <a:spcPts val="400"/>
              </a:spcAft>
            </a:pPr>
            <a:r>
              <a:rPr sz="1650" b="0" lang="ar-SA">
                <a:solidFill>
                  <a:srgbClr val="B5C4D7"/>
                </a:solidFill>
                <a:latin typeface="Cairo"/>
                <a:cs typeface="Cairo"/>
              </a:rPr>
              <a:t>٤٧ من ٦٠ اختاروا ذكر المصدر الأصلي بوضوح.</a:t>
            </a:r>
          </a:p>
        </p:txBody>
      </p:sp>
      <p:sp>
        <p:nvSpPr>
          <p:cNvPr id="15" name="Rounded Rectangle 14"/>
          <p:cNvSpPr/>
          <p:nvPr/>
        </p:nvSpPr>
        <p:spPr>
          <a:xfrm>
            <a:off x="4270248" y="2569464"/>
            <a:ext cx="3429000" cy="3081528"/>
          </a:xfrm>
          <a:prstGeom prst="roundRect">
            <a:avLst>
              <a:gd name="adj" fmla="val 7000"/>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644383" y="2770632"/>
            <a:ext cx="22860" cy="2679192"/>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60" y="2816352"/>
            <a:ext cx="2999232" cy="740664"/>
          </a:xfrm>
          <a:prstGeom prst="rect">
            <a:avLst/>
          </a:prstGeom>
          <a:noFill/>
        </p:spPr>
        <p:txBody>
          <a:bodyPr wrap="square" tIns="0" bIns="0" lIns="16459" rIns="16459">
            <a:spAutoFit/>
          </a:bodyPr>
          <a:lstStyle/>
          <a:p>
            <a:pPr algn="r" rtl="1">
              <a:lnSpc>
                <a:spcPct val="106000"/>
              </a:lnSpc>
              <a:spcAft>
                <a:spcPts val="400"/>
              </a:spcAft>
            </a:pPr>
            <a:r>
              <a:rPr sz="4200" b="1" lang="ar-SA">
                <a:solidFill>
                  <a:srgbClr val="34D399"/>
                </a:solidFill>
                <a:latin typeface="Cairo"/>
                <a:cs typeface="Cairo"/>
              </a:rPr>
              <a:t>٦٣٫٣٪</a:t>
            </a:r>
          </a:p>
        </p:txBody>
      </p:sp>
      <p:sp>
        <p:nvSpPr>
          <p:cNvPr id="18" name="TextBox 17"/>
          <p:cNvSpPr txBox="1"/>
          <p:nvPr/>
        </p:nvSpPr>
        <p:spPr>
          <a:xfrm>
            <a:off x="4480560" y="3703320"/>
            <a:ext cx="2990088" cy="429768"/>
          </a:xfrm>
          <a:prstGeom prst="rect">
            <a:avLst/>
          </a:prstGeom>
          <a:noFill/>
        </p:spPr>
        <p:txBody>
          <a:bodyPr wrap="square" tIns="0" bIns="0" lIns="16459" rIns="16459">
            <a:spAutoFit/>
          </a:bodyPr>
          <a:lstStyle/>
          <a:p>
            <a:pPr algn="r" rtl="1">
              <a:lnSpc>
                <a:spcPct val="106000"/>
              </a:lnSpc>
              <a:spcAft>
                <a:spcPts val="400"/>
              </a:spcAft>
            </a:pPr>
            <a:r>
              <a:rPr sz="1900" b="1" lang="ar-SA">
                <a:solidFill>
                  <a:srgbClr val="F8FAFC"/>
                </a:solidFill>
                <a:latin typeface="Cairo"/>
                <a:cs typeface="Cairo"/>
              </a:rPr>
              <a:t>المساعد والإحالة: ممتازة</a:t>
            </a:r>
          </a:p>
        </p:txBody>
      </p:sp>
      <p:sp>
        <p:nvSpPr>
          <p:cNvPr id="19" name="TextBox 18"/>
          <p:cNvSpPr txBox="1"/>
          <p:nvPr/>
        </p:nvSpPr>
        <p:spPr>
          <a:xfrm>
            <a:off x="4480560" y="4343400"/>
            <a:ext cx="2990088" cy="1179576"/>
          </a:xfrm>
          <a:prstGeom prst="rect">
            <a:avLst/>
          </a:prstGeom>
          <a:noFill/>
        </p:spPr>
        <p:txBody>
          <a:bodyPr wrap="square" tIns="0" bIns="0" lIns="16459" rIns="16459">
            <a:spAutoFit/>
          </a:bodyPr>
          <a:lstStyle/>
          <a:p>
            <a:pPr algn="r" rtl="1">
              <a:lnSpc>
                <a:spcPct val="106000"/>
              </a:lnSpc>
              <a:spcAft>
                <a:spcPts val="400"/>
              </a:spcAft>
            </a:pPr>
            <a:r>
              <a:rPr sz="1650" b="0" lang="ar-SA">
                <a:solidFill>
                  <a:srgbClr val="B5C4D7"/>
                </a:solidFill>
                <a:latin typeface="Cairo"/>
                <a:cs typeface="Cairo"/>
              </a:rPr>
              <a:t>٣٨ من ٦٠ وصفوا هذا النموذج بأنه خيار ممتاز.</a:t>
            </a:r>
          </a:p>
        </p:txBody>
      </p:sp>
      <p:sp>
        <p:nvSpPr>
          <p:cNvPr id="20" name="Rounded Rectangle 19"/>
          <p:cNvSpPr/>
          <p:nvPr/>
        </p:nvSpPr>
        <p:spPr>
          <a:xfrm>
            <a:off x="640080" y="2569464"/>
            <a:ext cx="3429000" cy="3081528"/>
          </a:xfrm>
          <a:prstGeom prst="roundRect">
            <a:avLst>
              <a:gd name="adj" fmla="val 7000"/>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014216" y="2770632"/>
            <a:ext cx="22860" cy="267919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2816352"/>
            <a:ext cx="2999232" cy="740664"/>
          </a:xfrm>
          <a:prstGeom prst="rect">
            <a:avLst/>
          </a:prstGeom>
          <a:noFill/>
        </p:spPr>
        <p:txBody>
          <a:bodyPr wrap="square" tIns="0" bIns="0" lIns="16459" rIns="16459">
            <a:spAutoFit/>
          </a:bodyPr>
          <a:lstStyle/>
          <a:p>
            <a:pPr algn="r" rtl="1">
              <a:lnSpc>
                <a:spcPct val="106000"/>
              </a:lnSpc>
              <a:spcAft>
                <a:spcPts val="400"/>
              </a:spcAft>
            </a:pPr>
            <a:r>
              <a:rPr sz="4200" b="1" lang="ar-SA">
                <a:solidFill>
                  <a:srgbClr val="38BDF8"/>
                </a:solidFill>
                <a:latin typeface="Cairo"/>
                <a:cs typeface="Cairo"/>
              </a:rPr>
              <a:t>٥٨٫٣٪</a:t>
            </a:r>
          </a:p>
        </p:txBody>
      </p:sp>
      <p:sp>
        <p:nvSpPr>
          <p:cNvPr id="23" name="TextBox 22"/>
          <p:cNvSpPr txBox="1"/>
          <p:nvPr/>
        </p:nvSpPr>
        <p:spPr>
          <a:xfrm>
            <a:off x="850392" y="3703320"/>
            <a:ext cx="2990088" cy="429768"/>
          </a:xfrm>
          <a:prstGeom prst="rect">
            <a:avLst/>
          </a:prstGeom>
          <a:noFill/>
        </p:spPr>
        <p:txBody>
          <a:bodyPr wrap="square" tIns="0" bIns="0" lIns="16459" rIns="16459">
            <a:spAutoFit/>
          </a:bodyPr>
          <a:lstStyle/>
          <a:p>
            <a:pPr algn="r" rtl="1">
              <a:lnSpc>
                <a:spcPct val="106000"/>
              </a:lnSpc>
              <a:spcAft>
                <a:spcPts val="400"/>
              </a:spcAft>
            </a:pPr>
            <a:r>
              <a:rPr sz="1900" b="1" lang="ar-SA">
                <a:solidFill>
                  <a:srgbClr val="F8FAFC"/>
                </a:solidFill>
                <a:latin typeface="Cairo"/>
                <a:cs typeface="Cairo"/>
              </a:rPr>
              <a:t>التسميع الصوتي المقترح</a:t>
            </a:r>
          </a:p>
        </p:txBody>
      </p:sp>
      <p:sp>
        <p:nvSpPr>
          <p:cNvPr id="24" name="TextBox 23"/>
          <p:cNvSpPr txBox="1"/>
          <p:nvPr/>
        </p:nvSpPr>
        <p:spPr>
          <a:xfrm>
            <a:off x="850392" y="4343400"/>
            <a:ext cx="2990088" cy="1179576"/>
          </a:xfrm>
          <a:prstGeom prst="rect">
            <a:avLst/>
          </a:prstGeom>
          <a:noFill/>
        </p:spPr>
        <p:txBody>
          <a:bodyPr wrap="square" tIns="0" bIns="0" lIns="16459" rIns="16459">
            <a:spAutoFit/>
          </a:bodyPr>
          <a:lstStyle/>
          <a:p>
            <a:pPr algn="r" rtl="1">
              <a:lnSpc>
                <a:spcPct val="106000"/>
              </a:lnSpc>
              <a:spcAft>
                <a:spcPts val="400"/>
              </a:spcAft>
            </a:pPr>
            <a:r>
              <a:rPr sz="1650" b="0" lang="ar-SA">
                <a:solidFill>
                  <a:srgbClr val="B5C4D7"/>
                </a:solidFill>
                <a:latin typeface="Cairo"/>
                <a:cs typeface="Cairo"/>
              </a:rPr>
              <a:t>٣٥ من ٦٠ قيّموا فائدته المتوقعة ٤ أو ٥ من ٥.</a:t>
            </a:r>
          </a:p>
        </p:txBody>
      </p:sp>
      <p:sp>
        <p:nvSpPr>
          <p:cNvPr id="25" name="TextBox 24"/>
          <p:cNvSpPr txBox="1"/>
          <p:nvPr/>
        </p:nvSpPr>
        <p:spPr>
          <a:xfrm>
            <a:off x="676656" y="5907024"/>
            <a:ext cx="10698480" cy="393192"/>
          </a:xfrm>
          <a:prstGeom prst="rect">
            <a:avLst/>
          </a:prstGeom>
          <a:noFill/>
        </p:spPr>
        <p:txBody>
          <a:bodyPr wrap="square" tIns="0" bIns="0" lIns="16459" rIns="16459">
            <a:spAutoFit/>
          </a:bodyPr>
          <a:lstStyle/>
          <a:p>
            <a:pPr algn="r" rtl="1">
              <a:lnSpc>
                <a:spcPct val="106000"/>
              </a:lnSpc>
              <a:spcAft>
                <a:spcPts val="400"/>
              </a:spcAft>
            </a:pPr>
            <a:r>
              <a:rPr sz="1700" b="0" lang="ar-SA">
                <a:solidFill>
                  <a:srgbClr val="F8FAFC"/>
                </a:solidFill>
                <a:latin typeface="Cairo"/>
                <a:cs typeface="Cairo"/>
              </a:rPr>
              <a:t>إذا احتُسب «جيدة» أيضاً: ٥٤ من ٦٠ (٩٠٪) تقبّلوا فكرة المساعد مع الإحالة.</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eon-background.png"/>
          <p:cNvPicPr>
            <a:picLocks noChangeAspect="1"/>
          </p:cNvPicPr>
          <p:nvPr/>
        </p:nvPicPr>
        <p:blipFill>
          <a:blip r:embed="rId2"/>
          <a:stretch>
            <a:fillRect/>
          </a:stretch>
        </p:blipFill>
        <p:spPr>
          <a:xfrm>
            <a:off x="0" y="0"/>
            <a:ext cx="12191999" cy="6858000"/>
          </a:xfrm>
          <a:prstGeom prst="rect">
            <a:avLst/>
          </a:prstGeom>
        </p:spPr>
      </p:pic>
      <p:pic>
        <p:nvPicPr>
          <p:cNvPr id="3" name="Picture 2" descr="mateen-official-logo.png"/>
          <p:cNvPicPr>
            <a:picLocks noChangeAspect="1"/>
          </p:cNvPicPr>
          <p:nvPr/>
        </p:nvPicPr>
        <p:blipFill>
          <a:blip r:embed="rId3"/>
          <a:stretch>
            <a:fillRect/>
          </a:stretch>
        </p:blipFill>
        <p:spPr>
          <a:xfrm>
            <a:off x="10661904" y="237744"/>
            <a:ext cx="868680" cy="400822"/>
          </a:xfrm>
          <a:prstGeom prst="rect">
            <a:avLst/>
          </a:prstGeom>
        </p:spPr>
      </p:pic>
      <p:sp>
        <p:nvSpPr>
          <p:cNvPr id="4" name="TextBox 3"/>
          <p:cNvSpPr txBox="1"/>
          <p:nvPr/>
        </p:nvSpPr>
        <p:spPr>
          <a:xfrm>
            <a:off x="594360" y="283464"/>
            <a:ext cx="8961120" cy="256032"/>
          </a:xfrm>
          <a:prstGeom prst="rect">
            <a:avLst/>
          </a:prstGeom>
          <a:noFill/>
        </p:spPr>
        <p:txBody>
          <a:bodyPr wrap="square" tIns="0" bIns="0" lIns="16459" rIns="16459">
            <a:spAutoFit/>
          </a:bodyPr>
          <a:lstStyle/>
          <a:p>
            <a:pPr algn="r" rtl="1">
              <a:lnSpc>
                <a:spcPct val="106000"/>
              </a:lnSpc>
              <a:spcAft>
                <a:spcPts val="400"/>
              </a:spcAft>
            </a:pPr>
            <a:r>
              <a:rPr sz="900" b="0" lang="ar-SA">
                <a:solidFill>
                  <a:srgbClr val="B5C4D7"/>
                </a:solidFill>
                <a:latin typeface="Cairo"/>
                <a:cs typeface="Cairo"/>
              </a:rPr>
              <a:t>المسار المفتوح  /  تحدي الذكاء الاصطناعي في خدمة المحتوى الإسلامي</a:t>
            </a:r>
          </a:p>
        </p:txBody>
      </p:sp>
      <p:sp>
        <p:nvSpPr>
          <p:cNvPr id="5" name="Rectangle 4"/>
          <p:cNvSpPr/>
          <p:nvPr/>
        </p:nvSpPr>
        <p:spPr>
          <a:xfrm>
            <a:off x="594360" y="804672"/>
            <a:ext cx="10991088" cy="10972"/>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024128"/>
            <a:ext cx="10927080" cy="694944"/>
          </a:xfrm>
          <a:prstGeom prst="rect">
            <a:avLst/>
          </a:prstGeom>
          <a:noFill/>
        </p:spPr>
        <p:txBody>
          <a:bodyPr wrap="square" tIns="0" bIns="0" lIns="16459" rIns="16459">
            <a:spAutoFit/>
          </a:bodyPr>
          <a:lstStyle/>
          <a:p>
            <a:pPr algn="r" rtl="1">
              <a:lnSpc>
                <a:spcPct val="106000"/>
              </a:lnSpc>
              <a:spcAft>
                <a:spcPts val="400"/>
              </a:spcAft>
            </a:pPr>
            <a:r>
              <a:rPr sz="2900" b="1" lang="ar-SA">
                <a:solidFill>
                  <a:srgbClr val="F8FAFC"/>
                </a:solidFill>
                <a:latin typeface="Cairo"/>
                <a:cs typeface="Cairo"/>
              </a:rPr>
              <a:t>نبدأ ضيّقاً، ثم نتوسع بنتائج الاختبار</a:t>
            </a:r>
          </a:p>
        </p:txBody>
      </p:sp>
      <p:sp>
        <p:nvSpPr>
          <p:cNvPr id="7" name="Rectangle 6"/>
          <p:cNvSpPr/>
          <p:nvPr/>
        </p:nvSpPr>
        <p:spPr>
          <a:xfrm>
            <a:off x="10753344" y="1792224"/>
            <a:ext cx="786384" cy="3200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6473952"/>
            <a:ext cx="10149840" cy="228600"/>
          </a:xfrm>
          <a:prstGeom prst="rect">
            <a:avLst/>
          </a:prstGeom>
          <a:noFill/>
        </p:spPr>
        <p:txBody>
          <a:bodyPr wrap="square" tIns="0" bIns="0" lIns="16459" rIns="16459">
            <a:spAutoFit/>
          </a:bodyPr>
          <a:lstStyle/>
          <a:p>
            <a:pPr algn="r" rtl="1">
              <a:lnSpc>
                <a:spcPct val="106000"/>
              </a:lnSpc>
              <a:spcAft>
                <a:spcPts val="400"/>
              </a:spcAft>
            </a:pPr>
            <a:r>
              <a:rPr sz="850" b="0" lang="ar-SA">
                <a:solidFill>
                  <a:srgbClr val="8193AA"/>
                </a:solidFill>
                <a:latin typeface="Cairo"/>
                <a:cs typeface="Cairo"/>
              </a:rPr>
              <a:t>مَتِين • عرض فكرة مقترحة للتسجيل، وليس عرض منتج منفّذ</a:t>
            </a:r>
          </a:p>
        </p:txBody>
      </p:sp>
      <p:sp>
        <p:nvSpPr>
          <p:cNvPr id="9" name="TextBox 8"/>
          <p:cNvSpPr txBox="1"/>
          <p:nvPr/>
        </p:nvSpPr>
        <p:spPr>
          <a:xfrm>
            <a:off x="594360" y="6455664"/>
            <a:ext cx="667512" cy="246888"/>
          </a:xfrm>
          <a:prstGeom prst="rect">
            <a:avLst/>
          </a:prstGeom>
          <a:noFill/>
        </p:spPr>
        <p:txBody>
          <a:bodyPr wrap="square" tIns="0" bIns="0" lIns="16459" rIns="16459">
            <a:spAutoFit/>
          </a:bodyPr>
          <a:lstStyle/>
          <a:p>
            <a:pPr algn="l" rtl="0">
              <a:lnSpc>
                <a:spcPct val="106000"/>
              </a:lnSpc>
              <a:spcAft>
                <a:spcPts val="400"/>
              </a:spcAft>
            </a:pPr>
            <a:r>
              <a:rPr sz="1000" b="0" lang="en-US">
                <a:solidFill>
                  <a:srgbClr val="B5C4D7"/>
                </a:solidFill>
                <a:latin typeface="Cairo"/>
                <a:cs typeface="Cairo"/>
              </a:rPr>
              <a:t>08 / 09</a:t>
            </a:r>
          </a:p>
        </p:txBody>
      </p:sp>
      <p:sp>
        <p:nvSpPr>
          <p:cNvPr id="10" name="Rounded Rectangle 9"/>
          <p:cNvSpPr/>
          <p:nvPr/>
        </p:nvSpPr>
        <p:spPr>
          <a:xfrm>
            <a:off x="7909560" y="2551176"/>
            <a:ext cx="3419856" cy="2779776"/>
          </a:xfrm>
          <a:prstGeom prst="roundRect">
            <a:avLst>
              <a:gd name="adj" fmla="val 7000"/>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119872" y="2880360"/>
            <a:ext cx="539496" cy="539496"/>
          </a:xfrm>
          <a:prstGeom prst="roundRect">
            <a:avLst>
              <a:gd name="adj" fmla="val 7000"/>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38744" y="2971800"/>
            <a:ext cx="320040" cy="292608"/>
          </a:xfrm>
          <a:prstGeom prst="rect">
            <a:avLst/>
          </a:prstGeom>
          <a:noFill/>
        </p:spPr>
        <p:txBody>
          <a:bodyPr wrap="square" tIns="0" bIns="0" lIns="16459" rIns="16459">
            <a:spAutoFit/>
          </a:bodyPr>
          <a:lstStyle/>
          <a:p>
            <a:pPr algn="r" rtl="1">
              <a:lnSpc>
                <a:spcPct val="106000"/>
              </a:lnSpc>
              <a:spcAft>
                <a:spcPts val="400"/>
              </a:spcAft>
            </a:pPr>
            <a:r>
              <a:rPr sz="1600" b="1" lang="ar-SA">
                <a:solidFill>
                  <a:srgbClr val="0B0F19"/>
                </a:solidFill>
                <a:latin typeface="Cairo"/>
                <a:cs typeface="Cairo"/>
              </a:rPr>
              <a:t>٠1</a:t>
            </a:r>
          </a:p>
        </p:txBody>
      </p:sp>
      <p:sp>
        <p:nvSpPr>
          <p:cNvPr id="13" name="TextBox 12"/>
          <p:cNvSpPr txBox="1"/>
          <p:nvPr/>
        </p:nvSpPr>
        <p:spPr>
          <a:xfrm>
            <a:off x="8119872" y="3602736"/>
            <a:ext cx="2990088" cy="429768"/>
          </a:xfrm>
          <a:prstGeom prst="rect">
            <a:avLst/>
          </a:prstGeom>
          <a:noFill/>
        </p:spPr>
        <p:txBody>
          <a:bodyPr wrap="square" tIns="0" bIns="0" lIns="16459" rIns="16459">
            <a:spAutoFit/>
          </a:bodyPr>
          <a:lstStyle/>
          <a:p>
            <a:pPr algn="r" rtl="1">
              <a:lnSpc>
                <a:spcPct val="106000"/>
              </a:lnSpc>
              <a:spcAft>
                <a:spcPts val="400"/>
              </a:spcAft>
            </a:pPr>
            <a:r>
              <a:rPr sz="2000" b="1" lang="ar-SA">
                <a:solidFill>
                  <a:srgbClr val="F8FAFC"/>
                </a:solidFill>
                <a:latin typeface="Cairo"/>
                <a:cs typeface="Cairo"/>
              </a:rPr>
              <a:t>خلال التحدي</a:t>
            </a:r>
          </a:p>
        </p:txBody>
      </p:sp>
      <p:sp>
        <p:nvSpPr>
          <p:cNvPr id="14" name="TextBox 13"/>
          <p:cNvSpPr txBox="1"/>
          <p:nvPr/>
        </p:nvSpPr>
        <p:spPr>
          <a:xfrm>
            <a:off x="8119872" y="4169663"/>
            <a:ext cx="2990088" cy="987552"/>
          </a:xfrm>
          <a:prstGeom prst="rect">
            <a:avLst/>
          </a:prstGeom>
          <a:noFill/>
        </p:spPr>
        <p:txBody>
          <a:bodyPr wrap="square" tIns="0" bIns="0" lIns="16459" rIns="16459">
            <a:spAutoFit/>
          </a:bodyPr>
          <a:lstStyle/>
          <a:p>
            <a:pPr algn="r" rtl="1">
              <a:lnSpc>
                <a:spcPct val="106000"/>
              </a:lnSpc>
              <a:spcAft>
                <a:spcPts val="400"/>
              </a:spcAft>
            </a:pPr>
            <a:r>
              <a:rPr sz="1700" b="0" lang="ar-SA">
                <a:solidFill>
                  <a:srgbClr val="B5C4D7"/>
                </a:solidFill>
                <a:latin typeface="Cairo"/>
                <a:cs typeface="Cairo"/>
              </a:rPr>
              <a:t>متن مرخّص واحد؛ تسميع كلمات؛ شرح مسند؛ إحالة نصية.</a:t>
            </a:r>
          </a:p>
        </p:txBody>
      </p:sp>
      <p:sp>
        <p:nvSpPr>
          <p:cNvPr id="15" name="Rounded Rectangle 14"/>
          <p:cNvSpPr/>
          <p:nvPr/>
        </p:nvSpPr>
        <p:spPr>
          <a:xfrm>
            <a:off x="4270248" y="2551176"/>
            <a:ext cx="3419856" cy="2779776"/>
          </a:xfrm>
          <a:prstGeom prst="roundRect">
            <a:avLst>
              <a:gd name="adj" fmla="val 7000"/>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480560" y="2880360"/>
            <a:ext cx="539496" cy="539496"/>
          </a:xfrm>
          <a:prstGeom prst="roundRect">
            <a:avLst>
              <a:gd name="adj" fmla="val 7000"/>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99432" y="2971800"/>
            <a:ext cx="320040" cy="292608"/>
          </a:xfrm>
          <a:prstGeom prst="rect">
            <a:avLst/>
          </a:prstGeom>
          <a:noFill/>
        </p:spPr>
        <p:txBody>
          <a:bodyPr wrap="square" tIns="0" bIns="0" lIns="16459" rIns="16459">
            <a:spAutoFit/>
          </a:bodyPr>
          <a:lstStyle/>
          <a:p>
            <a:pPr algn="r" rtl="1">
              <a:lnSpc>
                <a:spcPct val="106000"/>
              </a:lnSpc>
              <a:spcAft>
                <a:spcPts val="400"/>
              </a:spcAft>
            </a:pPr>
            <a:r>
              <a:rPr sz="1600" b="1" lang="ar-SA">
                <a:solidFill>
                  <a:srgbClr val="F8FAFC"/>
                </a:solidFill>
                <a:latin typeface="Cairo"/>
                <a:cs typeface="Cairo"/>
              </a:rPr>
              <a:t>٠2</a:t>
            </a:r>
          </a:p>
        </p:txBody>
      </p:sp>
      <p:sp>
        <p:nvSpPr>
          <p:cNvPr id="18" name="TextBox 17"/>
          <p:cNvSpPr txBox="1"/>
          <p:nvPr/>
        </p:nvSpPr>
        <p:spPr>
          <a:xfrm>
            <a:off x="4480560" y="3602736"/>
            <a:ext cx="2990088" cy="429768"/>
          </a:xfrm>
          <a:prstGeom prst="rect">
            <a:avLst/>
          </a:prstGeom>
          <a:noFill/>
        </p:spPr>
        <p:txBody>
          <a:bodyPr wrap="square" tIns="0" bIns="0" lIns="16459" rIns="16459">
            <a:spAutoFit/>
          </a:bodyPr>
          <a:lstStyle/>
          <a:p>
            <a:pPr algn="r" rtl="1">
              <a:lnSpc>
                <a:spcPct val="106000"/>
              </a:lnSpc>
              <a:spcAft>
                <a:spcPts val="400"/>
              </a:spcAft>
            </a:pPr>
            <a:r>
              <a:rPr sz="2000" b="1" lang="ar-SA">
                <a:solidFill>
                  <a:srgbClr val="F8FAFC"/>
                </a:solidFill>
                <a:latin typeface="Cairo"/>
                <a:cs typeface="Cairo"/>
              </a:rPr>
              <a:t>بعد التحقق</a:t>
            </a:r>
          </a:p>
        </p:txBody>
      </p:sp>
      <p:sp>
        <p:nvSpPr>
          <p:cNvPr id="19" name="TextBox 18"/>
          <p:cNvSpPr txBox="1"/>
          <p:nvPr/>
        </p:nvSpPr>
        <p:spPr>
          <a:xfrm>
            <a:off x="4480560" y="4169663"/>
            <a:ext cx="2990088" cy="987552"/>
          </a:xfrm>
          <a:prstGeom prst="rect">
            <a:avLst/>
          </a:prstGeom>
          <a:noFill/>
        </p:spPr>
        <p:txBody>
          <a:bodyPr wrap="square" tIns="0" bIns="0" lIns="16459" rIns="16459">
            <a:spAutoFit/>
          </a:bodyPr>
          <a:lstStyle/>
          <a:p>
            <a:pPr algn="r" rtl="1">
              <a:lnSpc>
                <a:spcPct val="106000"/>
              </a:lnSpc>
              <a:spcAft>
                <a:spcPts val="400"/>
              </a:spcAft>
            </a:pPr>
            <a:r>
              <a:rPr sz="1700" b="0" lang="ar-SA">
                <a:solidFill>
                  <a:srgbClr val="B5C4D7"/>
                </a:solidFill>
                <a:latin typeface="Cairo"/>
                <a:cs typeface="Cairo"/>
              </a:rPr>
              <a:t>توسعة المتون المعتمدة واختبارات المستوى والمراجعة المتباعدة.</a:t>
            </a:r>
          </a:p>
        </p:txBody>
      </p:sp>
      <p:sp>
        <p:nvSpPr>
          <p:cNvPr id="20" name="Rounded Rectangle 19"/>
          <p:cNvSpPr/>
          <p:nvPr/>
        </p:nvSpPr>
        <p:spPr>
          <a:xfrm>
            <a:off x="640080" y="2551176"/>
            <a:ext cx="3419856" cy="2779776"/>
          </a:xfrm>
          <a:prstGeom prst="roundRect">
            <a:avLst>
              <a:gd name="adj" fmla="val 7000"/>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50392" y="2880360"/>
            <a:ext cx="539496" cy="539496"/>
          </a:xfrm>
          <a:prstGeom prst="roundRect">
            <a:avLst>
              <a:gd name="adj" fmla="val 7000"/>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2971800"/>
            <a:ext cx="320040" cy="292608"/>
          </a:xfrm>
          <a:prstGeom prst="rect">
            <a:avLst/>
          </a:prstGeom>
          <a:noFill/>
        </p:spPr>
        <p:txBody>
          <a:bodyPr wrap="square" tIns="0" bIns="0" lIns="16459" rIns="16459">
            <a:spAutoFit/>
          </a:bodyPr>
          <a:lstStyle/>
          <a:p>
            <a:pPr algn="r" rtl="1">
              <a:lnSpc>
                <a:spcPct val="106000"/>
              </a:lnSpc>
              <a:spcAft>
                <a:spcPts val="400"/>
              </a:spcAft>
            </a:pPr>
            <a:r>
              <a:rPr sz="1600" b="1" lang="ar-SA">
                <a:solidFill>
                  <a:srgbClr val="F8FAFC"/>
                </a:solidFill>
                <a:latin typeface="Cairo"/>
                <a:cs typeface="Cairo"/>
              </a:rPr>
              <a:t>٠3</a:t>
            </a:r>
          </a:p>
        </p:txBody>
      </p:sp>
      <p:sp>
        <p:nvSpPr>
          <p:cNvPr id="23" name="TextBox 22"/>
          <p:cNvSpPr txBox="1"/>
          <p:nvPr/>
        </p:nvSpPr>
        <p:spPr>
          <a:xfrm>
            <a:off x="850392" y="3602736"/>
            <a:ext cx="2990088" cy="429768"/>
          </a:xfrm>
          <a:prstGeom prst="rect">
            <a:avLst/>
          </a:prstGeom>
          <a:noFill/>
        </p:spPr>
        <p:txBody>
          <a:bodyPr wrap="square" tIns="0" bIns="0" lIns="16459" rIns="16459">
            <a:spAutoFit/>
          </a:bodyPr>
          <a:lstStyle/>
          <a:p>
            <a:pPr algn="r" rtl="1">
              <a:lnSpc>
                <a:spcPct val="106000"/>
              </a:lnSpc>
              <a:spcAft>
                <a:spcPts val="400"/>
              </a:spcAft>
            </a:pPr>
            <a:r>
              <a:rPr sz="2000" b="1" lang="ar-SA">
                <a:solidFill>
                  <a:srgbClr val="F8FAFC"/>
                </a:solidFill>
                <a:latin typeface="Cairo"/>
                <a:cs typeface="Cairo"/>
              </a:rPr>
              <a:t>لاحقاً</a:t>
            </a:r>
          </a:p>
        </p:txBody>
      </p:sp>
      <p:sp>
        <p:nvSpPr>
          <p:cNvPr id="24" name="TextBox 23"/>
          <p:cNvSpPr txBox="1"/>
          <p:nvPr/>
        </p:nvSpPr>
        <p:spPr>
          <a:xfrm>
            <a:off x="850392" y="4169663"/>
            <a:ext cx="2990088" cy="987552"/>
          </a:xfrm>
          <a:prstGeom prst="rect">
            <a:avLst/>
          </a:prstGeom>
          <a:noFill/>
        </p:spPr>
        <p:txBody>
          <a:bodyPr wrap="square" tIns="0" bIns="0" lIns="16459" rIns="16459">
            <a:spAutoFit/>
          </a:bodyPr>
          <a:lstStyle/>
          <a:p>
            <a:pPr algn="r" rtl="1">
              <a:lnSpc>
                <a:spcPct val="106000"/>
              </a:lnSpc>
              <a:spcAft>
                <a:spcPts val="400"/>
              </a:spcAft>
            </a:pPr>
            <a:r>
              <a:rPr sz="1700" b="0" lang="ar-SA">
                <a:solidFill>
                  <a:srgbClr val="B5C4D7"/>
                </a:solidFill>
                <a:latin typeface="Cairo"/>
                <a:cs typeface="Cairo"/>
              </a:rPr>
              <a:t>بحث تقييم النطق والتشكيل والشراكات بعد تحقق البيانات والموارد.</a:t>
            </a:r>
          </a:p>
        </p:txBody>
      </p:sp>
      <p:sp>
        <p:nvSpPr>
          <p:cNvPr id="25" name="Rectangle 24"/>
          <p:cNvSpPr/>
          <p:nvPr/>
        </p:nvSpPr>
        <p:spPr>
          <a:xfrm>
            <a:off x="713232" y="5650992"/>
            <a:ext cx="10698480" cy="17373"/>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952" y="5879592"/>
            <a:ext cx="10543032" cy="384048"/>
          </a:xfrm>
          <a:prstGeom prst="rect">
            <a:avLst/>
          </a:prstGeom>
          <a:noFill/>
        </p:spPr>
        <p:txBody>
          <a:bodyPr wrap="square" tIns="0" bIns="0" lIns="16459" rIns="16459">
            <a:spAutoFit/>
          </a:bodyPr>
          <a:lstStyle/>
          <a:p>
            <a:pPr algn="r" rtl="1">
              <a:lnSpc>
                <a:spcPct val="106000"/>
              </a:lnSpc>
              <a:spcAft>
                <a:spcPts val="400"/>
              </a:spcAft>
            </a:pPr>
            <a:r>
              <a:rPr sz="1800" b="0" lang="ar-SA">
                <a:solidFill>
                  <a:srgbClr val="34D399"/>
                </a:solidFill>
                <a:latin typeface="Cairo"/>
                <a:cs typeface="Cairo"/>
              </a:rPr>
              <a:t>الاستدامة: قياس تكلفة الصوت والسؤال والاستضافة، مع مسؤولية واضحة لمراجعة المصادر.</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eon-background.png"/>
          <p:cNvPicPr>
            <a:picLocks noChangeAspect="1"/>
          </p:cNvPicPr>
          <p:nvPr/>
        </p:nvPicPr>
        <p:blipFill>
          <a:blip r:embed="rId2"/>
          <a:stretch>
            <a:fillRect/>
          </a:stretch>
        </p:blipFill>
        <p:spPr>
          <a:xfrm>
            <a:off x="0" y="0"/>
            <a:ext cx="12191999" cy="6858000"/>
          </a:xfrm>
          <a:prstGeom prst="rect">
            <a:avLst/>
          </a:prstGeom>
        </p:spPr>
      </p:pic>
      <p:pic>
        <p:nvPicPr>
          <p:cNvPr id="3" name="Picture 2" descr="mateen-official-logo.png"/>
          <p:cNvPicPr>
            <a:picLocks noChangeAspect="1"/>
          </p:cNvPicPr>
          <p:nvPr/>
        </p:nvPicPr>
        <p:blipFill>
          <a:blip r:embed="rId3"/>
          <a:stretch>
            <a:fillRect/>
          </a:stretch>
        </p:blipFill>
        <p:spPr>
          <a:xfrm>
            <a:off x="4416552" y="521207"/>
            <a:ext cx="3346704" cy="1544219"/>
          </a:xfrm>
          <a:prstGeom prst="rect">
            <a:avLst/>
          </a:prstGeom>
        </p:spPr>
      </p:pic>
      <p:sp>
        <p:nvSpPr>
          <p:cNvPr id="4" name="TextBox 3"/>
          <p:cNvSpPr txBox="1"/>
          <p:nvPr/>
        </p:nvSpPr>
        <p:spPr>
          <a:xfrm>
            <a:off x="914400" y="2304288"/>
            <a:ext cx="10287000" cy="731520"/>
          </a:xfrm>
          <a:prstGeom prst="rect">
            <a:avLst/>
          </a:prstGeom>
          <a:noFill/>
        </p:spPr>
        <p:txBody>
          <a:bodyPr wrap="square" tIns="0" bIns="0" lIns="16459" rIns="16459">
            <a:spAutoFit/>
          </a:bodyPr>
          <a:lstStyle/>
          <a:p>
            <a:pPr algn="ctr" rtl="1">
              <a:lnSpc>
                <a:spcPct val="106000"/>
              </a:lnSpc>
              <a:spcAft>
                <a:spcPts val="400"/>
              </a:spcAft>
            </a:pPr>
            <a:r>
              <a:rPr sz="3000" b="1" lang="ar-SA">
                <a:solidFill>
                  <a:srgbClr val="F8FAFC"/>
                </a:solidFill>
                <a:latin typeface="Cairo"/>
                <a:cs typeface="Cairo"/>
              </a:rPr>
              <a:t>مَتِين: التقنية إلى جانب المصدر والمعلّم</a:t>
            </a:r>
          </a:p>
        </p:txBody>
      </p:sp>
      <p:sp>
        <p:nvSpPr>
          <p:cNvPr id="5" name="TextBox 4"/>
          <p:cNvSpPr txBox="1"/>
          <p:nvPr/>
        </p:nvSpPr>
        <p:spPr>
          <a:xfrm>
            <a:off x="1097280" y="3191256"/>
            <a:ext cx="9939528" cy="603504"/>
          </a:xfrm>
          <a:prstGeom prst="rect">
            <a:avLst/>
          </a:prstGeom>
          <a:noFill/>
        </p:spPr>
        <p:txBody>
          <a:bodyPr wrap="square" tIns="0" bIns="0" lIns="16459" rIns="16459">
            <a:spAutoFit/>
          </a:bodyPr>
          <a:lstStyle/>
          <a:p>
            <a:pPr algn="ctr" rtl="1">
              <a:lnSpc>
                <a:spcPct val="106000"/>
              </a:lnSpc>
              <a:spcAft>
                <a:spcPts val="400"/>
              </a:spcAft>
            </a:pPr>
            <a:r>
              <a:rPr sz="2100" b="0" lang="ar-SA">
                <a:solidFill>
                  <a:srgbClr val="B5C4D7"/>
                </a:solidFill>
                <a:latin typeface="Cairo"/>
                <a:cs typeface="Cairo"/>
              </a:rPr>
              <a:t>نقترح اختبار رحلة تعلم متكاملة، بمؤشرات قابلة للتحقق وحدود معلنة.</a:t>
            </a:r>
          </a:p>
        </p:txBody>
      </p:sp>
      <p:sp>
        <p:nvSpPr>
          <p:cNvPr id="6" name="Rounded Rectangle 5"/>
          <p:cNvSpPr/>
          <p:nvPr/>
        </p:nvSpPr>
        <p:spPr>
          <a:xfrm>
            <a:off x="6217920" y="4169663"/>
            <a:ext cx="5074920" cy="1005840"/>
          </a:xfrm>
          <a:prstGeom prst="roundRect">
            <a:avLst>
              <a:gd name="adj" fmla="val 7000"/>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37376" y="4325112"/>
            <a:ext cx="4645152" cy="320040"/>
          </a:xfrm>
          <a:prstGeom prst="rect">
            <a:avLst/>
          </a:prstGeom>
          <a:noFill/>
        </p:spPr>
        <p:txBody>
          <a:bodyPr wrap="square" tIns="0" bIns="0" lIns="16459" rIns="16459">
            <a:spAutoFit/>
          </a:bodyPr>
          <a:lstStyle/>
          <a:p>
            <a:pPr algn="r" rtl="1">
              <a:lnSpc>
                <a:spcPct val="106000"/>
              </a:lnSpc>
              <a:spcAft>
                <a:spcPts val="400"/>
              </a:spcAft>
            </a:pPr>
            <a:r>
              <a:rPr sz="1700" b="1" lang="ar-SA">
                <a:solidFill>
                  <a:srgbClr val="38BDF8"/>
                </a:solidFill>
                <a:latin typeface="Cairo"/>
                <a:cs typeface="Cairo"/>
              </a:rPr>
              <a:t>عبد الرحمن عماد ابوز عنين</a:t>
            </a:r>
          </a:p>
        </p:txBody>
      </p:sp>
      <p:sp>
        <p:nvSpPr>
          <p:cNvPr id="8" name="TextBox 7"/>
          <p:cNvSpPr txBox="1"/>
          <p:nvPr/>
        </p:nvSpPr>
        <p:spPr>
          <a:xfrm>
            <a:off x="6437376" y="4681728"/>
            <a:ext cx="4645152" cy="283464"/>
          </a:xfrm>
          <a:prstGeom prst="rect">
            <a:avLst/>
          </a:prstGeom>
          <a:noFill/>
        </p:spPr>
        <p:txBody>
          <a:bodyPr wrap="square" tIns="0" bIns="0" lIns="16459" rIns="16459">
            <a:spAutoFit/>
          </a:bodyPr>
          <a:lstStyle/>
          <a:p>
            <a:pPr algn="r" rtl="1">
              <a:lnSpc>
                <a:spcPct val="106000"/>
              </a:lnSpc>
              <a:spcAft>
                <a:spcPts val="400"/>
              </a:spcAft>
            </a:pPr>
            <a:r>
              <a:rPr sz="1300" b="0" lang="ar-SA">
                <a:solidFill>
                  <a:srgbClr val="B5C4D7"/>
                </a:solidFill>
                <a:latin typeface="Cairo"/>
                <a:cs typeface="Cairo"/>
              </a:rPr>
              <a:t>الفكرة، التجربة، الواجهات والمصادر</a:t>
            </a:r>
          </a:p>
        </p:txBody>
      </p:sp>
      <p:sp>
        <p:nvSpPr>
          <p:cNvPr id="9" name="Rounded Rectangle 8"/>
          <p:cNvSpPr/>
          <p:nvPr/>
        </p:nvSpPr>
        <p:spPr>
          <a:xfrm>
            <a:off x="877824" y="4169663"/>
            <a:ext cx="5074920" cy="1005840"/>
          </a:xfrm>
          <a:prstGeom prst="roundRect">
            <a:avLst>
              <a:gd name="adj" fmla="val 7000"/>
            </a:avLst>
          </a:prstGeom>
          <a:solidFill>
            <a:srgbClr val="1E293B"/>
          </a:solidFill>
          <a:ln w="9525">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4325112"/>
            <a:ext cx="4645152" cy="320040"/>
          </a:xfrm>
          <a:prstGeom prst="rect">
            <a:avLst/>
          </a:prstGeom>
          <a:noFill/>
        </p:spPr>
        <p:txBody>
          <a:bodyPr wrap="square" tIns="0" bIns="0" lIns="16459" rIns="16459">
            <a:spAutoFit/>
          </a:bodyPr>
          <a:lstStyle/>
          <a:p>
            <a:pPr algn="r" rtl="1">
              <a:lnSpc>
                <a:spcPct val="106000"/>
              </a:lnSpc>
              <a:spcAft>
                <a:spcPts val="400"/>
              </a:spcAft>
            </a:pPr>
            <a:r>
              <a:rPr sz="1700" b="1" lang="ar-SA">
                <a:solidFill>
                  <a:srgbClr val="34D399"/>
                </a:solidFill>
                <a:latin typeface="Cairo"/>
                <a:cs typeface="Cairo"/>
              </a:rPr>
              <a:t>مالك نورالدين الساعدي</a:t>
            </a:r>
          </a:p>
        </p:txBody>
      </p:sp>
      <p:sp>
        <p:nvSpPr>
          <p:cNvPr id="11" name="TextBox 10"/>
          <p:cNvSpPr txBox="1"/>
          <p:nvPr/>
        </p:nvSpPr>
        <p:spPr>
          <a:xfrm>
            <a:off x="1097280" y="4681728"/>
            <a:ext cx="4645152" cy="283464"/>
          </a:xfrm>
          <a:prstGeom prst="rect">
            <a:avLst/>
          </a:prstGeom>
          <a:noFill/>
        </p:spPr>
        <p:txBody>
          <a:bodyPr wrap="square" tIns="0" bIns="0" lIns="16459" rIns="16459">
            <a:spAutoFit/>
          </a:bodyPr>
          <a:lstStyle/>
          <a:p>
            <a:pPr algn="r" rtl="1">
              <a:lnSpc>
                <a:spcPct val="106000"/>
              </a:lnSpc>
              <a:spcAft>
                <a:spcPts val="400"/>
              </a:spcAft>
            </a:pPr>
            <a:r>
              <a:rPr sz="1300" b="0" lang="ar-SA">
                <a:solidFill>
                  <a:srgbClr val="B5C4D7"/>
                </a:solidFill>
                <a:latin typeface="Cairo"/>
                <a:cs typeface="Cairo"/>
              </a:rPr>
              <a:t>الذكاء الاصطناعي وتدريب النماذج والخادم</a:t>
            </a:r>
          </a:p>
        </p:txBody>
      </p:sp>
      <p:sp>
        <p:nvSpPr>
          <p:cNvPr id="12" name="TextBox 11"/>
          <p:cNvSpPr txBox="1"/>
          <p:nvPr/>
        </p:nvSpPr>
        <p:spPr>
          <a:xfrm>
            <a:off x="1143000" y="5623560"/>
            <a:ext cx="9893808" cy="694944"/>
          </a:xfrm>
          <a:prstGeom prst="rect">
            <a:avLst/>
          </a:prstGeom>
          <a:noFill/>
        </p:spPr>
        <p:txBody>
          <a:bodyPr wrap="square" tIns="0" bIns="0" lIns="16459" rIns="16459">
            <a:spAutoFit/>
          </a:bodyPr>
          <a:lstStyle/>
          <a:p>
            <a:pPr algn="ctr" rtl="1">
              <a:lnSpc>
                <a:spcPct val="106000"/>
              </a:lnSpc>
              <a:spcAft>
                <a:spcPts val="400"/>
              </a:spcAft>
            </a:pPr>
            <a:r>
              <a:rPr sz="1700" b="0" lang="ar-SA">
                <a:solidFill>
                  <a:srgbClr val="F8FAFC"/>
                </a:solidFill>
                <a:latin typeface="Cairo"/>
                <a:cs typeface="Cairo"/>
              </a:rPr>
              <a:t>المخرجات المستهدفة عند نهاية التحدي: حل يعمل، ورابط تجريبي، ومستودع عام، وفيديو لا يتجاوز دقيقتين.</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مَتِين | فكرة المسار المفتوح</dc:title>
  <dc:subject>تصور مبدئي للتحدي، لا بيان جاهزية تقنية</dc:subject>
  <dc:creator>فريق مَتِين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