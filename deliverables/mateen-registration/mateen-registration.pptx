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التقديم للتسجيل فقط. لا ادعاء بالأسبقية السوقية أو الجاهزية. جميع الوظائف والمعمارية وخطة التسليم التالية مقترحات وليست نتائج تنفيذ.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صفاً. في السؤال 1: 47 يدرسون المتون أو المنظومات و13 لا يدرسونها حالياً. لا يصح وصفهم جميعاً بطلاب أكاديميين. 5 مشاركين اختاروا 3 عوائق رغم طلب أهم عائقين؛ حُفظت إجاباتهم كما هي واحتُسب كل خيار مرة لكل مستجيب. لا تثبت النتائج أثراً تعليمياً أو حجم السوق.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المسار المفتوح يجمع أكثر من مسار بحسب ص12. لا تُدّعى أهلية مضمونة؛ يُشرح ارتباط الجمهور بتعلم المحتوى الإسلامي. يُؤجّل تقييم النطق والتشكيل خارج النطاق الأول.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مطابقة للمواصفات المعتمدة. بحث نصي ودلالي، وpgvector عند دعم البيئة له. Python عند حاجة فعلية وليس خدمة إلزامية. مقارنة المزودين على الحذف والاستبدال والأخطاء الزائفة وزمن استقرار التفريغ والتكلفة. لا التزام بـConformer أو forced alignment أو زمن 300ms.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تُراجع المتون والشروح المرشحة مع المختص وحزمة المصادر قبل الفهرسة. الدليل يذكر مستويات المحتوى الأربعة ولا يفصلها في الملف المرفق؛ يُستكمل تصنيف المحتوى عند إتاحة الوثائق المنظمة، ولا تُخترع مستويات أو مصادر معتمدة.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خطة: 20 مقطعاً مأذوناً ومتنوعة تشمل الحذف والاستبدال والصوت غير الواضح، و20 سؤالاً: 10 داخل النطاق و10 حرجة (غياب مرجع/تعارض/خارج النطاق/فتوى). يقيم المختص النتائج مرجعياً. المستهدف اجتياز جميع الحالات الحرجة قبل الإتاحة، لا ضمان 100% سلامة عامة. التجربة القصيرة لا تثبت احتفاظاً طويل المدى أو علاقة سببية عامة.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المقارنة بالممارسة الحالية لا بأوصاف غير موثقة لمنتجات منافسة. 90% تقبّل مفاهيمي، وليس تبنياً فعلياً أو رضا عن منتج. 6 فضلوا الكتب والمشايخ دون تقنية.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رحلة مفاهيمية، لا لقطة من واجهة. وثائق المعلمين خاصة ونسخ العرض منقحة. لاحقاً: صوت الاختبار يحتفظ به 30 يوماً وفق المواصفات؛ لا يخلط مع صوت التدريب. سهولة الوصول هدف اختبار، لا ادعاء اعتماد WCAG.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مرشح من القائمة المعتمدة: الأربعون النووية؛ يتوقف اختياره ومصدر شرحه على الحقوق والمراجعة والتوافق مع الحزمة العلمية. بدائل الخطر: مزود صوت ثانٍ؛ التسجيل ثم المعالجة عند تعذر البث مع توضيح التأخير؛ عدم إظهار معلم متاح إن لم يوجد. الاستدامة: قياس تكلفة دقيقة الصوت والسؤال والتخزين والاستضافة والمراجعة، وتقدير التكلفة الشهرية من الاستخدام الفعلي. استضافة تدعم WebSocket ولا تتوقف أثناء التقييم. لا وعد بالمجانية؛ تقليل المحتوى لا تسليم وظائف صورية.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الدليل ص16 و22: تغطية المهام والقدرة على التنفيذ معيار قبول. الأدوار هنا مقترحة، وليست ادعاء وجود أعضاء أو خبرات مثبتة؛ ترفق بيانات الفريق وأدلته الحقيقية في التسجيل. ص14 و31–33: المخرجات تخص نهاية التحدي لا هذا العرض. ص43: المشاريع السابقة مسموحة مع توثيق نسخة البداية والحقوق، وتقييم إنجاز أيام التحدي فقط. لا يغني هذا العرض عن أي إفصاح مطلوب في البوابة.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D4C3D"/>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FDF9F3"/>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FDF9F3"/>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F4EDE2"/>
                </a:solidFill>
                <a:latin typeface="Cairo"/>
                <a:cs typeface="Cairo"/>
                <a:ea typeface="Cairo"/>
              </a:rPr>
              <a:t>حفظٌ أرسخ، وفهمٌ موثّق</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FDF9F3"/>
                </a:solidFill>
                <a:latin typeface="Kufam"/>
                <a:cs typeface="Kufam"/>
                <a:ea typeface="Kufam"/>
              </a:rPr>
              <a:t>منصة مَتِين</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FDF9F3"/>
                </a:solidFill>
                <a:latin typeface="Cairo"/>
                <a:cs typeface="Cairo"/>
                <a:ea typeface="Cairo"/>
              </a:rPr>
              <a:t>تحدي الذكاء الاصطناعي في خدمة المحتوى الإسلامي ٢٠٢٦</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FDF9F3"/>
                </a:solidFill>
                <a:latin typeface="Cairo"/>
                <a:cs typeface="Cairo"/>
                <a:ea typeface="Cairo"/>
              </a:rPr>
              <a:t>01 / 10</a:t>
            </a:r>
          </a:p>
        </p:txBody>
      </p:sp>
      <p:sp>
        <p:nvSpPr>
          <p:cNvPr id="10" name="TextBox 9"/>
          <p:cNvSpPr txBox="1"/>
          <p:nvPr/>
        </p:nvSpPr>
        <p:spPr>
          <a:xfrm>
            <a:off x="4206240" y="2523744"/>
            <a:ext cx="7315200" cy="1188720"/>
          </a:xfrm>
          <a:prstGeom prst="rect">
            <a:avLst/>
          </a:prstGeom>
          <a:noFill/>
        </p:spPr>
        <p:txBody>
          <a:bodyPr wrap="square" lIns="22860" rIns="22860" tIns="22860" bIns="22860" anchor="t">
            <a:spAutoFit/>
          </a:bodyPr>
          <a:lstStyle/>
          <a:p>
            <a:pPr algn="r" rtl="1">
              <a:lnSpc>
                <a:spcPct val="112000"/>
              </a:lnSpc>
              <a:spcAft>
                <a:spcPts val="700"/>
              </a:spcAft>
            </a:pPr>
            <a:r>
              <a:rPr sz="3100" b="0" lang="ar-SA">
                <a:solidFill>
                  <a:srgbClr val="FDF9F3"/>
                </a:solidFill>
                <a:latin typeface="Noto Naskh Arabic"/>
                <a:cs typeface="Noto Naskh Arabic"/>
                <a:ea typeface="Noto Naskh Arabic"/>
              </a:rPr>
              <a:t>بيئة تعليمية مقترحة لحفظ وتسميع وفهم</a:t>
            </a:r>
          </a:p>
          <a:p>
            <a:pPr algn="r" rtl="1">
              <a:lnSpc>
                <a:spcPct val="112000"/>
              </a:lnSpc>
              <a:spcAft>
                <a:spcPts val="700"/>
              </a:spcAft>
            </a:pPr>
            <a:r>
              <a:rPr sz="3100" b="0" lang="ar-SA">
                <a:solidFill>
                  <a:srgbClr val="FDF9F3"/>
                </a:solidFill>
                <a:latin typeface="Noto Naskh Arabic"/>
                <a:cs typeface="Noto Naskh Arabic"/>
                <a:ea typeface="Noto Naskh Arabic"/>
              </a:rPr>
              <a:t>المتون والمنظومات الشرعية</a:t>
            </a:r>
          </a:p>
        </p:txBody>
      </p:sp>
      <p:sp>
        <p:nvSpPr>
          <p:cNvPr id="11" name="TextBox 10"/>
          <p:cNvSpPr txBox="1"/>
          <p:nvPr/>
        </p:nvSpPr>
        <p:spPr>
          <a:xfrm>
            <a:off x="4206240" y="4041648"/>
            <a:ext cx="7315200" cy="1005840"/>
          </a:xfrm>
          <a:prstGeom prst="rect">
            <a:avLst/>
          </a:prstGeom>
          <a:noFill/>
        </p:spPr>
        <p:txBody>
          <a:bodyPr wrap="square" lIns="22860" rIns="22860" tIns="22860" bIns="22860" anchor="t">
            <a:spAutoFit/>
          </a:bodyPr>
          <a:lstStyle/>
          <a:p>
            <a:pPr algn="r" rtl="1">
              <a:lnSpc>
                <a:spcPct val="112000"/>
              </a:lnSpc>
              <a:spcAft>
                <a:spcPts val="700"/>
              </a:spcAft>
            </a:pPr>
            <a:r>
              <a:rPr sz="2400" b="0" lang="ar-SA">
                <a:solidFill>
                  <a:srgbClr val="FDF9F3"/>
                </a:solidFill>
                <a:latin typeface="Noto Naskh Arabic"/>
                <a:cs typeface="Noto Naskh Arabic"/>
                <a:ea typeface="Noto Naskh Arabic"/>
              </a:rPr>
              <a:t>نجمع في رحلة واحدة: التحقق من الحفظ، والشرح المسند،</a:t>
            </a:r>
          </a:p>
          <a:p>
            <a:pPr algn="r" rtl="1">
              <a:lnSpc>
                <a:spcPct val="112000"/>
              </a:lnSpc>
              <a:spcAft>
                <a:spcPts val="700"/>
              </a:spcAft>
            </a:pPr>
            <a:r>
              <a:rPr sz="2400" b="0" lang="ar-SA">
                <a:solidFill>
                  <a:srgbClr val="FDF9F3"/>
                </a:solidFill>
                <a:latin typeface="Noto Naskh Arabic"/>
                <a:cs typeface="Noto Naskh Arabic"/>
                <a:ea typeface="Noto Naskh Arabic"/>
              </a:rPr>
              <a:t>والتوجيه البشري عند الحاجة.</a:t>
            </a:r>
          </a:p>
        </p:txBody>
      </p:sp>
      <p:sp>
        <p:nvSpPr>
          <p:cNvPr id="12" name="Rounded Rectangle 11"/>
          <p:cNvSpPr/>
          <p:nvPr/>
        </p:nvSpPr>
        <p:spPr>
          <a:xfrm>
            <a:off x="640080" y="2542032"/>
            <a:ext cx="3154680" cy="269748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724912"/>
            <a:ext cx="2788920"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٦٠ استجابة</a:t>
            </a:r>
          </a:p>
        </p:txBody>
      </p:sp>
      <p:sp>
        <p:nvSpPr>
          <p:cNvPr id="14" name="TextBox 13"/>
          <p:cNvSpPr txBox="1"/>
          <p:nvPr/>
        </p:nvSpPr>
        <p:spPr>
          <a:xfrm>
            <a:off x="822959" y="3438144"/>
            <a:ext cx="2788920"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من الاحتياج إلى الفكرة</a:t>
            </a:r>
          </a:p>
        </p:txBody>
      </p:sp>
      <p:sp>
        <p:nvSpPr>
          <p:cNvPr id="15" name="TextBox 14"/>
          <p:cNvSpPr txBox="1"/>
          <p:nvPr/>
        </p:nvSpPr>
        <p:spPr>
          <a:xfrm>
            <a:off x="822959" y="4105656"/>
            <a:ext cx="2788920" cy="1042416"/>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استبيان استكشافي يدعم تحديد المشكلة، لا يختبر منتجاً.</a:t>
            </a:r>
          </a:p>
        </p:txBody>
      </p:sp>
      <p:sp>
        <p:nvSpPr>
          <p:cNvPr id="16" name="TextBox 15"/>
          <p:cNvSpPr txBox="1"/>
          <p:nvPr/>
        </p:nvSpPr>
        <p:spPr>
          <a:xfrm>
            <a:off x="731520" y="5687568"/>
            <a:ext cx="10789920" cy="438912"/>
          </a:xfrm>
          <a:prstGeom prst="rect">
            <a:avLst/>
          </a:prstGeom>
          <a:noFill/>
        </p:spPr>
        <p:txBody>
          <a:bodyPr wrap="square" lIns="22860" rIns="22860" tIns="22860" bIns="22860" anchor="t">
            <a:spAutoFit/>
          </a:bodyPr>
          <a:lstStyle/>
          <a:p>
            <a:pPr algn="r" rtl="1">
              <a:lnSpc>
                <a:spcPct val="112000"/>
              </a:lnSpc>
              <a:spcAft>
                <a:spcPts val="700"/>
              </a:spcAft>
            </a:pPr>
            <a:r>
              <a:rPr sz="1900" b="0" lang="ar-SA">
                <a:solidFill>
                  <a:srgbClr val="FDF9F3"/>
                </a:solidFill>
                <a:latin typeface="Noto Naskh Arabic"/>
                <a:cs typeface="Noto Naskh Arabic"/>
                <a:ea typeface="Noto Naskh Arabic"/>
              </a:rPr>
              <a:t>عرض مبدئي للفكرة وخطة العمل المقترحة خلال التحدي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المشكلة • دليل ميداني</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الحفظ الفردي يحتاج تفاعلاً وتوجيهاً</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المصدر: استبيان الفريق، ١٨–٢٢ سبتمبر ٢٠٢٦؛ السؤالان ٢ و٣؛ المقام ٦٠ استجابة.</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02 / 10</a:t>
            </a:r>
          </a:p>
        </p:txBody>
      </p:sp>
      <p:sp>
        <p:nvSpPr>
          <p:cNvPr id="10" name="Rounded Rectangle 9"/>
          <p:cNvSpPr/>
          <p:nvPr/>
        </p:nvSpPr>
        <p:spPr>
          <a:xfrm>
            <a:off x="8092440"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٧٠٪</a:t>
            </a:r>
          </a:p>
        </p:txBody>
      </p:sp>
      <p:sp>
        <p:nvSpPr>
          <p:cNvPr id="12" name="TextBox 11"/>
          <p:cNvSpPr txBox="1"/>
          <p:nvPr/>
        </p:nvSpPr>
        <p:spPr>
          <a:xfrm>
            <a:off x="8275319"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الملل وفقدان الحافز</a:t>
            </a:r>
          </a:p>
        </p:txBody>
      </p:sp>
      <p:sp>
        <p:nvSpPr>
          <p:cNvPr id="13" name="TextBox 12"/>
          <p:cNvSpPr txBox="1"/>
          <p:nvPr/>
        </p:nvSpPr>
        <p:spPr>
          <a:xfrm>
            <a:off x="8275319"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٤٢ مشاركاً اختاروا غياب التفاعل ضمن عوائق الحفظ.</a:t>
            </a:r>
          </a:p>
        </p:txBody>
      </p:sp>
      <p:sp>
        <p:nvSpPr>
          <p:cNvPr id="14" name="Rounded Rectangle 13"/>
          <p:cNvSpPr/>
          <p:nvPr/>
        </p:nvSpPr>
        <p:spPr>
          <a:xfrm>
            <a:off x="4379976"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٤٦٫٧٪</a:t>
            </a:r>
          </a:p>
        </p:txBody>
      </p:sp>
      <p:sp>
        <p:nvSpPr>
          <p:cNvPr id="16" name="TextBox 15"/>
          <p:cNvSpPr txBox="1"/>
          <p:nvPr/>
        </p:nvSpPr>
        <p:spPr>
          <a:xfrm>
            <a:off x="4562856"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صعوبة إيجاد شيخ متفرغ</a:t>
            </a:r>
          </a:p>
        </p:txBody>
      </p:sp>
      <p:sp>
        <p:nvSpPr>
          <p:cNvPr id="17" name="TextBox 16"/>
          <p:cNvSpPr txBox="1"/>
          <p:nvPr/>
        </p:nvSpPr>
        <p:spPr>
          <a:xfrm>
            <a:off x="4562856"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٢٨ مشاركاً اختاروا صعوبة إيجاد من يسمّع لهم ويصحح.</a:t>
            </a:r>
          </a:p>
        </p:txBody>
      </p:sp>
      <p:sp>
        <p:nvSpPr>
          <p:cNvPr id="18" name="Rounded Rectangle 17"/>
          <p:cNvSpPr/>
          <p:nvPr/>
        </p:nvSpPr>
        <p:spPr>
          <a:xfrm>
            <a:off x="667512"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٥٠٪</a:t>
            </a:r>
          </a:p>
        </p:txBody>
      </p:sp>
      <p:sp>
        <p:nvSpPr>
          <p:cNvPr id="20" name="TextBox 19"/>
          <p:cNvSpPr txBox="1"/>
          <p:nvPr/>
        </p:nvSpPr>
        <p:spPr>
          <a:xfrm>
            <a:off x="850392"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طول الشروح وتشتتها</a:t>
            </a:r>
          </a:p>
        </p:txBody>
      </p:sp>
      <p:sp>
        <p:nvSpPr>
          <p:cNvPr id="21" name="TextBox 20"/>
          <p:cNvSpPr txBox="1"/>
          <p:nvPr/>
        </p:nvSpPr>
        <p:spPr>
          <a:xfrm>
            <a:off x="850392"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٣٠ مشاركاً اختاروا طول الشروحات النصية وتشتتها.</a:t>
            </a:r>
          </a:p>
        </p:txBody>
      </p:sp>
      <p:sp>
        <p:nvSpPr>
          <p:cNvPr id="22" name="TextBox 21"/>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عينة استطلاعية غير ممثلة إحصائياً؛ الأسئلة متعددة الإجابات، والنسب لا تُجمع.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الحل المقترح • لماذا المسار المفتوح؟</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ثلاث وظائف تخدم رحلة تعلم واحدة</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مرجع الملاءمة: دليل المشارك، ص١٢؛ المفهوم يجمع رحلة تعلم تفاعلية وحواراً موثقاً.</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03 / 10</a:t>
            </a:r>
          </a:p>
        </p:txBody>
      </p:sp>
      <p:sp>
        <p:nvSpPr>
          <p:cNvPr id="10" name="Rounded Rectangle 9"/>
          <p:cNvSpPr/>
          <p:nvPr/>
        </p:nvSpPr>
        <p:spPr>
          <a:xfrm>
            <a:off x="8092440" y="2560320"/>
            <a:ext cx="3456432" cy="2816352"/>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١. تسميع الكلمات</a:t>
            </a:r>
          </a:p>
        </p:txBody>
      </p:sp>
      <p:sp>
        <p:nvSpPr>
          <p:cNvPr id="12" name="TextBox 11"/>
          <p:cNvSpPr txBox="1"/>
          <p:nvPr/>
        </p:nvSpPr>
        <p:spPr>
          <a:xfrm>
            <a:off x="8275319" y="3410712"/>
            <a:ext cx="3090672" cy="1874519"/>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مقارنة التسميع بالنص المعتمد؛ رصد الاستبدال والحذف بعد ثبوتهما.</a:t>
            </a:r>
          </a:p>
        </p:txBody>
      </p:sp>
      <p:sp>
        <p:nvSpPr>
          <p:cNvPr id="13" name="Rounded Rectangle 12"/>
          <p:cNvSpPr/>
          <p:nvPr/>
        </p:nvSpPr>
        <p:spPr>
          <a:xfrm>
            <a:off x="4379976" y="2560320"/>
            <a:ext cx="3456432" cy="2816352"/>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٢. فهم من المصادر</a:t>
            </a:r>
          </a:p>
        </p:txBody>
      </p:sp>
      <p:sp>
        <p:nvSpPr>
          <p:cNvPr id="15" name="TextBox 14"/>
          <p:cNvSpPr txBox="1"/>
          <p:nvPr/>
        </p:nvSpPr>
        <p:spPr>
          <a:xfrm>
            <a:off x="4562856" y="3410712"/>
            <a:ext cx="3090672" cy="1874519"/>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شرح مرتبط بالكتاب والجزء والصفحة؛ امتناع إذا لم تكفِ الأدلة.</a:t>
            </a:r>
          </a:p>
        </p:txBody>
      </p:sp>
      <p:sp>
        <p:nvSpPr>
          <p:cNvPr id="16" name="Rounded Rectangle 15"/>
          <p:cNvSpPr/>
          <p:nvPr/>
        </p:nvSpPr>
        <p:spPr>
          <a:xfrm>
            <a:off x="667512" y="2560320"/>
            <a:ext cx="3456432" cy="2816352"/>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٣. توجيه بشري</a:t>
            </a:r>
          </a:p>
        </p:txBody>
      </p:sp>
      <p:sp>
        <p:nvSpPr>
          <p:cNvPr id="18" name="TextBox 17"/>
          <p:cNvSpPr txBox="1"/>
          <p:nvPr/>
        </p:nvSpPr>
        <p:spPr>
          <a:xfrm>
            <a:off x="850392" y="3410712"/>
            <a:ext cx="3090672" cy="1874519"/>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أسئلة وإحالات نصية إلى معلم معتمد؛ التقنية مساندة وليست بديلاً للشيخ.</a:t>
            </a:r>
          </a:p>
        </p:txBody>
      </p:sp>
      <p:sp>
        <p:nvSpPr>
          <p:cNvPr id="19" name="TextBox 18"/>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الجمهور الأول: دارسو المتون التأسيسية؛ لخدمة تعلم المحتوى الإسلامي وفهمه فهماً موثقاً.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تصور تقني • وليس بنية منفذة</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ذكاء اصطناعي بمهمة محددة وحدود واضحة</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تحدي الذكاء الاصطناعي في خدمة المحتوى الإسلامي ٢٠٢٦</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04 / 10</a:t>
            </a:r>
          </a:p>
        </p:txBody>
      </p:sp>
      <p:sp>
        <p:nvSpPr>
          <p:cNvPr id="10" name="Rounded Rectangle 9"/>
          <p:cNvSpPr/>
          <p:nvPr/>
        </p:nvSpPr>
        <p:spPr>
          <a:xfrm>
            <a:off x="6245352" y="2560320"/>
            <a:ext cx="5303520" cy="23957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مسار التسميع المقترح</a:t>
            </a:r>
          </a:p>
        </p:txBody>
      </p:sp>
      <p:sp>
        <p:nvSpPr>
          <p:cNvPr id="12" name="TextBox 11"/>
          <p:cNvSpPr txBox="1"/>
          <p:nvPr/>
        </p:nvSpPr>
        <p:spPr>
          <a:xfrm>
            <a:off x="6428232" y="3410712"/>
            <a:ext cx="4937759" cy="1453895"/>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صوت → تفريغ عربي → مطابقة كلمات → تنبيه مؤكد</a:t>
            </a:r>
          </a:p>
          <a:p>
            <a:pPr algn="r" rtl="1">
              <a:lnSpc>
                <a:spcPct val="112000"/>
              </a:lnSpc>
              <a:spcAft>
                <a:spcPts val="700"/>
              </a:spcAft>
            </a:pPr>
            <a:r>
              <a:rPr sz="2000" b="0" lang="ar-SA">
                <a:solidFill>
                  <a:srgbClr val="2A1F1A"/>
                </a:solidFill>
                <a:latin typeface="Noto Naskh Arabic"/>
                <a:cs typeface="Noto Naskh Arabic"/>
                <a:ea typeface="Noto Naskh Arabic"/>
              </a:rPr>
              <a:t>الصوت غير الواضح: إعادة المقطع، لا خطأ حفظ تلقائي.</a:t>
            </a:r>
          </a:p>
        </p:txBody>
      </p:sp>
      <p:sp>
        <p:nvSpPr>
          <p:cNvPr id="13" name="Rounded Rectangle 12"/>
          <p:cNvSpPr/>
          <p:nvPr/>
        </p:nvSpPr>
        <p:spPr>
          <a:xfrm>
            <a:off x="667512" y="2560320"/>
            <a:ext cx="5303520" cy="23957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مسار الشرح المقترح</a:t>
            </a:r>
          </a:p>
        </p:txBody>
      </p:sp>
      <p:sp>
        <p:nvSpPr>
          <p:cNvPr id="15" name="TextBox 14"/>
          <p:cNvSpPr txBox="1"/>
          <p:nvPr/>
        </p:nvSpPr>
        <p:spPr>
          <a:xfrm>
            <a:off x="850392" y="3410712"/>
            <a:ext cx="4937759" cy="1453895"/>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سؤال → استرجاع من مصادر معتمدة → تحقق من العزو</a:t>
            </a:r>
          </a:p>
          <a:p>
            <a:pPr algn="r" rtl="1">
              <a:lnSpc>
                <a:spcPct val="112000"/>
              </a:lnSpc>
              <a:spcAft>
                <a:spcPts val="700"/>
              </a:spcAft>
            </a:pPr>
            <a:r>
              <a:rPr sz="2000" b="0" lang="ar-SA">
                <a:solidFill>
                  <a:srgbClr val="2A1F1A"/>
                </a:solidFill>
                <a:latin typeface="Noto Naskh Arabic"/>
                <a:cs typeface="Noto Naskh Arabic"/>
                <a:ea typeface="Noto Naskh Arabic"/>
              </a:rPr>
              <a:t>مرجع غير كافٍ: امتناع وعرض إحالة بشرية.</a:t>
            </a:r>
          </a:p>
        </p:txBody>
      </p:sp>
      <p:sp>
        <p:nvSpPr>
          <p:cNvPr id="16" name="TextBox 15"/>
          <p:cNvSpPr txBox="1"/>
          <p:nvPr/>
        </p:nvSpPr>
        <p:spPr>
          <a:xfrm>
            <a:off x="822960" y="5166360"/>
            <a:ext cx="10607040" cy="329184"/>
          </a:xfrm>
          <a:prstGeom prst="rect">
            <a:avLst/>
          </a:prstGeom>
          <a:noFill/>
        </p:spPr>
        <p:txBody>
          <a:bodyPr wrap="square" lIns="22860" rIns="22860" tIns="22860" bIns="22860" anchor="t">
            <a:spAutoFit/>
          </a:bodyPr>
          <a:lstStyle/>
          <a:p>
            <a:pPr algn="l" rtl="0">
              <a:lnSpc>
                <a:spcPct val="112000"/>
              </a:lnSpc>
              <a:spcAft>
                <a:spcPts val="700"/>
              </a:spcAft>
            </a:pPr>
            <a:r>
              <a:rPr sz="1400" b="0" lang="en-US">
                <a:solidFill>
                  <a:srgbClr val="994703"/>
                </a:solidFill>
                <a:latin typeface="Cairo"/>
                <a:cs typeface="Cairo"/>
                <a:ea typeface="Cairo"/>
              </a:rPr>
              <a:t>React + TypeScript  |  Node.js + Express  |  PostgreSQL + Drizzle</a:t>
            </a:r>
          </a:p>
        </p:txBody>
      </p:sp>
      <p:sp>
        <p:nvSpPr>
          <p:cNvPr id="17" name="TextBox 16"/>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REST وWebSocket؛ تقييم مزودي الصوت قبل الاختيار، دون تدريب نموذج خاص في ثلاثة أيام.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خطة السلامة العلمية • ٢٠٪ من معايير القبول</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الموثوقية شرط تصميم، لا وعد بالعصمة</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المصادر: دليل المشارك ص١٩ و٢١؛ الاستبيان، السؤال ٦: ٤٧ من ٦٠ اختاروا ذكر المصدر.</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05 / 10</a:t>
            </a:r>
          </a:p>
        </p:txBody>
      </p:sp>
      <p:sp>
        <p:nvSpPr>
          <p:cNvPr id="10" name="Rounded Rectangle 9"/>
          <p:cNvSpPr/>
          <p:nvPr/>
        </p:nvSpPr>
        <p:spPr>
          <a:xfrm>
            <a:off x="8092440" y="2560320"/>
            <a:ext cx="3456432" cy="288036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٧٨٫٣٪</a:t>
            </a:r>
          </a:p>
        </p:txBody>
      </p:sp>
      <p:sp>
        <p:nvSpPr>
          <p:cNvPr id="12" name="TextBox 11"/>
          <p:cNvSpPr txBox="1"/>
          <p:nvPr/>
        </p:nvSpPr>
        <p:spPr>
          <a:xfrm>
            <a:off x="8275319"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مصادر قابلة للتتبع</a:t>
            </a:r>
          </a:p>
        </p:txBody>
      </p:sp>
      <p:sp>
        <p:nvSpPr>
          <p:cNvPr id="13" name="TextBox 12"/>
          <p:cNvSpPr txBox="1"/>
          <p:nvPr/>
        </p:nvSpPr>
        <p:spPr>
          <a:xfrm>
            <a:off x="8275319" y="4123944"/>
            <a:ext cx="3090672" cy="1225295"/>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حزمة التحدي العلمية أولاً؛ مراجعة الطبعة والحقوق وربط كل شرح بموضعه.</a:t>
            </a:r>
          </a:p>
        </p:txBody>
      </p:sp>
      <p:sp>
        <p:nvSpPr>
          <p:cNvPr id="14" name="Rounded Rectangle 13"/>
          <p:cNvSpPr/>
          <p:nvPr/>
        </p:nvSpPr>
        <p:spPr>
          <a:xfrm>
            <a:off x="4379976" y="2560320"/>
            <a:ext cx="3456432" cy="288036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امتناع وإحالة</a:t>
            </a:r>
          </a:p>
        </p:txBody>
      </p:sp>
      <p:sp>
        <p:nvSpPr>
          <p:cNvPr id="16" name="TextBox 15"/>
          <p:cNvSpPr txBox="1"/>
          <p:nvPr/>
        </p:nvSpPr>
        <p:spPr>
          <a:xfrm>
            <a:off x="4562856" y="3410712"/>
            <a:ext cx="3090672" cy="1938527"/>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نقص المرجع أو تعارضه أو طلب فتوى: لا جواب مولّداً بلا سند؛ توجيه للمختص.</a:t>
            </a:r>
          </a:p>
        </p:txBody>
      </p:sp>
      <p:sp>
        <p:nvSpPr>
          <p:cNvPr id="17" name="Rounded Rectangle 16"/>
          <p:cNvSpPr/>
          <p:nvPr/>
        </p:nvSpPr>
        <p:spPr>
          <a:xfrm>
            <a:off x="667512" y="2560320"/>
            <a:ext cx="3456432" cy="288036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اختبار ومراجعة</a:t>
            </a:r>
          </a:p>
        </p:txBody>
      </p:sp>
      <p:sp>
        <p:nvSpPr>
          <p:cNvPr id="19" name="TextBox 18"/>
          <p:cNvSpPr txBox="1"/>
          <p:nvPr/>
        </p:nvSpPr>
        <p:spPr>
          <a:xfrm>
            <a:off x="850392" y="3410712"/>
            <a:ext cx="3090672" cy="1938527"/>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أسئلة داخل النطاق وخارجه؛ مراجع مفقودة ومتعارضة؛ تدقيق الاستشهاد والمعنى.</a:t>
            </a:r>
          </a:p>
        </p:txBody>
      </p:sp>
      <p:sp>
        <p:nvSpPr>
          <p:cNvPr id="20" name="TextBox 19"/>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الاسترجاع المقيد يقلل المخاطر ولا يلغيها؛ المحتوى يحتاج مراجعة علمية بشرية.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خطة تحقق • مؤشرات مقترحة وليست نتائج</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سنقيس النفع، لا نفترضه</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تحدي الذكاء الاصطناعي في خدمة المحتوى الإسلامي ٢٠٢٦</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06 / 10</a:t>
            </a:r>
          </a:p>
        </p:txBody>
      </p:sp>
      <p:sp>
        <p:nvSpPr>
          <p:cNvPr id="10" name="Rounded Rectangle 9"/>
          <p:cNvSpPr/>
          <p:nvPr/>
        </p:nvSpPr>
        <p:spPr>
          <a:xfrm>
            <a:off x="6245352" y="2560320"/>
            <a:ext cx="5303520" cy="134416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جودة التسميع</a:t>
            </a:r>
          </a:p>
        </p:txBody>
      </p:sp>
      <p:sp>
        <p:nvSpPr>
          <p:cNvPr id="12" name="TextBox 11"/>
          <p:cNvSpPr txBox="1"/>
          <p:nvPr/>
        </p:nvSpPr>
        <p:spPr>
          <a:xfrm>
            <a:off x="6428232" y="3154680"/>
            <a:ext cx="4937759" cy="658367"/>
          </a:xfrm>
          <a:prstGeom prst="rect">
            <a:avLst/>
          </a:prstGeom>
          <a:noFill/>
        </p:spPr>
        <p:txBody>
          <a:bodyPr wrap="square" lIns="22860" rIns="22860" tIns="22860" bIns="22860" anchor="t">
            <a:spAutoFit/>
          </a:bodyPr>
          <a:lstStyle/>
          <a:p>
            <a:pPr algn="r" rtl="1">
              <a:lnSpc>
                <a:spcPct val="112000"/>
              </a:lnSpc>
              <a:spcAft>
                <a:spcPts val="700"/>
              </a:spcAft>
            </a:pPr>
            <a:r>
              <a:rPr sz="1800" b="0" lang="ar-SA">
                <a:solidFill>
                  <a:srgbClr val="2A1F1A"/>
                </a:solidFill>
                <a:latin typeface="Noto Naskh Arabic"/>
                <a:cs typeface="Noto Naskh Arabic"/>
                <a:ea typeface="Noto Naskh Arabic"/>
              </a:rPr>
              <a:t>دقة رصد الحذف والاستبدال، والأخطاء الزائفة، وزمن التنبيه.</a:t>
            </a:r>
          </a:p>
        </p:txBody>
      </p:sp>
      <p:sp>
        <p:nvSpPr>
          <p:cNvPr id="13" name="Rounded Rectangle 12"/>
          <p:cNvSpPr/>
          <p:nvPr/>
        </p:nvSpPr>
        <p:spPr>
          <a:xfrm>
            <a:off x="667512" y="2560320"/>
            <a:ext cx="5303520" cy="134416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سلامة الشرح</a:t>
            </a:r>
          </a:p>
        </p:txBody>
      </p:sp>
      <p:sp>
        <p:nvSpPr>
          <p:cNvPr id="15" name="TextBox 14"/>
          <p:cNvSpPr txBox="1"/>
          <p:nvPr/>
        </p:nvSpPr>
        <p:spPr>
          <a:xfrm>
            <a:off x="850392" y="3154680"/>
            <a:ext cx="4937759" cy="658367"/>
          </a:xfrm>
          <a:prstGeom prst="rect">
            <a:avLst/>
          </a:prstGeom>
          <a:noFill/>
        </p:spPr>
        <p:txBody>
          <a:bodyPr wrap="square" lIns="22860" rIns="22860" tIns="22860" bIns="22860" anchor="t">
            <a:spAutoFit/>
          </a:bodyPr>
          <a:lstStyle/>
          <a:p>
            <a:pPr algn="r" rtl="1">
              <a:lnSpc>
                <a:spcPct val="112000"/>
              </a:lnSpc>
              <a:spcAft>
                <a:spcPts val="700"/>
              </a:spcAft>
            </a:pPr>
            <a:r>
              <a:rPr sz="1800" b="0" lang="ar-SA">
                <a:solidFill>
                  <a:srgbClr val="2A1F1A"/>
                </a:solidFill>
                <a:latin typeface="Noto Naskh Arabic"/>
                <a:cs typeface="Noto Naskh Arabic"/>
                <a:ea typeface="Noto Naskh Arabic"/>
              </a:rPr>
              <a:t>صحة العزو والمعنى؛ والامتناع الصحيح في الحالات الحرجة.</a:t>
            </a:r>
          </a:p>
        </p:txBody>
      </p:sp>
      <p:sp>
        <p:nvSpPr>
          <p:cNvPr id="16" name="Rounded Rectangle 15"/>
          <p:cNvSpPr/>
          <p:nvPr/>
        </p:nvSpPr>
        <p:spPr>
          <a:xfrm>
            <a:off x="6245352" y="4160520"/>
            <a:ext cx="5303520" cy="134416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43434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سهولة الوصول للفهم</a:t>
            </a:r>
          </a:p>
        </p:txBody>
      </p:sp>
      <p:sp>
        <p:nvSpPr>
          <p:cNvPr id="18" name="TextBox 17"/>
          <p:cNvSpPr txBox="1"/>
          <p:nvPr/>
        </p:nvSpPr>
        <p:spPr>
          <a:xfrm>
            <a:off x="6428232" y="4754880"/>
            <a:ext cx="4937759" cy="658367"/>
          </a:xfrm>
          <a:prstGeom prst="rect">
            <a:avLst/>
          </a:prstGeom>
          <a:noFill/>
        </p:spPr>
        <p:txBody>
          <a:bodyPr wrap="square" lIns="22860" rIns="22860" tIns="22860" bIns="22860" anchor="t">
            <a:spAutoFit/>
          </a:bodyPr>
          <a:lstStyle/>
          <a:p>
            <a:pPr algn="r" rtl="1">
              <a:lnSpc>
                <a:spcPct val="112000"/>
              </a:lnSpc>
              <a:spcAft>
                <a:spcPts val="700"/>
              </a:spcAft>
            </a:pPr>
            <a:r>
              <a:rPr sz="1800" b="0" lang="ar-SA">
                <a:solidFill>
                  <a:srgbClr val="2A1F1A"/>
                </a:solidFill>
                <a:latin typeface="Noto Naskh Arabic"/>
                <a:cs typeface="Noto Naskh Arabic"/>
                <a:ea typeface="Noto Naskh Arabic"/>
              </a:rPr>
              <a:t>زمن العثور على شرح صحيح ومسنَد مقارنة بالبحث اليدوي.</a:t>
            </a:r>
          </a:p>
        </p:txBody>
      </p:sp>
      <p:sp>
        <p:nvSpPr>
          <p:cNvPr id="19" name="Rounded Rectangle 18"/>
          <p:cNvSpPr/>
          <p:nvPr/>
        </p:nvSpPr>
        <p:spPr>
          <a:xfrm>
            <a:off x="667512" y="4160520"/>
            <a:ext cx="5303520" cy="134416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3434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إتمام رحلة التعلم</a:t>
            </a:r>
          </a:p>
        </p:txBody>
      </p:sp>
      <p:sp>
        <p:nvSpPr>
          <p:cNvPr id="21" name="TextBox 20"/>
          <p:cNvSpPr txBox="1"/>
          <p:nvPr/>
        </p:nvSpPr>
        <p:spPr>
          <a:xfrm>
            <a:off x="850392" y="4754880"/>
            <a:ext cx="4937759" cy="658367"/>
          </a:xfrm>
          <a:prstGeom prst="rect">
            <a:avLst/>
          </a:prstGeom>
          <a:noFill/>
        </p:spPr>
        <p:txBody>
          <a:bodyPr wrap="square" lIns="22860" rIns="22860" tIns="22860" bIns="22860" anchor="t">
            <a:spAutoFit/>
          </a:bodyPr>
          <a:lstStyle/>
          <a:p>
            <a:pPr algn="r" rtl="1">
              <a:lnSpc>
                <a:spcPct val="112000"/>
              </a:lnSpc>
              <a:spcAft>
                <a:spcPts val="700"/>
              </a:spcAft>
            </a:pPr>
            <a:r>
              <a:rPr sz="1800" b="0" lang="ar-SA">
                <a:solidFill>
                  <a:srgbClr val="2A1F1A"/>
                </a:solidFill>
                <a:latin typeface="Noto Naskh Arabic"/>
                <a:cs typeface="Noto Naskh Arabic"/>
                <a:ea typeface="Noto Naskh Arabic"/>
              </a:rPr>
              <a:t>نسبة إتمام مهمة: تسميع مقطع ثم شرح عبارة أو طلب إحالة.</a:t>
            </a:r>
          </a:p>
        </p:txBody>
      </p:sp>
      <p:sp>
        <p:nvSpPr>
          <p:cNvPr id="22" name="TextBox 21"/>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اختبار مقترح على ١٠ متطوعين، بمهام متكافئة وترتيب متبادل؛ عرض النتائج وحدود العينة.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الأصالة • إضافة قابلة للاختبار</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القيمة في ربط الحفظ بالفهم والتوجيه</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المصدر: الاستبيان، السؤال ٥؛ ٣٨ «ممتازة» + ١٦ «جيدة» = ٥٤ من ٦٠.</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07 / 10</a:t>
            </a:r>
          </a:p>
        </p:txBody>
      </p:sp>
      <p:sp>
        <p:nvSpPr>
          <p:cNvPr id="10" name="Rounded Rectangle 9"/>
          <p:cNvSpPr/>
          <p:nvPr/>
        </p:nvSpPr>
        <p:spPr>
          <a:xfrm>
            <a:off x="8092440"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مقابل الحفظ المنفرد</a:t>
            </a:r>
          </a:p>
        </p:txBody>
      </p:sp>
      <p:sp>
        <p:nvSpPr>
          <p:cNvPr id="12" name="TextBox 11"/>
          <p:cNvSpPr txBox="1"/>
          <p:nvPr/>
        </p:nvSpPr>
        <p:spPr>
          <a:xfrm>
            <a:off x="8275319" y="3410712"/>
            <a:ext cx="3090672" cy="1911095"/>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نقترح تغذية راجعة على الكلمات، بدلاً من بقاء أخطاء الحفظ بلا تنبيه.</a:t>
            </a:r>
          </a:p>
        </p:txBody>
      </p:sp>
      <p:sp>
        <p:nvSpPr>
          <p:cNvPr id="13" name="Rounded Rectangle 12"/>
          <p:cNvSpPr/>
          <p:nvPr/>
        </p:nvSpPr>
        <p:spPr>
          <a:xfrm>
            <a:off x="4379976"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مقابل البحث اليدوي</a:t>
            </a:r>
          </a:p>
        </p:txBody>
      </p:sp>
      <p:sp>
        <p:nvSpPr>
          <p:cNvPr id="15" name="TextBox 14"/>
          <p:cNvSpPr txBox="1"/>
          <p:nvPr/>
        </p:nvSpPr>
        <p:spPr>
          <a:xfrm>
            <a:off x="4562856" y="3410712"/>
            <a:ext cx="3090672" cy="1911095"/>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نقترح شرحاً مرتبطاً بموضع الدراسة ومرجعه، بدلاً من التنقل بين المجلدات.</a:t>
            </a:r>
          </a:p>
        </p:txBody>
      </p:sp>
      <p:sp>
        <p:nvSpPr>
          <p:cNvPr id="16" name="Rounded Rectangle 15"/>
          <p:cNvSpPr/>
          <p:nvPr/>
        </p:nvSpPr>
        <p:spPr>
          <a:xfrm>
            <a:off x="667512"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٩٠٪</a:t>
            </a:r>
          </a:p>
        </p:txBody>
      </p:sp>
      <p:sp>
        <p:nvSpPr>
          <p:cNvPr id="18" name="TextBox 17"/>
          <p:cNvSpPr txBox="1"/>
          <p:nvPr/>
        </p:nvSpPr>
        <p:spPr>
          <a:xfrm>
            <a:off x="850392"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تقبّل أولي للفكرة</a:t>
            </a:r>
          </a:p>
        </p:txBody>
      </p:sp>
      <p:sp>
        <p:nvSpPr>
          <p:cNvPr id="19" name="TextBox 18"/>
          <p:cNvSpPr txBox="1"/>
          <p:nvPr/>
        </p:nvSpPr>
        <p:spPr>
          <a:xfrm>
            <a:off x="850392"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٥٤ مشاركاً رأوا المساعد المسند مع الإحالة فكرة جيدة أو ممتازة.</a:t>
            </a:r>
          </a:p>
        </p:txBody>
      </p:sp>
      <p:sp>
        <p:nvSpPr>
          <p:cNvPr id="20" name="TextBox 19"/>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ميزة مقترحة في سير التعلم المتكامل؛ لا ادعاء بأننا الأول أو الأفضل قبل المقارنة والاختبار.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تجربة مقترحة • ضوابط من البداية</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رحلة عربية تحترم المتعلم وخصوصيته</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تحدي الذكاء الاصطناعي في خدمة المحتوى الإسلامي ٢٠٢٦</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08 / 10</a:t>
            </a:r>
          </a:p>
        </p:txBody>
      </p:sp>
      <p:sp>
        <p:nvSpPr>
          <p:cNvPr id="10" name="Rounded Rectangle 9"/>
          <p:cNvSpPr/>
          <p:nvPr/>
        </p:nvSpPr>
        <p:spPr>
          <a:xfrm>
            <a:off x="8092440" y="2560320"/>
            <a:ext cx="3456432" cy="283464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قراءة وتعلم</a:t>
            </a:r>
          </a:p>
        </p:txBody>
      </p:sp>
      <p:sp>
        <p:nvSpPr>
          <p:cNvPr id="12" name="TextBox 11"/>
          <p:cNvSpPr txBox="1"/>
          <p:nvPr/>
        </p:nvSpPr>
        <p:spPr>
          <a:xfrm>
            <a:off x="8275319" y="3410712"/>
            <a:ext cx="3090672" cy="1892807"/>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واجهة عربية من اليمين لليسار؛ مظهر فاتح وداكن؛ أخطاء موصوفة لا باللون وحده.</a:t>
            </a:r>
          </a:p>
        </p:txBody>
      </p:sp>
      <p:sp>
        <p:nvSpPr>
          <p:cNvPr id="13" name="Rounded Rectangle 12"/>
          <p:cNvSpPr/>
          <p:nvPr/>
        </p:nvSpPr>
        <p:spPr>
          <a:xfrm>
            <a:off x="4379976" y="2560320"/>
            <a:ext cx="3456432" cy="283464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خصوصية الصوت</a:t>
            </a:r>
          </a:p>
        </p:txBody>
      </p:sp>
      <p:sp>
        <p:nvSpPr>
          <p:cNvPr id="15" name="TextBox 14"/>
          <p:cNvSpPr txBox="1"/>
          <p:nvPr/>
        </p:nvSpPr>
        <p:spPr>
          <a:xfrm>
            <a:off x="4562856" y="3410712"/>
            <a:ext cx="3090672" cy="1892807"/>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إذن واضح للتسجيل؛ حذف صوت التدريب بعد المعالجة؛ حفظ الضروري من التقدم.</a:t>
            </a:r>
          </a:p>
        </p:txBody>
      </p:sp>
      <p:sp>
        <p:nvSpPr>
          <p:cNvPr id="16" name="Rounded Rectangle 15"/>
          <p:cNvSpPr/>
          <p:nvPr/>
        </p:nvSpPr>
        <p:spPr>
          <a:xfrm>
            <a:off x="667512" y="2560320"/>
            <a:ext cx="3456432" cy="2834640"/>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743200"/>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إحالة مسؤولة</a:t>
            </a:r>
          </a:p>
        </p:txBody>
      </p:sp>
      <p:sp>
        <p:nvSpPr>
          <p:cNvPr id="18" name="TextBox 17"/>
          <p:cNvSpPr txBox="1"/>
          <p:nvPr/>
        </p:nvSpPr>
        <p:spPr>
          <a:xfrm>
            <a:off x="850392" y="3410712"/>
            <a:ext cx="3090672" cy="1892807"/>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مشاركة سياق السؤال بموافقة الطالب؛ دون استنتاج سمات دينية أو حساسة.</a:t>
            </a:r>
          </a:p>
        </p:txBody>
      </p:sp>
      <p:sp>
        <p:nvSpPr>
          <p:cNvPr id="19" name="TextBox 18"/>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اختيار متن ← تسميع مقطع ← مراجعة الكلمات ← فهم موثق أو سؤال معلم؛ دون صور لذوات الأرواح.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خطة تنفيذ مقترحة • ٤–٦ أكتوبر ٢٠٢٦</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نطاق ضيق يمكن اختباره خلال التحدي</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المرجع: دليل المشارك، صفحات الدليل ٢٥–٢٨؛ خطة مستقبلية مشروطة بالقبول والاعتمادات.</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09 / 10</a:t>
            </a:r>
          </a:p>
        </p:txBody>
      </p:sp>
      <p:sp>
        <p:nvSpPr>
          <p:cNvPr id="10" name="Rounded Rectangle 9"/>
          <p:cNvSpPr/>
          <p:nvPr/>
        </p:nvSpPr>
        <p:spPr>
          <a:xfrm>
            <a:off x="8092440"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اليوم ١</a:t>
            </a:r>
          </a:p>
        </p:txBody>
      </p:sp>
      <p:sp>
        <p:nvSpPr>
          <p:cNvPr id="12" name="TextBox 11"/>
          <p:cNvSpPr txBox="1"/>
          <p:nvPr/>
        </p:nvSpPr>
        <p:spPr>
          <a:xfrm>
            <a:off x="8275319"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٤ أكتوبر • المحتوى والصوت</a:t>
            </a:r>
          </a:p>
        </p:txBody>
      </p:sp>
      <p:sp>
        <p:nvSpPr>
          <p:cNvPr id="13" name="TextBox 12"/>
          <p:cNvSpPr txBox="1"/>
          <p:nvPr/>
        </p:nvSpPr>
        <p:spPr>
          <a:xfrm>
            <a:off x="8275319"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اعتماد مقاطع من متن واحد وشرح مرخّص؛ إعداد البيانات ومقارنة مزودي الصوت.</a:t>
            </a:r>
          </a:p>
        </p:txBody>
      </p:sp>
      <p:sp>
        <p:nvSpPr>
          <p:cNvPr id="14" name="Rounded Rectangle 13"/>
          <p:cNvSpPr/>
          <p:nvPr/>
        </p:nvSpPr>
        <p:spPr>
          <a:xfrm>
            <a:off x="4379976"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اليوم ٢</a:t>
            </a:r>
          </a:p>
        </p:txBody>
      </p:sp>
      <p:sp>
        <p:nvSpPr>
          <p:cNvPr id="16" name="TextBox 15"/>
          <p:cNvSpPr txBox="1"/>
          <p:nvPr/>
        </p:nvSpPr>
        <p:spPr>
          <a:xfrm>
            <a:off x="4562856"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٥ أكتوبر • تكامل الرحلة</a:t>
            </a:r>
          </a:p>
        </p:txBody>
      </p:sp>
      <p:sp>
        <p:nvSpPr>
          <p:cNvPr id="17" name="TextBox 16"/>
          <p:cNvSpPr txBox="1"/>
          <p:nvPr/>
        </p:nvSpPr>
        <p:spPr>
          <a:xfrm>
            <a:off x="4562856"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ربط التسميع والشرح المسند والإحالة النصية؛ تجربة الحالات الأساسية.</a:t>
            </a:r>
          </a:p>
        </p:txBody>
      </p:sp>
      <p:sp>
        <p:nvSpPr>
          <p:cNvPr id="18" name="Rounded Rectangle 17"/>
          <p:cNvSpPr/>
          <p:nvPr/>
        </p:nvSpPr>
        <p:spPr>
          <a:xfrm>
            <a:off x="667512" y="2560320"/>
            <a:ext cx="3456432" cy="2852928"/>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2743200"/>
            <a:ext cx="3090672" cy="585216"/>
          </a:xfrm>
          <a:prstGeom prst="rect">
            <a:avLst/>
          </a:prstGeom>
          <a:noFill/>
        </p:spPr>
        <p:txBody>
          <a:bodyPr wrap="square" lIns="22860" rIns="22860" tIns="22860" bIns="22860" anchor="t">
            <a:spAutoFit/>
          </a:bodyPr>
          <a:lstStyle/>
          <a:p>
            <a:pPr algn="r" rtl="1">
              <a:lnSpc>
                <a:spcPct val="112000"/>
              </a:lnSpc>
              <a:spcAft>
                <a:spcPts val="700"/>
              </a:spcAft>
            </a:pPr>
            <a:r>
              <a:rPr sz="3000" b="1" lang="ar-SA">
                <a:solidFill>
                  <a:srgbClr val="994703"/>
                </a:solidFill>
                <a:latin typeface="Cairo"/>
                <a:cs typeface="Cairo"/>
                <a:ea typeface="Cairo"/>
              </a:rPr>
              <a:t>اليوم ٣</a:t>
            </a:r>
          </a:p>
        </p:txBody>
      </p:sp>
      <p:sp>
        <p:nvSpPr>
          <p:cNvPr id="20" name="TextBox 19"/>
          <p:cNvSpPr txBox="1"/>
          <p:nvPr/>
        </p:nvSpPr>
        <p:spPr>
          <a:xfrm>
            <a:off x="850392" y="3456432"/>
            <a:ext cx="3090672" cy="548640"/>
          </a:xfrm>
          <a:prstGeom prst="rect">
            <a:avLst/>
          </a:prstGeom>
          <a:noFill/>
        </p:spPr>
        <p:txBody>
          <a:bodyPr wrap="square" lIns="22860" rIns="22860" tIns="22860" bIns="22860" anchor="t">
            <a:spAutoFit/>
          </a:bodyPr>
          <a:lstStyle/>
          <a:p>
            <a:pPr algn="r" rtl="1">
              <a:lnSpc>
                <a:spcPct val="112000"/>
              </a:lnSpc>
              <a:spcAft>
                <a:spcPts val="700"/>
              </a:spcAft>
            </a:pPr>
            <a:r>
              <a:rPr sz="1600" b="1" lang="ar-SA">
                <a:solidFill>
                  <a:srgbClr val="6D4C3D"/>
                </a:solidFill>
                <a:latin typeface="Cairo"/>
                <a:cs typeface="Cairo"/>
                <a:ea typeface="Cairo"/>
              </a:rPr>
              <a:t>٦ أكتوبر • اختبار وتسليم</a:t>
            </a:r>
          </a:p>
        </p:txBody>
      </p:sp>
      <p:sp>
        <p:nvSpPr>
          <p:cNvPr id="21" name="TextBox 20"/>
          <p:cNvSpPr txBox="1"/>
          <p:nvPr/>
        </p:nvSpPr>
        <p:spPr>
          <a:xfrm>
            <a:off x="850392" y="4123944"/>
            <a:ext cx="3090672" cy="1197863"/>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مراجعة علمية وتجربة مستخدم؛ إصلاح العوائق وتوثيق التشغيل والحدود.</a:t>
            </a:r>
          </a:p>
        </p:txBody>
      </p:sp>
      <p:sp>
        <p:nvSpPr>
          <p:cNvPr id="22" name="TextBox 21"/>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نطاق التحدي: رحلة مكتملة محدودة المحتوى؛ بقية المتون والاختبارات والتوسع مراحل لاحقة.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9F3"/>
        </a:solidFill>
        <a:effectLst/>
      </p:bgPr>
    </p:bg>
    <p:spTree>
      <p:nvGrpSpPr>
        <p:cNvPr id="1" name=""/>
        <p:cNvGrpSpPr/>
        <p:nvPr/>
      </p:nvGrpSpPr>
      <p:grpSpPr/>
      <p:sp>
        <p:nvSpPr>
          <p:cNvPr id="2" name="TextBox 1"/>
          <p:cNvSpPr txBox="1"/>
          <p:nvPr/>
        </p:nvSpPr>
        <p:spPr>
          <a:xfrm>
            <a:off x="64922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200" b="0" lang="ar-SA">
                <a:solidFill>
                  <a:srgbClr val="6D4C3D"/>
                </a:solidFill>
                <a:latin typeface="Cairo"/>
                <a:cs typeface="Cairo"/>
                <a:ea typeface="Cairo"/>
              </a:rPr>
              <a:t>منصة مَتِين  |  المسار المفتوح</a:t>
            </a:r>
          </a:p>
        </p:txBody>
      </p:sp>
      <p:sp>
        <p:nvSpPr>
          <p:cNvPr id="3" name="TextBox 2"/>
          <p:cNvSpPr txBox="1"/>
          <p:nvPr/>
        </p:nvSpPr>
        <p:spPr>
          <a:xfrm>
            <a:off x="548640" y="246888"/>
            <a:ext cx="5120640" cy="320040"/>
          </a:xfrm>
          <a:prstGeom prst="rect">
            <a:avLst/>
          </a:prstGeom>
          <a:noFill/>
        </p:spPr>
        <p:txBody>
          <a:bodyPr wrap="square" lIns="22860" rIns="22860" tIns="22860" bIns="22860" anchor="t">
            <a:spAutoFit/>
          </a:bodyPr>
          <a:lstStyle/>
          <a:p>
            <a:pPr algn="r" rtl="1">
              <a:lnSpc>
                <a:spcPct val="112000"/>
              </a:lnSpc>
              <a:spcAft>
                <a:spcPts val="700"/>
              </a:spcAft>
            </a:pPr>
            <a:r>
              <a:rPr sz="1100" b="0" lang="ar-SA">
                <a:solidFill>
                  <a:srgbClr val="6D4C3D"/>
                </a:solidFill>
                <a:latin typeface="Cairo"/>
                <a:cs typeface="Cairo"/>
                <a:ea typeface="Cairo"/>
              </a:rPr>
              <a:t>مقترح فكرة • التسجيل ٢٠٢٦</a:t>
            </a:r>
          </a:p>
        </p:txBody>
      </p:sp>
      <p:sp>
        <p:nvSpPr>
          <p:cNvPr id="4" name="Rectangle 3"/>
          <p:cNvSpPr/>
          <p:nvPr/>
        </p:nvSpPr>
        <p:spPr>
          <a:xfrm>
            <a:off x="548640" y="795528"/>
            <a:ext cx="11091672" cy="13716"/>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87552"/>
            <a:ext cx="10972800" cy="347472"/>
          </a:xfrm>
          <a:prstGeom prst="rect">
            <a:avLst/>
          </a:prstGeom>
          <a:noFill/>
        </p:spPr>
        <p:txBody>
          <a:bodyPr wrap="square" lIns="22860" rIns="22860" tIns="22860" bIns="22860" anchor="t">
            <a:spAutoFit/>
          </a:bodyPr>
          <a:lstStyle/>
          <a:p>
            <a:pPr algn="r" rtl="1">
              <a:lnSpc>
                <a:spcPct val="112000"/>
              </a:lnSpc>
              <a:spcAft>
                <a:spcPts val="700"/>
              </a:spcAft>
            </a:pPr>
            <a:r>
              <a:rPr sz="1300" b="0" lang="ar-SA">
                <a:solidFill>
                  <a:srgbClr val="994703"/>
                </a:solidFill>
                <a:latin typeface="Cairo"/>
                <a:cs typeface="Cairo"/>
                <a:ea typeface="Cairo"/>
              </a:rPr>
              <a:t>من فكرة مدعومة بالاحتياج إلى حل محدود النطاق</a:t>
            </a:r>
          </a:p>
        </p:txBody>
      </p:sp>
      <p:sp>
        <p:nvSpPr>
          <p:cNvPr id="6" name="TextBox 5"/>
          <p:cNvSpPr txBox="1"/>
          <p:nvPr/>
        </p:nvSpPr>
        <p:spPr>
          <a:xfrm>
            <a:off x="594360" y="1517904"/>
            <a:ext cx="10972800" cy="758952"/>
          </a:xfrm>
          <a:prstGeom prst="rect">
            <a:avLst/>
          </a:prstGeom>
          <a:noFill/>
        </p:spPr>
        <p:txBody>
          <a:bodyPr wrap="square" lIns="22860" rIns="22860" tIns="22860" bIns="22860" anchor="t">
            <a:spAutoFit/>
          </a:bodyPr>
          <a:lstStyle/>
          <a:p>
            <a:pPr algn="r" rtl="1">
              <a:lnSpc>
                <a:spcPct val="112000"/>
              </a:lnSpc>
              <a:spcAft>
                <a:spcPts val="700"/>
              </a:spcAft>
            </a:pPr>
            <a:r>
              <a:rPr sz="2900" b="1" lang="ar-SA">
                <a:solidFill>
                  <a:srgbClr val="6D4C3D"/>
                </a:solidFill>
                <a:latin typeface="Kufam"/>
                <a:cs typeface="Kufam"/>
                <a:ea typeface="Kufam"/>
              </a:rPr>
              <a:t>خطة واضحة للمسؤوليات والتسليم</a:t>
            </a:r>
          </a:p>
        </p:txBody>
      </p:sp>
      <p:sp>
        <p:nvSpPr>
          <p:cNvPr id="7" name="Rectangle 6"/>
          <p:cNvSpPr/>
          <p:nvPr/>
        </p:nvSpPr>
        <p:spPr>
          <a:xfrm>
            <a:off x="548640" y="6382512"/>
            <a:ext cx="11091672" cy="10972"/>
          </a:xfrm>
          <a:prstGeom prst="rect">
            <a:avLst/>
          </a:prstGeom>
          <a:solidFill>
            <a:srgbClr val="994703"/>
          </a:solidFill>
          <a:ln w="6350">
            <a:solidFill>
              <a:srgbClr val="994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6473952"/>
            <a:ext cx="10469880" cy="228600"/>
          </a:xfrm>
          <a:prstGeom prst="rect">
            <a:avLst/>
          </a:prstGeom>
          <a:noFill/>
        </p:spPr>
        <p:txBody>
          <a:bodyPr wrap="square" lIns="22860" rIns="22860" tIns="22860" bIns="22860" anchor="t">
            <a:spAutoFit/>
          </a:bodyPr>
          <a:lstStyle/>
          <a:p>
            <a:pPr algn="r" rtl="1">
              <a:lnSpc>
                <a:spcPct val="112000"/>
              </a:lnSpc>
              <a:spcAft>
                <a:spcPts val="700"/>
              </a:spcAft>
            </a:pPr>
            <a:r>
              <a:rPr sz="900" b="0" lang="ar-SA">
                <a:solidFill>
                  <a:srgbClr val="6D4C3D"/>
                </a:solidFill>
                <a:latin typeface="Cairo"/>
                <a:cs typeface="Cairo"/>
                <a:ea typeface="Cairo"/>
              </a:rPr>
              <a:t>تحدي الذكاء الاصطناعي في خدمة المحتوى الإسلامي ٢٠٢٦</a:t>
            </a:r>
          </a:p>
        </p:txBody>
      </p:sp>
      <p:sp>
        <p:nvSpPr>
          <p:cNvPr id="9" name="TextBox 8"/>
          <p:cNvSpPr txBox="1"/>
          <p:nvPr/>
        </p:nvSpPr>
        <p:spPr>
          <a:xfrm>
            <a:off x="566928" y="6464808"/>
            <a:ext cx="594360" cy="256032"/>
          </a:xfrm>
          <a:prstGeom prst="rect">
            <a:avLst/>
          </a:prstGeom>
          <a:noFill/>
        </p:spPr>
        <p:txBody>
          <a:bodyPr wrap="square" lIns="22860" rIns="22860" tIns="22860" bIns="22860" anchor="t">
            <a:spAutoFit/>
          </a:bodyPr>
          <a:lstStyle/>
          <a:p>
            <a:pPr algn="l" rtl="0">
              <a:lnSpc>
                <a:spcPct val="112000"/>
              </a:lnSpc>
              <a:spcAft>
                <a:spcPts val="700"/>
              </a:spcAft>
            </a:pPr>
            <a:r>
              <a:rPr sz="900" b="0" lang="en-US">
                <a:solidFill>
                  <a:srgbClr val="6D4C3D"/>
                </a:solidFill>
                <a:latin typeface="Cairo"/>
                <a:cs typeface="Cairo"/>
                <a:ea typeface="Cairo"/>
              </a:rPr>
              <a:t>10 / 10</a:t>
            </a:r>
          </a:p>
        </p:txBody>
      </p:sp>
      <p:sp>
        <p:nvSpPr>
          <p:cNvPr id="10" name="Rounded Rectangle 9"/>
          <p:cNvSpPr/>
          <p:nvPr/>
        </p:nvSpPr>
        <p:spPr>
          <a:xfrm>
            <a:off x="6245352" y="2560320"/>
            <a:ext cx="5303520" cy="2871216"/>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تغطية المهام المقترحة</a:t>
            </a:r>
          </a:p>
        </p:txBody>
      </p:sp>
      <p:sp>
        <p:nvSpPr>
          <p:cNvPr id="12" name="TextBox 11"/>
          <p:cNvSpPr txBox="1"/>
          <p:nvPr/>
        </p:nvSpPr>
        <p:spPr>
          <a:xfrm>
            <a:off x="6428232" y="3410712"/>
            <a:ext cx="4937759" cy="1929384"/>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الصوت والبحث والتقييم: مسؤول التقنية.</a:t>
            </a:r>
          </a:p>
          <a:p>
            <a:pPr algn="r" rtl="1">
              <a:lnSpc>
                <a:spcPct val="112000"/>
              </a:lnSpc>
              <a:spcAft>
                <a:spcPts val="700"/>
              </a:spcAft>
            </a:pPr>
            <a:r>
              <a:rPr sz="2000" b="0" lang="ar-SA">
                <a:solidFill>
                  <a:srgbClr val="2A1F1A"/>
                </a:solidFill>
                <a:latin typeface="Noto Naskh Arabic"/>
                <a:cs typeface="Noto Naskh Arabic"/>
                <a:ea typeface="Noto Naskh Arabic"/>
              </a:rPr>
              <a:t>رحلة التعلم وربط الخدمات: مسؤول التجربة.</a:t>
            </a:r>
          </a:p>
          <a:p>
            <a:pPr algn="r" rtl="1">
              <a:lnSpc>
                <a:spcPct val="112000"/>
              </a:lnSpc>
              <a:spcAft>
                <a:spcPts val="700"/>
              </a:spcAft>
            </a:pPr>
            <a:r>
              <a:rPr sz="2000" b="0" lang="ar-SA">
                <a:solidFill>
                  <a:srgbClr val="2A1F1A"/>
                </a:solidFill>
                <a:latin typeface="Noto Naskh Arabic"/>
                <a:cs typeface="Noto Naskh Arabic"/>
                <a:ea typeface="Noto Naskh Arabic"/>
              </a:rPr>
              <a:t>اعتماد المصادر والتدقيق: المختص العلمي.</a:t>
            </a:r>
          </a:p>
        </p:txBody>
      </p:sp>
      <p:sp>
        <p:nvSpPr>
          <p:cNvPr id="13" name="Rounded Rectangle 12"/>
          <p:cNvSpPr/>
          <p:nvPr/>
        </p:nvSpPr>
        <p:spPr>
          <a:xfrm>
            <a:off x="667512" y="2560320"/>
            <a:ext cx="5303520" cy="2871216"/>
          </a:xfrm>
          <a:prstGeom prst="roundRect">
            <a:avLst>
              <a:gd name="adj" fmla="val 10000"/>
            </a:avLst>
          </a:prstGeom>
          <a:solidFill>
            <a:srgbClr val="F4EDE2"/>
          </a:solidFill>
          <a:ln w="6350">
            <a:solidFill>
              <a:srgbClr val="6D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743200"/>
            <a:ext cx="4937759" cy="548640"/>
          </a:xfrm>
          <a:prstGeom prst="rect">
            <a:avLst/>
          </a:prstGeom>
          <a:noFill/>
        </p:spPr>
        <p:txBody>
          <a:bodyPr wrap="square" lIns="22860" rIns="22860" tIns="22860" bIns="22860" anchor="t">
            <a:spAutoFit/>
          </a:bodyPr>
          <a:lstStyle/>
          <a:p>
            <a:pPr algn="r" rtl="1">
              <a:lnSpc>
                <a:spcPct val="112000"/>
              </a:lnSpc>
              <a:spcAft>
                <a:spcPts val="700"/>
              </a:spcAft>
            </a:pPr>
            <a:r>
              <a:rPr sz="1800" b="1" lang="ar-SA">
                <a:solidFill>
                  <a:srgbClr val="6D4C3D"/>
                </a:solidFill>
                <a:latin typeface="Cairo"/>
                <a:cs typeface="Cairo"/>
                <a:ea typeface="Cairo"/>
              </a:rPr>
              <a:t>مخرجات مستهدفة بنهاية التحدي</a:t>
            </a:r>
          </a:p>
        </p:txBody>
      </p:sp>
      <p:sp>
        <p:nvSpPr>
          <p:cNvPr id="15" name="TextBox 14"/>
          <p:cNvSpPr txBox="1"/>
          <p:nvPr/>
        </p:nvSpPr>
        <p:spPr>
          <a:xfrm>
            <a:off x="850392" y="3410712"/>
            <a:ext cx="4937759" cy="1929384"/>
          </a:xfrm>
          <a:prstGeom prst="rect">
            <a:avLst/>
          </a:prstGeom>
          <a:noFill/>
        </p:spPr>
        <p:txBody>
          <a:bodyPr wrap="square" lIns="22860" rIns="22860" tIns="22860" bIns="22860" anchor="t">
            <a:spAutoFit/>
          </a:bodyPr>
          <a:lstStyle/>
          <a:p>
            <a:pPr algn="r" rtl="1">
              <a:lnSpc>
                <a:spcPct val="112000"/>
              </a:lnSpc>
              <a:spcAft>
                <a:spcPts val="700"/>
              </a:spcAft>
            </a:pPr>
            <a:r>
              <a:rPr sz="2000" b="0" lang="ar-SA">
                <a:solidFill>
                  <a:srgbClr val="2A1F1A"/>
                </a:solidFill>
                <a:latin typeface="Noto Naskh Arabic"/>
                <a:cs typeface="Noto Naskh Arabic"/>
                <a:ea typeface="Noto Naskh Arabic"/>
              </a:rPr>
              <a:t>حل يعمل، ورابط تجربة قابل للتحقق.</a:t>
            </a:r>
          </a:p>
          <a:p>
            <a:pPr algn="r" rtl="1">
              <a:lnSpc>
                <a:spcPct val="112000"/>
              </a:lnSpc>
              <a:spcAft>
                <a:spcPts val="700"/>
              </a:spcAft>
            </a:pPr>
            <a:r>
              <a:rPr sz="2000" b="0" lang="ar-SA">
                <a:solidFill>
                  <a:srgbClr val="2A1F1A"/>
                </a:solidFill>
                <a:latin typeface="Noto Naskh Arabic"/>
                <a:cs typeface="Noto Naskh Arabic"/>
                <a:ea typeface="Noto Naskh Arabic"/>
              </a:rPr>
              <a:t>مستودع عام وتراخيص ودليل تشغيل.</a:t>
            </a:r>
          </a:p>
          <a:p>
            <a:pPr algn="r" rtl="1">
              <a:lnSpc>
                <a:spcPct val="112000"/>
              </a:lnSpc>
              <a:spcAft>
                <a:spcPts val="700"/>
              </a:spcAft>
            </a:pPr>
            <a:r>
              <a:rPr sz="2000" b="0" lang="ar-SA">
                <a:solidFill>
                  <a:srgbClr val="2A1F1A"/>
                </a:solidFill>
                <a:latin typeface="Noto Naskh Arabic"/>
                <a:cs typeface="Noto Naskh Arabic"/>
                <a:ea typeface="Noto Naskh Arabic"/>
              </a:rPr>
              <a:t>فيديو حتى دقيقتين وعرض وسجل اختبارات.</a:t>
            </a:r>
          </a:p>
        </p:txBody>
      </p:sp>
      <p:sp>
        <p:nvSpPr>
          <p:cNvPr id="16" name="TextBox 15"/>
          <p:cNvSpPr txBox="1"/>
          <p:nvPr/>
        </p:nvSpPr>
        <p:spPr>
          <a:xfrm>
            <a:off x="640080" y="5687568"/>
            <a:ext cx="10908792" cy="539496"/>
          </a:xfrm>
          <a:prstGeom prst="rect">
            <a:avLst/>
          </a:prstGeom>
          <a:noFill/>
        </p:spPr>
        <p:txBody>
          <a:bodyPr wrap="square" lIns="22860" rIns="22860" tIns="22860" bIns="22860" anchor="t">
            <a:spAutoFit/>
          </a:bodyPr>
          <a:lstStyle/>
          <a:p>
            <a:pPr algn="r" rtl="1">
              <a:lnSpc>
                <a:spcPct val="112000"/>
              </a:lnSpc>
              <a:spcAft>
                <a:spcPts val="700"/>
              </a:spcAft>
            </a:pPr>
            <a:r>
              <a:rPr sz="1700" b="0" lang="ar-SA">
                <a:solidFill>
                  <a:srgbClr val="4E3A00"/>
                </a:solidFill>
                <a:latin typeface="Noto Naskh Arabic"/>
                <a:cs typeface="Noto Naskh Arabic"/>
                <a:ea typeface="Noto Naskh Arabic"/>
              </a:rPr>
              <a:t>مَتِين: نريد أن نعالج عوائق الحفظ والفهم، دون فصل المتعلم عن المصدر والمختص.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منصة مَتِين — مقترح فكرة للتسجيل</dc:title>
  <dc:subject>المسار المفتوح — تحدي المحتوى الإسلامي 2026</dc:subject>
  <dc:creator>منصة مَتِين</dc:creator>
  <cp:keywords>مقترح فكرة، المتون، التسجيل، المسار المفتوح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