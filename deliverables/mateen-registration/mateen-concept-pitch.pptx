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افتتاح مقترح: مَتِين ليست فكرة لإضافة كتاب آخر؛ بل لربط ما يحتاجه الطالب أثناء الدراسة: التسميع، وفهم العبارة، والوصول إلى المختص. نقدم تصوراً وخطة اختبار، لا نتائج تشغيل. لا ندعي الأسبقية السوقية أو ضمان تصحيح النطق والتشكيل.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البيانات لا تقول إن كل طالب يعاني من كل مشكلة. الأسئلة متعددة الاختيارات؛ لا تجمع النسب. 47 مشاركاً يدرسون متوناً أو منظومات و13 لا يدرسونها حالياً. خمس استجابات للسؤال الثاني تجاوزت اختيار عائقين؛ احتسبت كما وردت دون حذف صامت. لم تُنشر بيانات تعريفية.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رحلة مفاهيمية وليست واجهة منتج. نبدأ بصحة الكلمات، لا تقييم مخارج الحروف أو الحركات. النتائج غير الواضحة تستدعي إعادة المقطع. الإحالة بموافقة الطالب وبالحد الأدنى من السياق؛ لا استنتاج لسمات دينية حساسة. مظهر فاتح وداكن، دون صور أو أيقونات لذوات الأرواح.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خطة الموثوقية تمثل 20% من الترشيح. اختيار المحتوى من حزمة التحدي مع تدقيق الحقوق والطبعات والنص المستخرج؛ الكتاب والجزء والصفحة المطبوع لا رقم PDF بلا تمييز. اختبار المرجع المفقود والتعارض والسؤال خارج النطاق والفتوى. مراجعة علمية بشرية. الدليل يشير إلى مستويات محتوى أربعة دون تفصيلها في الملف؛ تُراجع الوثائق المنظمة عند إتاحتها.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المقارنة بالكلمات منطق محدد لا قرار نموذج لغوي منفرد. نماذج الصوت خلف واجهة قابلة للاستبدال. الاسترجاع بحث نصي ودلالي وpgvector عند توافره. تدريب أو تكييف نموذج لا يُفترض ضرورياً خلال أيام التحدي؛ يقرر لاحقاً ببيانات مأذونة وقياسات تثبت الحاجة. فشل المزود لا يولد نجاحاً وهمياً.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ص12 من دليل المشارك يجيز للمفتوح جمع أكثر من مسار مع مشكلة وجمهور وأثر محدد. لا نضمن قبول التصنيف. نختار الممارسة الحالية معياراً للمقارنة دون الادعاء بتفوق على منتجات لم تختبر أو بعدم امتلاكها وظائف معينة. الفرضية: الربط يختصر الوصول إلى الفهم الصحيح؛ نختبرها ولا نفترضها.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خطة مقترحة مشروطة بالقبول وتوافر المصدر المرخص والمراجعة. مرشح من المحتوى المعتمد: الأربعون النووية؛ ليس اعتماداً لطبعة أو شرح قبل مراجعته. تؤجل بقية المحتويات والاختبارات الشاملة والتشكيل والنطق. بديل الصوت: مزود آخر أو معالجة التسجيل بعد انتهائه مع توضيح التأخير. عند عدم توافر معلم تعرض حالة الانتظار الحقيقية. مسؤولية المحتوى والتجربة لعبد الرحمن، والنماذج والخادم لمالك. لا تدريب من الصفر بوصفه شرطاً لهذه الأيام.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نطلب تجربة مضبوطة محدودة وليست إثبات أثر طويل الأجل. الحالات الحرجة: غياب المرجع، تعارضه، سؤال خارج النطاق، وطلب فتوى. يقيم المحتوى بمراجعة بشرية وفق إجابات مرجعية. يُقاس كذلك إتمام رحلة التسميع والشرح أو الإحالة. توثق النتائج والقيود والأخطاء، ولا تُستبدل بالمستهدفات الدعائية 95% أو 300ms.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الأسماء والمسؤوليات كما قدمها الفريق، دون اختراع مؤهلات أو خبرات سابقة. تطوير النماذج وتدريبها مسؤولية مالك؛ لا يعني ذلك التزاماً بتدريب نموذج من الصفر في ثلاثة أيام. تُطلب الاستعانة بالإرشاد العلمي في التحدي، دون الادعاء بأن الفريق يضم مستشاراً شرعياً مستقلاً. المهمة المضافة «ربط المكونات» توضيح لنطاق تطوير الخادم لا اعتماد خبرة جديدة.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مخرجات مستقبلية لنهاية التحدي وليست روابط أو مواد جاهزة الآن. خطة التشغيل تشمل تكلفة مزود الصوت والنموذج والتخزين والاستضافة والمراجعة العلمية؛ تقديراتها تُبنى على القياس، لا وعد بالمجانية. توافر خدمة WebSocket أثناء التحكيم وتجنب الخمول. توزيع الصيانة: مالك للخدمات والنماذج، وعبد الرحمن للمحتوى والتجربة. هذا العرض لا يستعرض أعمال تطوير ولا يقرر عدم وجودها؛ أي إفصاح تطلبه بوابة التسجيل عن نسخة البداية والحقوق يظل واجباً وفق ص43 من الدليل.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حفظ المتون والمنظومات الشرعية • فهمها • مراجعتها</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01</a:t>
            </a:r>
          </a:p>
        </p:txBody>
      </p:sp>
      <p:sp>
        <p:nvSpPr>
          <p:cNvPr id="8" name="Rectangle 7"/>
          <p:cNvSpPr/>
          <p:nvPr/>
        </p:nvSpPr>
        <p:spPr>
          <a:xfrm>
            <a:off x="0" y="1417320"/>
            <a:ext cx="4297680" cy="4754880"/>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65376"/>
            <a:ext cx="3017520" cy="594360"/>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FDF9F3"/>
                </a:solidFill>
                <a:latin typeface="Kufam"/>
                <a:cs typeface="Kufam"/>
                <a:ea typeface="Kufam"/>
              </a:rPr>
              <a:t>أحفظ</a:t>
            </a:r>
          </a:p>
        </p:txBody>
      </p:sp>
      <p:sp>
        <p:nvSpPr>
          <p:cNvPr id="10" name="TextBox 9"/>
          <p:cNvSpPr txBox="1"/>
          <p:nvPr/>
        </p:nvSpPr>
        <p:spPr>
          <a:xfrm>
            <a:off x="621792" y="2505456"/>
            <a:ext cx="3017520" cy="39319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F4EDE2"/>
                </a:solidFill>
                <a:latin typeface="Noto Naskh Arabic"/>
                <a:cs typeface="Noto Naskh Arabic"/>
                <a:ea typeface="Noto Naskh Arabic"/>
              </a:rPr>
              <a:t>أعرف أين أخطأت.</a:t>
            </a:r>
          </a:p>
        </p:txBody>
      </p:sp>
      <p:sp>
        <p:nvSpPr>
          <p:cNvPr id="11" name="TextBox 10"/>
          <p:cNvSpPr txBox="1"/>
          <p:nvPr/>
        </p:nvSpPr>
        <p:spPr>
          <a:xfrm>
            <a:off x="621792" y="3108960"/>
            <a:ext cx="3017520" cy="594360"/>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FDF9F3"/>
                </a:solidFill>
                <a:latin typeface="Kufam"/>
                <a:cs typeface="Kufam"/>
                <a:ea typeface="Kufam"/>
              </a:rPr>
              <a:t>أفهم</a:t>
            </a:r>
          </a:p>
        </p:txBody>
      </p:sp>
      <p:sp>
        <p:nvSpPr>
          <p:cNvPr id="12" name="TextBox 11"/>
          <p:cNvSpPr txBox="1"/>
          <p:nvPr/>
        </p:nvSpPr>
        <p:spPr>
          <a:xfrm>
            <a:off x="621792" y="3749040"/>
            <a:ext cx="3017520" cy="39319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F4EDE2"/>
                </a:solidFill>
                <a:latin typeface="Noto Naskh Arabic"/>
                <a:cs typeface="Noto Naskh Arabic"/>
                <a:ea typeface="Noto Naskh Arabic"/>
              </a:rPr>
              <a:t>أعود إلى مصدر واضح.</a:t>
            </a:r>
          </a:p>
        </p:txBody>
      </p:sp>
      <p:sp>
        <p:nvSpPr>
          <p:cNvPr id="13" name="TextBox 12"/>
          <p:cNvSpPr txBox="1"/>
          <p:nvPr/>
        </p:nvSpPr>
        <p:spPr>
          <a:xfrm>
            <a:off x="621792" y="4352544"/>
            <a:ext cx="3017520" cy="594360"/>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FDF9F3"/>
                </a:solidFill>
                <a:latin typeface="Kufam"/>
                <a:cs typeface="Kufam"/>
                <a:ea typeface="Kufam"/>
              </a:rPr>
              <a:t>أسأل</a:t>
            </a:r>
          </a:p>
        </p:txBody>
      </p:sp>
      <p:sp>
        <p:nvSpPr>
          <p:cNvPr id="14" name="TextBox 13"/>
          <p:cNvSpPr txBox="1"/>
          <p:nvPr/>
        </p:nvSpPr>
        <p:spPr>
          <a:xfrm>
            <a:off x="621792" y="4992624"/>
            <a:ext cx="3017520" cy="39319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F4EDE2"/>
                </a:solidFill>
                <a:latin typeface="Noto Naskh Arabic"/>
                <a:cs typeface="Noto Naskh Arabic"/>
                <a:ea typeface="Noto Naskh Arabic"/>
              </a:rPr>
              <a:t>أصل إلى التوجيه البشري.</a:t>
            </a:r>
          </a:p>
        </p:txBody>
      </p:sp>
      <p:pic>
        <p:nvPicPr>
          <p:cNvPr id="15" name="Picture 14" descr="mateen-logo.png"/>
          <p:cNvPicPr>
            <a:picLocks noChangeAspect="1"/>
          </p:cNvPicPr>
          <p:nvPr/>
        </p:nvPicPr>
        <p:blipFill>
          <a:blip r:embed="rId2"/>
          <a:stretch>
            <a:fillRect/>
          </a:stretch>
        </p:blipFill>
        <p:spPr>
          <a:xfrm>
            <a:off x="9189720" y="1618488"/>
            <a:ext cx="2240280" cy="1033698"/>
          </a:xfrm>
          <a:prstGeom prst="rect">
            <a:avLst/>
          </a:prstGeom>
        </p:spPr>
      </p:pic>
      <p:sp>
        <p:nvSpPr>
          <p:cNvPr id="16" name="TextBox 15"/>
          <p:cNvSpPr txBox="1"/>
          <p:nvPr/>
        </p:nvSpPr>
        <p:spPr>
          <a:xfrm>
            <a:off x="4800600" y="2788920"/>
            <a:ext cx="6537960" cy="1645920"/>
          </a:xfrm>
          <a:prstGeom prst="rect">
            <a:avLst/>
          </a:prstGeom>
          <a:noFill/>
        </p:spPr>
        <p:txBody>
          <a:bodyPr wrap="square" lIns="13716" rIns="13716" tIns="0" bIns="0">
            <a:spAutoFit/>
          </a:bodyPr>
          <a:lstStyle/>
          <a:p>
            <a:pPr algn="r" rtl="1">
              <a:lnSpc>
                <a:spcPct val="110000"/>
              </a:lnSpc>
              <a:spcAft>
                <a:spcPts val="600"/>
              </a:spcAft>
            </a:pPr>
            <a:r>
              <a:rPr sz="3800" b="1" lang="ar-SA">
                <a:solidFill>
                  <a:srgbClr val="6D4C3D"/>
                </a:solidFill>
                <a:latin typeface="Kufam"/>
                <a:cs typeface="Kufam"/>
                <a:ea typeface="Kufam"/>
              </a:rPr>
              <a:t>ليحفظ الطالب بثبات،</a:t>
            </a:r>
          </a:p>
          <a:p>
            <a:pPr algn="r" rtl="1">
              <a:lnSpc>
                <a:spcPct val="110000"/>
              </a:lnSpc>
              <a:spcAft>
                <a:spcPts val="600"/>
              </a:spcAft>
            </a:pPr>
            <a:r>
              <a:rPr sz="3800" b="1" lang="ar-SA">
                <a:solidFill>
                  <a:srgbClr val="6D4C3D"/>
                </a:solidFill>
                <a:latin typeface="Kufam"/>
                <a:cs typeface="Kufam"/>
                <a:ea typeface="Kufam"/>
              </a:rPr>
              <a:t>ويفهم بدليل.</a:t>
            </a:r>
          </a:p>
        </p:txBody>
      </p:sp>
      <p:sp>
        <p:nvSpPr>
          <p:cNvPr id="17" name="TextBox 16"/>
          <p:cNvSpPr txBox="1"/>
          <p:nvPr/>
        </p:nvSpPr>
        <p:spPr>
          <a:xfrm>
            <a:off x="4892040" y="4782312"/>
            <a:ext cx="6446520" cy="1024128"/>
          </a:xfrm>
          <a:prstGeom prst="rect">
            <a:avLst/>
          </a:prstGeom>
          <a:noFill/>
        </p:spPr>
        <p:txBody>
          <a:bodyPr wrap="square" lIns="13716" rIns="13716" tIns="0" bIns="0">
            <a:spAutoFit/>
          </a:bodyPr>
          <a:lstStyle/>
          <a:p>
            <a:pPr algn="r" rtl="1">
              <a:lnSpc>
                <a:spcPct val="110000"/>
              </a:lnSpc>
              <a:spcAft>
                <a:spcPts val="600"/>
              </a:spcAft>
            </a:pPr>
            <a:r>
              <a:rPr sz="2400" b="0" lang="ar-SA">
                <a:solidFill>
                  <a:srgbClr val="2A1F1A"/>
                </a:solidFill>
                <a:latin typeface="Noto Naskh Arabic"/>
                <a:cs typeface="Noto Naskh Arabic"/>
                <a:ea typeface="Noto Naskh Arabic"/>
              </a:rPr>
              <a:t>نقترح رحلة تجمع التسميع الذكي، والشرح المسند،</a:t>
            </a:r>
          </a:p>
          <a:p>
            <a:pPr algn="r" rtl="1">
              <a:lnSpc>
                <a:spcPct val="110000"/>
              </a:lnSpc>
              <a:spcAft>
                <a:spcPts val="600"/>
              </a:spcAft>
            </a:pPr>
            <a:r>
              <a:rPr sz="2400" b="0" lang="ar-SA">
                <a:solidFill>
                  <a:srgbClr val="2A1F1A"/>
                </a:solidFill>
                <a:latin typeface="Noto Naskh Arabic"/>
                <a:cs typeface="Noto Naskh Arabic"/>
                <a:ea typeface="Noto Naskh Arabic"/>
              </a:rPr>
              <a:t>والتوجيه البشري؛ بدلاً من ترك الطالب بينها منفرداً.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الاحتياج الميداني • ٦٠ استجابة</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استبيان الفريق، ١٨–٢٢ سبتمبر ٢٠٢٦، س٢–٣؛ المقام ٦٠. عينة استطلاعية غير ممثلة إحصائياً.</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02</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العائق ليس الحفظ وحده؛ بل الدراسة بلا تفاعل.</a:t>
            </a:r>
          </a:p>
        </p:txBody>
      </p:sp>
      <p:sp>
        <p:nvSpPr>
          <p:cNvPr id="9" name="Rounded Rectangle 8"/>
          <p:cNvSpPr/>
          <p:nvPr/>
        </p:nvSpPr>
        <p:spPr>
          <a:xfrm>
            <a:off x="640080" y="2624328"/>
            <a:ext cx="3794760" cy="3538728"/>
          </a:xfrm>
          <a:prstGeom prst="roundRect">
            <a:avLst>
              <a:gd name="adj" fmla="val 8000"/>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898648"/>
            <a:ext cx="3127248" cy="1143000"/>
          </a:xfrm>
          <a:prstGeom prst="rect">
            <a:avLst/>
          </a:prstGeom>
          <a:noFill/>
        </p:spPr>
        <p:txBody>
          <a:bodyPr wrap="square" lIns="13716" rIns="13716" tIns="0" bIns="0">
            <a:spAutoFit/>
          </a:bodyPr>
          <a:lstStyle/>
          <a:p>
            <a:pPr algn="r" rtl="1">
              <a:lnSpc>
                <a:spcPct val="110000"/>
              </a:lnSpc>
              <a:spcAft>
                <a:spcPts val="600"/>
              </a:spcAft>
            </a:pPr>
            <a:r>
              <a:rPr sz="7000" b="1" lang="ar-SA">
                <a:solidFill>
                  <a:srgbClr val="FDF9F3"/>
                </a:solidFill>
                <a:latin typeface="Cairo"/>
                <a:cs typeface="Cairo"/>
                <a:ea typeface="Cairo"/>
              </a:rPr>
              <a:t>٧٠٪</a:t>
            </a:r>
          </a:p>
        </p:txBody>
      </p:sp>
      <p:sp>
        <p:nvSpPr>
          <p:cNvPr id="11" name="TextBox 10"/>
          <p:cNvSpPr txBox="1"/>
          <p:nvPr/>
        </p:nvSpPr>
        <p:spPr>
          <a:xfrm>
            <a:off x="978408" y="4297680"/>
            <a:ext cx="3127248" cy="457200"/>
          </a:xfrm>
          <a:prstGeom prst="rect">
            <a:avLst/>
          </a:prstGeom>
          <a:noFill/>
        </p:spPr>
        <p:txBody>
          <a:bodyPr wrap="square" lIns="13716" rIns="13716" tIns="0" bIns="0">
            <a:spAutoFit/>
          </a:bodyPr>
          <a:lstStyle/>
          <a:p>
            <a:pPr algn="r" rtl="1">
              <a:lnSpc>
                <a:spcPct val="110000"/>
              </a:lnSpc>
              <a:spcAft>
                <a:spcPts val="600"/>
              </a:spcAft>
            </a:pPr>
            <a:r>
              <a:rPr sz="2300" b="1" lang="ar-SA">
                <a:solidFill>
                  <a:srgbClr val="FDF9F3"/>
                </a:solidFill>
                <a:latin typeface="Cairo"/>
                <a:cs typeface="Cairo"/>
                <a:ea typeface="Cairo"/>
              </a:rPr>
              <a:t>الملل وفقدان الحافز</a:t>
            </a:r>
          </a:p>
        </p:txBody>
      </p:sp>
      <p:sp>
        <p:nvSpPr>
          <p:cNvPr id="12" name="TextBox 11"/>
          <p:cNvSpPr txBox="1"/>
          <p:nvPr/>
        </p:nvSpPr>
        <p:spPr>
          <a:xfrm>
            <a:off x="978408" y="5056632"/>
            <a:ext cx="3127248" cy="822960"/>
          </a:xfrm>
          <a:prstGeom prst="rect">
            <a:avLst/>
          </a:prstGeom>
          <a:noFill/>
        </p:spPr>
        <p:txBody>
          <a:bodyPr wrap="square" lIns="13716" rIns="13716" tIns="0" bIns="0">
            <a:spAutoFit/>
          </a:bodyPr>
          <a:lstStyle/>
          <a:p>
            <a:pPr algn="r" rtl="1">
              <a:lnSpc>
                <a:spcPct val="110000"/>
              </a:lnSpc>
              <a:spcAft>
                <a:spcPts val="600"/>
              </a:spcAft>
            </a:pPr>
            <a:r>
              <a:rPr sz="2200" b="0" lang="ar-SA">
                <a:solidFill>
                  <a:srgbClr val="FDF9F3"/>
                </a:solidFill>
                <a:latin typeface="Noto Naskh Arabic"/>
                <a:cs typeface="Noto Naskh Arabic"/>
                <a:ea typeface="Noto Naskh Arabic"/>
              </a:rPr>
              <a:t>٤٢ من ٦٠ اختاروا غياب التفاعل</a:t>
            </a:r>
          </a:p>
          <a:p>
            <a:pPr algn="r" rtl="1">
              <a:lnSpc>
                <a:spcPct val="110000"/>
              </a:lnSpc>
              <a:spcAft>
                <a:spcPts val="600"/>
              </a:spcAft>
            </a:pPr>
            <a:r>
              <a:rPr sz="2200" b="0" lang="ar-SA">
                <a:solidFill>
                  <a:srgbClr val="FDF9F3"/>
                </a:solidFill>
                <a:latin typeface="Noto Naskh Arabic"/>
                <a:cs typeface="Noto Naskh Arabic"/>
                <a:ea typeface="Noto Naskh Arabic"/>
              </a:rPr>
              <a:t>ضمن عوائق الحفظ.</a:t>
            </a:r>
          </a:p>
        </p:txBody>
      </p:sp>
      <p:sp>
        <p:nvSpPr>
          <p:cNvPr id="13" name="TextBox 12"/>
          <p:cNvSpPr txBox="1"/>
          <p:nvPr/>
        </p:nvSpPr>
        <p:spPr>
          <a:xfrm>
            <a:off x="9281160" y="2779776"/>
            <a:ext cx="2212848" cy="768096"/>
          </a:xfrm>
          <a:prstGeom prst="rect">
            <a:avLst/>
          </a:prstGeom>
          <a:noFill/>
        </p:spPr>
        <p:txBody>
          <a:bodyPr wrap="square" lIns="13716" rIns="13716" tIns="0" bIns="0">
            <a:spAutoFit/>
          </a:bodyPr>
          <a:lstStyle/>
          <a:p>
            <a:pPr algn="r" rtl="1">
              <a:lnSpc>
                <a:spcPct val="110000"/>
              </a:lnSpc>
              <a:spcAft>
                <a:spcPts val="600"/>
              </a:spcAft>
            </a:pPr>
            <a:r>
              <a:rPr sz="3400" b="1" lang="ar-SA">
                <a:solidFill>
                  <a:srgbClr val="994703"/>
                </a:solidFill>
                <a:latin typeface="Cairo"/>
                <a:cs typeface="Cairo"/>
                <a:ea typeface="Cairo"/>
              </a:rPr>
              <a:t>٤٦٫٧٪</a:t>
            </a:r>
          </a:p>
        </p:txBody>
      </p:sp>
      <p:sp>
        <p:nvSpPr>
          <p:cNvPr id="14" name="TextBox 13"/>
          <p:cNvSpPr txBox="1"/>
          <p:nvPr/>
        </p:nvSpPr>
        <p:spPr>
          <a:xfrm>
            <a:off x="4846320" y="2862072"/>
            <a:ext cx="4069080" cy="457200"/>
          </a:xfrm>
          <a:prstGeom prst="rect">
            <a:avLst/>
          </a:prstGeom>
          <a:noFill/>
        </p:spPr>
        <p:txBody>
          <a:bodyPr wrap="square" lIns="13716" rIns="13716" tIns="0" bIns="0">
            <a:spAutoFit/>
          </a:bodyPr>
          <a:lstStyle/>
          <a:p>
            <a:pPr algn="r" rtl="1">
              <a:lnSpc>
                <a:spcPct val="110000"/>
              </a:lnSpc>
              <a:spcAft>
                <a:spcPts val="600"/>
              </a:spcAft>
            </a:pPr>
            <a:r>
              <a:rPr sz="2300" b="1" lang="ar-SA">
                <a:solidFill>
                  <a:srgbClr val="6D4C3D"/>
                </a:solidFill>
                <a:latin typeface="Cairo"/>
                <a:cs typeface="Cairo"/>
                <a:ea typeface="Cairo"/>
              </a:rPr>
              <a:t>شيخ متفرغ للتسميع</a:t>
            </a:r>
          </a:p>
        </p:txBody>
      </p:sp>
      <p:sp>
        <p:nvSpPr>
          <p:cNvPr id="15" name="TextBox 14"/>
          <p:cNvSpPr txBox="1"/>
          <p:nvPr/>
        </p:nvSpPr>
        <p:spPr>
          <a:xfrm>
            <a:off x="4846320" y="3593592"/>
            <a:ext cx="6620256" cy="594360"/>
          </a:xfrm>
          <a:prstGeom prst="rect">
            <a:avLst/>
          </a:prstGeom>
          <a:noFill/>
        </p:spPr>
        <p:txBody>
          <a:bodyPr wrap="square" lIns="13716" rIns="13716" tIns="0" bIns="0">
            <a:spAutoFit/>
          </a:bodyPr>
          <a:lstStyle/>
          <a:p>
            <a:pPr algn="r" rtl="1">
              <a:lnSpc>
                <a:spcPct val="110000"/>
              </a:lnSpc>
              <a:spcAft>
                <a:spcPts val="600"/>
              </a:spcAft>
            </a:pPr>
            <a:r>
              <a:rPr sz="2200" b="0" lang="ar-SA">
                <a:solidFill>
                  <a:srgbClr val="2A1F1A"/>
                </a:solidFill>
                <a:latin typeface="Noto Naskh Arabic"/>
                <a:cs typeface="Noto Naskh Arabic"/>
                <a:ea typeface="Noto Naskh Arabic"/>
              </a:rPr>
              <a:t>٢٨ من ٦٠ اختاروا صعوبة إيجاده.</a:t>
            </a:r>
          </a:p>
        </p:txBody>
      </p:sp>
      <p:sp>
        <p:nvSpPr>
          <p:cNvPr id="16" name="Rectangle 15"/>
          <p:cNvSpPr/>
          <p:nvPr/>
        </p:nvSpPr>
        <p:spPr>
          <a:xfrm>
            <a:off x="4846320" y="4178808"/>
            <a:ext cx="6629400" cy="13716"/>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4526280"/>
            <a:ext cx="2212848" cy="768096"/>
          </a:xfrm>
          <a:prstGeom prst="rect">
            <a:avLst/>
          </a:prstGeom>
          <a:noFill/>
        </p:spPr>
        <p:txBody>
          <a:bodyPr wrap="square" lIns="13716" rIns="13716" tIns="0" bIns="0">
            <a:spAutoFit/>
          </a:bodyPr>
          <a:lstStyle/>
          <a:p>
            <a:pPr algn="r" rtl="1">
              <a:lnSpc>
                <a:spcPct val="110000"/>
              </a:lnSpc>
              <a:spcAft>
                <a:spcPts val="600"/>
              </a:spcAft>
            </a:pPr>
            <a:r>
              <a:rPr sz="3400" b="1" lang="ar-SA">
                <a:solidFill>
                  <a:srgbClr val="994703"/>
                </a:solidFill>
                <a:latin typeface="Cairo"/>
                <a:cs typeface="Cairo"/>
                <a:ea typeface="Cairo"/>
              </a:rPr>
              <a:t>٥٠٪</a:t>
            </a:r>
          </a:p>
        </p:txBody>
      </p:sp>
      <p:sp>
        <p:nvSpPr>
          <p:cNvPr id="18" name="TextBox 17"/>
          <p:cNvSpPr txBox="1"/>
          <p:nvPr/>
        </p:nvSpPr>
        <p:spPr>
          <a:xfrm>
            <a:off x="4846320" y="4608576"/>
            <a:ext cx="4069080" cy="457200"/>
          </a:xfrm>
          <a:prstGeom prst="rect">
            <a:avLst/>
          </a:prstGeom>
          <a:noFill/>
        </p:spPr>
        <p:txBody>
          <a:bodyPr wrap="square" lIns="13716" rIns="13716" tIns="0" bIns="0">
            <a:spAutoFit/>
          </a:bodyPr>
          <a:lstStyle/>
          <a:p>
            <a:pPr algn="r" rtl="1">
              <a:lnSpc>
                <a:spcPct val="110000"/>
              </a:lnSpc>
              <a:spcAft>
                <a:spcPts val="600"/>
              </a:spcAft>
            </a:pPr>
            <a:r>
              <a:rPr sz="2300" b="1" lang="ar-SA">
                <a:solidFill>
                  <a:srgbClr val="6D4C3D"/>
                </a:solidFill>
                <a:latin typeface="Cairo"/>
                <a:cs typeface="Cairo"/>
                <a:ea typeface="Cairo"/>
              </a:rPr>
              <a:t>شروح طويلة ومشتتة</a:t>
            </a:r>
          </a:p>
        </p:txBody>
      </p:sp>
      <p:sp>
        <p:nvSpPr>
          <p:cNvPr id="19" name="TextBox 18"/>
          <p:cNvSpPr txBox="1"/>
          <p:nvPr/>
        </p:nvSpPr>
        <p:spPr>
          <a:xfrm>
            <a:off x="4846320" y="5340096"/>
            <a:ext cx="6620256" cy="594360"/>
          </a:xfrm>
          <a:prstGeom prst="rect">
            <a:avLst/>
          </a:prstGeom>
          <a:noFill/>
        </p:spPr>
        <p:txBody>
          <a:bodyPr wrap="square" lIns="13716" rIns="13716" tIns="0" bIns="0">
            <a:spAutoFit/>
          </a:bodyPr>
          <a:lstStyle/>
          <a:p>
            <a:pPr algn="r" rtl="1">
              <a:lnSpc>
                <a:spcPct val="110000"/>
              </a:lnSpc>
              <a:spcAft>
                <a:spcPts val="600"/>
              </a:spcAft>
            </a:pPr>
            <a:r>
              <a:rPr sz="2200" b="0" lang="ar-SA">
                <a:solidFill>
                  <a:srgbClr val="2A1F1A"/>
                </a:solidFill>
                <a:latin typeface="Noto Naskh Arabic"/>
                <a:cs typeface="Noto Naskh Arabic"/>
                <a:ea typeface="Noto Naskh Arabic"/>
              </a:rPr>
              <a:t>٣٠ من ٦٠ اختاروا هذا العائق للفهم.</a:t>
            </a:r>
          </a:p>
        </p:txBody>
      </p:sp>
      <p:sp>
        <p:nvSpPr>
          <p:cNvPr id="20" name="Rectangle 19"/>
          <p:cNvSpPr/>
          <p:nvPr/>
        </p:nvSpPr>
        <p:spPr>
          <a:xfrm>
            <a:off x="4846320" y="5925312"/>
            <a:ext cx="6629400" cy="13716"/>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الحل • جمهور أول: دارسو المتون التأسيسية</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03</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كل موضع تعثّر يقابله إجراء واضح.</a:t>
            </a:r>
          </a:p>
        </p:txBody>
      </p:sp>
      <p:sp>
        <p:nvSpPr>
          <p:cNvPr id="9" name="Rounded Rectangle 8"/>
          <p:cNvSpPr/>
          <p:nvPr/>
        </p:nvSpPr>
        <p:spPr>
          <a:xfrm>
            <a:off x="7973568" y="2715768"/>
            <a:ext cx="3538728" cy="295351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880360"/>
            <a:ext cx="3063240" cy="603504"/>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994703"/>
                </a:solidFill>
                <a:latin typeface="Cairo"/>
                <a:cs typeface="Cairo"/>
                <a:ea typeface="Cairo"/>
              </a:rPr>
              <a:t>٠١</a:t>
            </a:r>
          </a:p>
        </p:txBody>
      </p:sp>
      <p:sp>
        <p:nvSpPr>
          <p:cNvPr id="11" name="TextBox 10"/>
          <p:cNvSpPr txBox="1"/>
          <p:nvPr/>
        </p:nvSpPr>
        <p:spPr>
          <a:xfrm>
            <a:off x="8193024" y="3630168"/>
            <a:ext cx="3063240" cy="384048"/>
          </a:xfrm>
          <a:prstGeom prst="rect">
            <a:avLst/>
          </a:prstGeom>
          <a:noFill/>
        </p:spPr>
        <p:txBody>
          <a:bodyPr wrap="square" lIns="13716" rIns="13716" tIns="0" bIns="0">
            <a:spAutoFit/>
          </a:bodyPr>
          <a:lstStyle/>
          <a:p>
            <a:pPr algn="r" rtl="1">
              <a:lnSpc>
                <a:spcPct val="110000"/>
              </a:lnSpc>
              <a:spcAft>
                <a:spcPts val="600"/>
              </a:spcAft>
            </a:pPr>
            <a:r>
              <a:rPr sz="1600" b="0" lang="ar-SA">
                <a:solidFill>
                  <a:srgbClr val="994703"/>
                </a:solidFill>
                <a:latin typeface="Cairo"/>
                <a:cs typeface="Cairo"/>
                <a:ea typeface="Cairo"/>
              </a:rPr>
              <a:t>عند التسميع</a:t>
            </a:r>
          </a:p>
        </p:txBody>
      </p:sp>
      <p:sp>
        <p:nvSpPr>
          <p:cNvPr id="12" name="TextBox 11"/>
          <p:cNvSpPr txBox="1"/>
          <p:nvPr/>
        </p:nvSpPr>
        <p:spPr>
          <a:xfrm>
            <a:off x="8193024" y="4133087"/>
            <a:ext cx="3063240" cy="420624"/>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هل حفظت الكلمات صحيحة؟</a:t>
            </a:r>
          </a:p>
        </p:txBody>
      </p:sp>
      <p:sp>
        <p:nvSpPr>
          <p:cNvPr id="13" name="TextBox 12"/>
          <p:cNvSpPr txBox="1"/>
          <p:nvPr/>
        </p:nvSpPr>
        <p:spPr>
          <a:xfrm>
            <a:off x="8193024" y="4681728"/>
            <a:ext cx="3063240" cy="914400"/>
          </a:xfrm>
          <a:prstGeom prst="rect">
            <a:avLst/>
          </a:prstGeom>
          <a:noFill/>
        </p:spPr>
        <p:txBody>
          <a:bodyPr wrap="square" lIns="13716" rIns="13716" tIns="0" bIns="0">
            <a:spAutoFit/>
          </a:bodyPr>
          <a:lstStyle/>
          <a:p>
            <a:pPr algn="r" rtl="1">
              <a:lnSpc>
                <a:spcPct val="110000"/>
              </a:lnSpc>
              <a:spcAft>
                <a:spcPts val="600"/>
              </a:spcAft>
            </a:pPr>
            <a:r>
              <a:rPr sz="1900" b="0" lang="ar-SA">
                <a:solidFill>
                  <a:srgbClr val="2A1F1A"/>
                </a:solidFill>
                <a:latin typeface="Noto Naskh Arabic"/>
                <a:cs typeface="Noto Naskh Arabic"/>
                <a:ea typeface="Noto Naskh Arabic"/>
              </a:rPr>
              <a:t>مقارنة بالنص المعتمد لرصد</a:t>
            </a:r>
          </a:p>
          <a:p>
            <a:pPr algn="r" rtl="1">
              <a:lnSpc>
                <a:spcPct val="110000"/>
              </a:lnSpc>
              <a:spcAft>
                <a:spcPts val="600"/>
              </a:spcAft>
            </a:pPr>
            <a:r>
              <a:rPr sz="1900" b="0" lang="ar-SA">
                <a:solidFill>
                  <a:srgbClr val="2A1F1A"/>
                </a:solidFill>
                <a:latin typeface="Noto Naskh Arabic"/>
                <a:cs typeface="Noto Naskh Arabic"/>
                <a:ea typeface="Noto Naskh Arabic"/>
              </a:rPr>
              <a:t>الاستبدال والحذف بعد ثبوتهما.</a:t>
            </a:r>
          </a:p>
        </p:txBody>
      </p:sp>
      <p:sp>
        <p:nvSpPr>
          <p:cNvPr id="14" name="Rounded Rectangle 13"/>
          <p:cNvSpPr/>
          <p:nvPr/>
        </p:nvSpPr>
        <p:spPr>
          <a:xfrm>
            <a:off x="4297680" y="2715768"/>
            <a:ext cx="3538728" cy="295351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880360"/>
            <a:ext cx="3063240" cy="603504"/>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994703"/>
                </a:solidFill>
                <a:latin typeface="Cairo"/>
                <a:cs typeface="Cairo"/>
                <a:ea typeface="Cairo"/>
              </a:rPr>
              <a:t>٠٢</a:t>
            </a:r>
          </a:p>
        </p:txBody>
      </p:sp>
      <p:sp>
        <p:nvSpPr>
          <p:cNvPr id="16" name="TextBox 15"/>
          <p:cNvSpPr txBox="1"/>
          <p:nvPr/>
        </p:nvSpPr>
        <p:spPr>
          <a:xfrm>
            <a:off x="4517136" y="3630168"/>
            <a:ext cx="3063240" cy="384048"/>
          </a:xfrm>
          <a:prstGeom prst="rect">
            <a:avLst/>
          </a:prstGeom>
          <a:noFill/>
        </p:spPr>
        <p:txBody>
          <a:bodyPr wrap="square" lIns="13716" rIns="13716" tIns="0" bIns="0">
            <a:spAutoFit/>
          </a:bodyPr>
          <a:lstStyle/>
          <a:p>
            <a:pPr algn="r" rtl="1">
              <a:lnSpc>
                <a:spcPct val="110000"/>
              </a:lnSpc>
              <a:spcAft>
                <a:spcPts val="600"/>
              </a:spcAft>
            </a:pPr>
            <a:r>
              <a:rPr sz="1600" b="0" lang="ar-SA">
                <a:solidFill>
                  <a:srgbClr val="994703"/>
                </a:solidFill>
                <a:latin typeface="Cairo"/>
                <a:cs typeface="Cairo"/>
                <a:ea typeface="Cairo"/>
              </a:rPr>
              <a:t>عند الفهم</a:t>
            </a:r>
          </a:p>
        </p:txBody>
      </p:sp>
      <p:sp>
        <p:nvSpPr>
          <p:cNvPr id="17" name="TextBox 16"/>
          <p:cNvSpPr txBox="1"/>
          <p:nvPr/>
        </p:nvSpPr>
        <p:spPr>
          <a:xfrm>
            <a:off x="4517136" y="4133087"/>
            <a:ext cx="3063240" cy="420624"/>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ما معنى هذه العبارة؟</a:t>
            </a:r>
          </a:p>
        </p:txBody>
      </p:sp>
      <p:sp>
        <p:nvSpPr>
          <p:cNvPr id="18" name="TextBox 17"/>
          <p:cNvSpPr txBox="1"/>
          <p:nvPr/>
        </p:nvSpPr>
        <p:spPr>
          <a:xfrm>
            <a:off x="4517136" y="4681728"/>
            <a:ext cx="3063240" cy="914400"/>
          </a:xfrm>
          <a:prstGeom prst="rect">
            <a:avLst/>
          </a:prstGeom>
          <a:noFill/>
        </p:spPr>
        <p:txBody>
          <a:bodyPr wrap="square" lIns="13716" rIns="13716" tIns="0" bIns="0">
            <a:spAutoFit/>
          </a:bodyPr>
          <a:lstStyle/>
          <a:p>
            <a:pPr algn="r" rtl="1">
              <a:lnSpc>
                <a:spcPct val="110000"/>
              </a:lnSpc>
              <a:spcAft>
                <a:spcPts val="600"/>
              </a:spcAft>
            </a:pPr>
            <a:r>
              <a:rPr sz="1900" b="0" lang="ar-SA">
                <a:solidFill>
                  <a:srgbClr val="2A1F1A"/>
                </a:solidFill>
                <a:latin typeface="Noto Naskh Arabic"/>
                <a:cs typeface="Noto Naskh Arabic"/>
                <a:ea typeface="Noto Naskh Arabic"/>
              </a:rPr>
              <a:t>شرح محدود بالمراجع،</a:t>
            </a:r>
          </a:p>
          <a:p>
            <a:pPr algn="r" rtl="1">
              <a:lnSpc>
                <a:spcPct val="110000"/>
              </a:lnSpc>
              <a:spcAft>
                <a:spcPts val="600"/>
              </a:spcAft>
            </a:pPr>
            <a:r>
              <a:rPr sz="1900" b="0" lang="ar-SA">
                <a:solidFill>
                  <a:srgbClr val="2A1F1A"/>
                </a:solidFill>
                <a:latin typeface="Noto Naskh Arabic"/>
                <a:cs typeface="Noto Naskh Arabic"/>
                <a:ea typeface="Noto Naskh Arabic"/>
              </a:rPr>
              <a:t>مع الكتاب والجزء والصفحة.</a:t>
            </a:r>
          </a:p>
        </p:txBody>
      </p:sp>
      <p:sp>
        <p:nvSpPr>
          <p:cNvPr id="19" name="Rounded Rectangle 18"/>
          <p:cNvSpPr/>
          <p:nvPr/>
        </p:nvSpPr>
        <p:spPr>
          <a:xfrm>
            <a:off x="640080" y="2715768"/>
            <a:ext cx="3538728" cy="295351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2880360"/>
            <a:ext cx="3063240" cy="603504"/>
          </a:xfrm>
          <a:prstGeom prst="rect">
            <a:avLst/>
          </a:prstGeom>
          <a:noFill/>
        </p:spPr>
        <p:txBody>
          <a:bodyPr wrap="square" lIns="13716" rIns="13716" tIns="0" bIns="0">
            <a:spAutoFit/>
          </a:bodyPr>
          <a:lstStyle/>
          <a:p>
            <a:pPr algn="r" rtl="1">
              <a:lnSpc>
                <a:spcPct val="110000"/>
              </a:lnSpc>
              <a:spcAft>
                <a:spcPts val="600"/>
              </a:spcAft>
            </a:pPr>
            <a:r>
              <a:rPr sz="3100" b="1" lang="ar-SA">
                <a:solidFill>
                  <a:srgbClr val="994703"/>
                </a:solidFill>
                <a:latin typeface="Cairo"/>
                <a:cs typeface="Cairo"/>
                <a:ea typeface="Cairo"/>
              </a:rPr>
              <a:t>٠٣</a:t>
            </a:r>
          </a:p>
        </p:txBody>
      </p:sp>
      <p:sp>
        <p:nvSpPr>
          <p:cNvPr id="21" name="TextBox 20"/>
          <p:cNvSpPr txBox="1"/>
          <p:nvPr/>
        </p:nvSpPr>
        <p:spPr>
          <a:xfrm>
            <a:off x="859536" y="3630168"/>
            <a:ext cx="3063240" cy="384048"/>
          </a:xfrm>
          <a:prstGeom prst="rect">
            <a:avLst/>
          </a:prstGeom>
          <a:noFill/>
        </p:spPr>
        <p:txBody>
          <a:bodyPr wrap="square" lIns="13716" rIns="13716" tIns="0" bIns="0">
            <a:spAutoFit/>
          </a:bodyPr>
          <a:lstStyle/>
          <a:p>
            <a:pPr algn="r" rtl="1">
              <a:lnSpc>
                <a:spcPct val="110000"/>
              </a:lnSpc>
              <a:spcAft>
                <a:spcPts val="600"/>
              </a:spcAft>
            </a:pPr>
            <a:r>
              <a:rPr sz="1600" b="0" lang="ar-SA">
                <a:solidFill>
                  <a:srgbClr val="994703"/>
                </a:solidFill>
                <a:latin typeface="Cairo"/>
                <a:cs typeface="Cairo"/>
                <a:ea typeface="Cairo"/>
              </a:rPr>
              <a:t>عند حدود المعرفة</a:t>
            </a:r>
          </a:p>
        </p:txBody>
      </p:sp>
      <p:sp>
        <p:nvSpPr>
          <p:cNvPr id="22" name="TextBox 21"/>
          <p:cNvSpPr txBox="1"/>
          <p:nvPr/>
        </p:nvSpPr>
        <p:spPr>
          <a:xfrm>
            <a:off x="859536" y="4133087"/>
            <a:ext cx="3063240" cy="420624"/>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مَن يوجّهني هنا؟</a:t>
            </a:r>
          </a:p>
        </p:txBody>
      </p:sp>
      <p:sp>
        <p:nvSpPr>
          <p:cNvPr id="23" name="TextBox 22"/>
          <p:cNvSpPr txBox="1"/>
          <p:nvPr/>
        </p:nvSpPr>
        <p:spPr>
          <a:xfrm>
            <a:off x="859536" y="4681728"/>
            <a:ext cx="3063240" cy="914400"/>
          </a:xfrm>
          <a:prstGeom prst="rect">
            <a:avLst/>
          </a:prstGeom>
          <a:noFill/>
        </p:spPr>
        <p:txBody>
          <a:bodyPr wrap="square" lIns="13716" rIns="13716" tIns="0" bIns="0">
            <a:spAutoFit/>
          </a:bodyPr>
          <a:lstStyle/>
          <a:p>
            <a:pPr algn="r" rtl="1">
              <a:lnSpc>
                <a:spcPct val="110000"/>
              </a:lnSpc>
              <a:spcAft>
                <a:spcPts val="600"/>
              </a:spcAft>
            </a:pPr>
            <a:r>
              <a:rPr sz="1900" b="0" lang="ar-SA">
                <a:solidFill>
                  <a:srgbClr val="2A1F1A"/>
                </a:solidFill>
                <a:latin typeface="Noto Naskh Arabic"/>
                <a:cs typeface="Noto Naskh Arabic"/>
                <a:ea typeface="Noto Naskh Arabic"/>
              </a:rPr>
              <a:t>إحالة نصية لمعلم معتمد،</a:t>
            </a:r>
          </a:p>
          <a:p>
            <a:pPr algn="r" rtl="1">
              <a:lnSpc>
                <a:spcPct val="110000"/>
              </a:lnSpc>
              <a:spcAft>
                <a:spcPts val="600"/>
              </a:spcAft>
            </a:pPr>
            <a:r>
              <a:rPr sz="1900" b="0" lang="ar-SA">
                <a:solidFill>
                  <a:srgbClr val="2A1F1A"/>
                </a:solidFill>
                <a:latin typeface="Noto Naskh Arabic"/>
                <a:cs typeface="Noto Naskh Arabic"/>
                <a:ea typeface="Noto Naskh Arabic"/>
              </a:rPr>
              <a:t>مع إتاحة السؤال المباشر.</a:t>
            </a:r>
          </a:p>
        </p:txBody>
      </p:sp>
      <p:sp>
        <p:nvSpPr>
          <p:cNvPr id="24" name="TextBox 23"/>
          <p:cNvSpPr txBox="1"/>
          <p:nvPr/>
        </p:nvSpPr>
        <p:spPr>
          <a:xfrm>
            <a:off x="731520" y="5833872"/>
            <a:ext cx="10698480" cy="438912"/>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4E3A00"/>
                </a:solidFill>
                <a:latin typeface="Noto Naskh Arabic"/>
                <a:cs typeface="Noto Naskh Arabic"/>
                <a:ea typeface="Noto Naskh Arabic"/>
              </a:rPr>
              <a:t>واجهة عربية واضحة  •  تنبيه بالنص لا باللون وحده  •  حذف صوت التدريب بعد المعالجة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6D4C3D"/>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FDF9F3"/>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FDF9F3"/>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F4EDE2"/>
                </a:solidFill>
                <a:latin typeface="Cairo"/>
                <a:cs typeface="Cairo"/>
                <a:ea typeface="Cairo"/>
              </a:rPr>
              <a:t>الثقة • شرط جوهري في الحل</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FDF9F3"/>
                </a:solidFill>
                <a:latin typeface="Cairo"/>
                <a:cs typeface="Cairo"/>
                <a:ea typeface="Cairo"/>
              </a:rPr>
              <a:t>الاستبيان: س٦، ٤٧/٦٠ للمصدر؛ س٥، ٥٤/٦٠ للفكرة الجيدة أو الممتازة. تقبّل للفكرة لا اختبار للمنتج.</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FDF9F3"/>
                </a:solidFill>
                <a:latin typeface="Cairo"/>
                <a:cs typeface="Cairo"/>
                <a:ea typeface="Cairo"/>
              </a:rPr>
              <a:t>04</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FDF9F3"/>
                </a:solidFill>
                <a:latin typeface="Kufam"/>
                <a:cs typeface="Kufam"/>
                <a:ea typeface="Kufam"/>
              </a:rPr>
              <a:t>المصدر أولاً. وإذا لم يكفِ، فالإحالة.</a:t>
            </a:r>
          </a:p>
        </p:txBody>
      </p:sp>
      <p:sp>
        <p:nvSpPr>
          <p:cNvPr id="9" name="TextBox 8"/>
          <p:cNvSpPr txBox="1"/>
          <p:nvPr/>
        </p:nvSpPr>
        <p:spPr>
          <a:xfrm>
            <a:off x="6400800" y="2670048"/>
            <a:ext cx="5029200" cy="1170432"/>
          </a:xfrm>
          <a:prstGeom prst="rect">
            <a:avLst/>
          </a:prstGeom>
          <a:noFill/>
        </p:spPr>
        <p:txBody>
          <a:bodyPr wrap="square" lIns="13716" rIns="13716" tIns="0" bIns="0">
            <a:spAutoFit/>
          </a:bodyPr>
          <a:lstStyle/>
          <a:p>
            <a:pPr algn="r" rtl="1">
              <a:lnSpc>
                <a:spcPct val="110000"/>
              </a:lnSpc>
              <a:spcAft>
                <a:spcPts val="600"/>
              </a:spcAft>
            </a:pPr>
            <a:r>
              <a:rPr sz="6500" b="1" lang="ar-SA">
                <a:solidFill>
                  <a:srgbClr val="FDF9F3"/>
                </a:solidFill>
                <a:latin typeface="Cairo"/>
                <a:cs typeface="Cairo"/>
                <a:ea typeface="Cairo"/>
              </a:rPr>
              <a:t>٧٨٫٣٪</a:t>
            </a:r>
          </a:p>
        </p:txBody>
      </p:sp>
      <p:sp>
        <p:nvSpPr>
          <p:cNvPr id="10" name="TextBox 9"/>
          <p:cNvSpPr txBox="1"/>
          <p:nvPr/>
        </p:nvSpPr>
        <p:spPr>
          <a:xfrm>
            <a:off x="6400800" y="3968496"/>
            <a:ext cx="5029200" cy="768096"/>
          </a:xfrm>
          <a:prstGeom prst="rect">
            <a:avLst/>
          </a:prstGeom>
          <a:noFill/>
        </p:spPr>
        <p:txBody>
          <a:bodyPr wrap="square" lIns="13716" rIns="13716" tIns="0" bIns="0">
            <a:spAutoFit/>
          </a:bodyPr>
          <a:lstStyle/>
          <a:p>
            <a:pPr algn="r" rtl="1">
              <a:lnSpc>
                <a:spcPct val="110000"/>
              </a:lnSpc>
              <a:spcAft>
                <a:spcPts val="600"/>
              </a:spcAft>
            </a:pPr>
            <a:r>
              <a:rPr sz="2300" b="0" lang="ar-SA">
                <a:solidFill>
                  <a:srgbClr val="FDF9F3"/>
                </a:solidFill>
                <a:latin typeface="Noto Naskh Arabic"/>
                <a:cs typeface="Noto Naskh Arabic"/>
                <a:ea typeface="Noto Naskh Arabic"/>
              </a:rPr>
              <a:t>اختاروا ذكر المصدر ضمن عوامل الثقة.</a:t>
            </a:r>
          </a:p>
        </p:txBody>
      </p:sp>
      <p:sp>
        <p:nvSpPr>
          <p:cNvPr id="11" name="TextBox 10"/>
          <p:cNvSpPr txBox="1"/>
          <p:nvPr/>
        </p:nvSpPr>
        <p:spPr>
          <a:xfrm>
            <a:off x="731520" y="2670048"/>
            <a:ext cx="5029200" cy="1170432"/>
          </a:xfrm>
          <a:prstGeom prst="rect">
            <a:avLst/>
          </a:prstGeom>
          <a:noFill/>
        </p:spPr>
        <p:txBody>
          <a:bodyPr wrap="square" lIns="13716" rIns="13716" tIns="0" bIns="0">
            <a:spAutoFit/>
          </a:bodyPr>
          <a:lstStyle/>
          <a:p>
            <a:pPr algn="r" rtl="1">
              <a:lnSpc>
                <a:spcPct val="110000"/>
              </a:lnSpc>
              <a:spcAft>
                <a:spcPts val="600"/>
              </a:spcAft>
            </a:pPr>
            <a:r>
              <a:rPr sz="6500" b="1" lang="ar-SA">
                <a:solidFill>
                  <a:srgbClr val="FDF9F3"/>
                </a:solidFill>
                <a:latin typeface="Cairo"/>
                <a:cs typeface="Cairo"/>
                <a:ea typeface="Cairo"/>
              </a:rPr>
              <a:t>٩٠٪</a:t>
            </a:r>
          </a:p>
        </p:txBody>
      </p:sp>
      <p:sp>
        <p:nvSpPr>
          <p:cNvPr id="12" name="TextBox 11"/>
          <p:cNvSpPr txBox="1"/>
          <p:nvPr/>
        </p:nvSpPr>
        <p:spPr>
          <a:xfrm>
            <a:off x="731520" y="3968496"/>
            <a:ext cx="5029200" cy="768096"/>
          </a:xfrm>
          <a:prstGeom prst="rect">
            <a:avLst/>
          </a:prstGeom>
          <a:noFill/>
        </p:spPr>
        <p:txBody>
          <a:bodyPr wrap="square" lIns="13716" rIns="13716" tIns="0" bIns="0">
            <a:spAutoFit/>
          </a:bodyPr>
          <a:lstStyle/>
          <a:p>
            <a:pPr algn="r" rtl="1">
              <a:lnSpc>
                <a:spcPct val="110000"/>
              </a:lnSpc>
              <a:spcAft>
                <a:spcPts val="600"/>
              </a:spcAft>
            </a:pPr>
            <a:r>
              <a:rPr sz="2300" b="0" lang="ar-SA">
                <a:solidFill>
                  <a:srgbClr val="FDF9F3"/>
                </a:solidFill>
                <a:latin typeface="Noto Naskh Arabic"/>
                <a:cs typeface="Noto Naskh Arabic"/>
                <a:ea typeface="Noto Naskh Arabic"/>
              </a:rPr>
              <a:t>رأوا المساعد الموثق مع الإحالة فكرة جيدة أو ممتازة.</a:t>
            </a:r>
          </a:p>
        </p:txBody>
      </p:sp>
      <p:sp>
        <p:nvSpPr>
          <p:cNvPr id="13" name="Rounded Rectangle 12"/>
          <p:cNvSpPr/>
          <p:nvPr/>
        </p:nvSpPr>
        <p:spPr>
          <a:xfrm>
            <a:off x="731520" y="5166360"/>
            <a:ext cx="10744200" cy="1024128"/>
          </a:xfrm>
          <a:prstGeom prst="roundRect">
            <a:avLst>
              <a:gd name="adj" fmla="val 8000"/>
            </a:avLst>
          </a:prstGeom>
          <a:solidFill>
            <a:srgbClr val="FDF9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340096"/>
            <a:ext cx="10241280" cy="420624"/>
          </a:xfrm>
          <a:prstGeom prst="rect">
            <a:avLst/>
          </a:prstGeom>
          <a:noFill/>
        </p:spPr>
        <p:txBody>
          <a:bodyPr wrap="square" lIns="13716" rIns="13716" tIns="0" bIns="0">
            <a:spAutoFit/>
          </a:bodyPr>
          <a:lstStyle/>
          <a:p>
            <a:pPr algn="r" rtl="1">
              <a:lnSpc>
                <a:spcPct val="110000"/>
              </a:lnSpc>
              <a:spcAft>
                <a:spcPts val="600"/>
              </a:spcAft>
            </a:pPr>
            <a:r>
              <a:rPr sz="2100" b="1" lang="ar-SA">
                <a:solidFill>
                  <a:srgbClr val="6D4C3D"/>
                </a:solidFill>
                <a:latin typeface="Cairo"/>
                <a:cs typeface="Cairo"/>
                <a:ea typeface="Cairo"/>
              </a:rPr>
              <a:t>مرجع معتمد ← استشهاد قابل للتحقق ← إجابة محدودة أو امتناع</a:t>
            </a:r>
          </a:p>
        </p:txBody>
      </p:sp>
      <p:sp>
        <p:nvSpPr>
          <p:cNvPr id="15" name="TextBox 14"/>
          <p:cNvSpPr txBox="1"/>
          <p:nvPr/>
        </p:nvSpPr>
        <p:spPr>
          <a:xfrm>
            <a:off x="960120" y="5815584"/>
            <a:ext cx="10241280" cy="274320"/>
          </a:xfrm>
          <a:prstGeom prst="rect">
            <a:avLst/>
          </a:prstGeom>
          <a:noFill/>
        </p:spPr>
        <p:txBody>
          <a:bodyPr wrap="square" lIns="13716" rIns="13716" tIns="0" bIns="0">
            <a:spAutoFit/>
          </a:bodyPr>
          <a:lstStyle/>
          <a:p>
            <a:pPr algn="r" rtl="1">
              <a:lnSpc>
                <a:spcPct val="110000"/>
              </a:lnSpc>
              <a:spcAft>
                <a:spcPts val="600"/>
              </a:spcAft>
            </a:pPr>
            <a:r>
              <a:rPr sz="1700" b="0" lang="ar-SA">
                <a:solidFill>
                  <a:srgbClr val="994703"/>
                </a:solidFill>
                <a:latin typeface="Noto Naskh Arabic"/>
                <a:cs typeface="Noto Naskh Arabic"/>
                <a:ea typeface="Noto Naskh Arabic"/>
              </a:rPr>
              <a:t>لا فتوى آلية؛ ولا ادعاء بأن الاسترجاع المقيد يمنع الخطأ تماماً.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ملاءمة الذكاء الاصطناعي • قيمة محددة وليست إضافة شكلية</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05</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نحتاجه ليستمع ويسترجع؛ لا ليحكم بلا دليل.</a:t>
            </a:r>
          </a:p>
        </p:txBody>
      </p:sp>
      <p:sp>
        <p:nvSpPr>
          <p:cNvPr id="9" name="TextBox 8"/>
          <p:cNvSpPr txBox="1"/>
          <p:nvPr/>
        </p:nvSpPr>
        <p:spPr>
          <a:xfrm>
            <a:off x="10332720" y="2971800"/>
            <a:ext cx="1124712" cy="457200"/>
          </a:xfrm>
          <a:prstGeom prst="rect">
            <a:avLst/>
          </a:prstGeom>
          <a:noFill/>
        </p:spPr>
        <p:txBody>
          <a:bodyPr wrap="square" lIns="13716" rIns="13716" tIns="0" bIns="0">
            <a:spAutoFit/>
          </a:bodyPr>
          <a:lstStyle/>
          <a:p>
            <a:pPr algn="r" rtl="1">
              <a:lnSpc>
                <a:spcPct val="110000"/>
              </a:lnSpc>
              <a:spcAft>
                <a:spcPts val="600"/>
              </a:spcAft>
            </a:pPr>
            <a:r>
              <a:rPr sz="2000" b="1" lang="ar-SA">
                <a:solidFill>
                  <a:srgbClr val="994703"/>
                </a:solidFill>
                <a:latin typeface="Cairo"/>
                <a:cs typeface="Cairo"/>
                <a:ea typeface="Cairo"/>
              </a:rPr>
              <a:t>الصوت</a:t>
            </a:r>
          </a:p>
        </p:txBody>
      </p:sp>
      <p:sp>
        <p:nvSpPr>
          <p:cNvPr id="10" name="Rounded Rectangle 9"/>
          <p:cNvSpPr/>
          <p:nvPr/>
        </p:nvSpPr>
        <p:spPr>
          <a:xfrm>
            <a:off x="7900416" y="2715768"/>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3008376"/>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صوت الطالب</a:t>
            </a:r>
          </a:p>
        </p:txBody>
      </p:sp>
      <p:sp>
        <p:nvSpPr>
          <p:cNvPr id="12" name="TextBox 11"/>
          <p:cNvSpPr txBox="1"/>
          <p:nvPr/>
        </p:nvSpPr>
        <p:spPr>
          <a:xfrm>
            <a:off x="7690104" y="3017520"/>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13" name="Rounded Rectangle 12"/>
          <p:cNvSpPr/>
          <p:nvPr/>
        </p:nvSpPr>
        <p:spPr>
          <a:xfrm>
            <a:off x="5486400" y="2715768"/>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05272" y="3008376"/>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تفريغ عربي</a:t>
            </a:r>
          </a:p>
        </p:txBody>
      </p:sp>
      <p:sp>
        <p:nvSpPr>
          <p:cNvPr id="15" name="TextBox 14"/>
          <p:cNvSpPr txBox="1"/>
          <p:nvPr/>
        </p:nvSpPr>
        <p:spPr>
          <a:xfrm>
            <a:off x="5276088" y="3017520"/>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16" name="Rounded Rectangle 15"/>
          <p:cNvSpPr/>
          <p:nvPr/>
        </p:nvSpPr>
        <p:spPr>
          <a:xfrm>
            <a:off x="3072384" y="2715768"/>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91256" y="3008376"/>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مطابقة الكلمات</a:t>
            </a:r>
          </a:p>
        </p:txBody>
      </p:sp>
      <p:sp>
        <p:nvSpPr>
          <p:cNvPr id="18" name="TextBox 17"/>
          <p:cNvSpPr txBox="1"/>
          <p:nvPr/>
        </p:nvSpPr>
        <p:spPr>
          <a:xfrm>
            <a:off x="2862072" y="3017520"/>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19" name="Rounded Rectangle 18"/>
          <p:cNvSpPr/>
          <p:nvPr/>
        </p:nvSpPr>
        <p:spPr>
          <a:xfrm>
            <a:off x="658368" y="2715768"/>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08376"/>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تنبيه أو إعادة</a:t>
            </a:r>
          </a:p>
        </p:txBody>
      </p:sp>
      <p:sp>
        <p:nvSpPr>
          <p:cNvPr id="21" name="TextBox 20"/>
          <p:cNvSpPr txBox="1"/>
          <p:nvPr/>
        </p:nvSpPr>
        <p:spPr>
          <a:xfrm>
            <a:off x="10332720" y="4462272"/>
            <a:ext cx="1124712" cy="457200"/>
          </a:xfrm>
          <a:prstGeom prst="rect">
            <a:avLst/>
          </a:prstGeom>
          <a:noFill/>
        </p:spPr>
        <p:txBody>
          <a:bodyPr wrap="square" lIns="13716" rIns="13716" tIns="0" bIns="0">
            <a:spAutoFit/>
          </a:bodyPr>
          <a:lstStyle/>
          <a:p>
            <a:pPr algn="r" rtl="1">
              <a:lnSpc>
                <a:spcPct val="110000"/>
              </a:lnSpc>
              <a:spcAft>
                <a:spcPts val="600"/>
              </a:spcAft>
            </a:pPr>
            <a:r>
              <a:rPr sz="2000" b="1" lang="ar-SA">
                <a:solidFill>
                  <a:srgbClr val="994703"/>
                </a:solidFill>
                <a:latin typeface="Cairo"/>
                <a:cs typeface="Cairo"/>
                <a:ea typeface="Cairo"/>
              </a:rPr>
              <a:t>المعرفة</a:t>
            </a:r>
          </a:p>
        </p:txBody>
      </p:sp>
      <p:sp>
        <p:nvSpPr>
          <p:cNvPr id="22" name="Rounded Rectangle 21"/>
          <p:cNvSpPr/>
          <p:nvPr/>
        </p:nvSpPr>
        <p:spPr>
          <a:xfrm>
            <a:off x="7900416" y="4206240"/>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4498848"/>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سؤال الطالب</a:t>
            </a:r>
          </a:p>
        </p:txBody>
      </p:sp>
      <p:sp>
        <p:nvSpPr>
          <p:cNvPr id="24" name="TextBox 23"/>
          <p:cNvSpPr txBox="1"/>
          <p:nvPr/>
        </p:nvSpPr>
        <p:spPr>
          <a:xfrm>
            <a:off x="7690104" y="4507992"/>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25" name="Rounded Rectangle 24"/>
          <p:cNvSpPr/>
          <p:nvPr/>
        </p:nvSpPr>
        <p:spPr>
          <a:xfrm>
            <a:off x="5486400" y="4206240"/>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05272" y="4498848"/>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استرجاع مصدر</a:t>
            </a:r>
          </a:p>
        </p:txBody>
      </p:sp>
      <p:sp>
        <p:nvSpPr>
          <p:cNvPr id="27" name="TextBox 26"/>
          <p:cNvSpPr txBox="1"/>
          <p:nvPr/>
        </p:nvSpPr>
        <p:spPr>
          <a:xfrm>
            <a:off x="5276088" y="4507992"/>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28" name="Rounded Rectangle 27"/>
          <p:cNvSpPr/>
          <p:nvPr/>
        </p:nvSpPr>
        <p:spPr>
          <a:xfrm>
            <a:off x="3072384" y="4206240"/>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91256" y="4498848"/>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تحقق من العزو</a:t>
            </a:r>
          </a:p>
        </p:txBody>
      </p:sp>
      <p:sp>
        <p:nvSpPr>
          <p:cNvPr id="30" name="TextBox 29"/>
          <p:cNvSpPr txBox="1"/>
          <p:nvPr/>
        </p:nvSpPr>
        <p:spPr>
          <a:xfrm>
            <a:off x="2862072" y="4507992"/>
            <a:ext cx="210312" cy="365760"/>
          </a:xfrm>
          <a:prstGeom prst="rect">
            <a:avLst/>
          </a:prstGeom>
          <a:noFill/>
        </p:spPr>
        <p:txBody>
          <a:bodyPr wrap="square" lIns="13716" rIns="13716" tIns="0" bIns="0">
            <a:spAutoFit/>
          </a:bodyPr>
          <a:lstStyle/>
          <a:p>
            <a:pPr algn="r" rtl="1">
              <a:lnSpc>
                <a:spcPct val="110000"/>
              </a:lnSpc>
              <a:spcAft>
                <a:spcPts val="600"/>
              </a:spcAft>
            </a:pPr>
            <a:r>
              <a:rPr sz="1500" b="0" lang="ar-SA">
                <a:solidFill>
                  <a:srgbClr val="994703"/>
                </a:solidFill>
                <a:latin typeface="Noto Naskh Arabic"/>
                <a:cs typeface="Noto Naskh Arabic"/>
                <a:ea typeface="Noto Naskh Arabic"/>
              </a:rPr>
              <a:t>←</a:t>
            </a:r>
          </a:p>
        </p:txBody>
      </p:sp>
      <p:sp>
        <p:nvSpPr>
          <p:cNvPr id="31" name="Rounded Rectangle 30"/>
          <p:cNvSpPr/>
          <p:nvPr/>
        </p:nvSpPr>
        <p:spPr>
          <a:xfrm>
            <a:off x="658368" y="4206240"/>
            <a:ext cx="2221992" cy="98755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498848"/>
            <a:ext cx="1984248" cy="475488"/>
          </a:xfrm>
          <a:prstGeom prst="rect">
            <a:avLst/>
          </a:prstGeom>
          <a:noFill/>
        </p:spPr>
        <p:txBody>
          <a:bodyPr wrap="square" lIns="13716" rIns="13716" tIns="0" bIns="0">
            <a:spAutoFit/>
          </a:bodyPr>
          <a:lstStyle/>
          <a:p>
            <a:pPr algn="r" rtl="1">
              <a:lnSpc>
                <a:spcPct val="110000"/>
              </a:lnSpc>
              <a:spcAft>
                <a:spcPts val="600"/>
              </a:spcAft>
            </a:pPr>
            <a:r>
              <a:rPr sz="1700" b="1" lang="ar-SA">
                <a:solidFill>
                  <a:srgbClr val="6D4C3D"/>
                </a:solidFill>
                <a:latin typeface="Cairo"/>
                <a:cs typeface="Cairo"/>
                <a:ea typeface="Cairo"/>
              </a:rPr>
              <a:t>شرح أو إحالة</a:t>
            </a:r>
          </a:p>
        </p:txBody>
      </p:sp>
      <p:sp>
        <p:nvSpPr>
          <p:cNvPr id="33" name="TextBox 32"/>
          <p:cNvSpPr txBox="1"/>
          <p:nvPr/>
        </p:nvSpPr>
        <p:spPr>
          <a:xfrm>
            <a:off x="731520" y="5532120"/>
            <a:ext cx="10725912" cy="310896"/>
          </a:xfrm>
          <a:prstGeom prst="rect">
            <a:avLst/>
          </a:prstGeom>
          <a:noFill/>
        </p:spPr>
        <p:txBody>
          <a:bodyPr wrap="square" lIns="13716" rIns="13716" tIns="0" bIns="0">
            <a:spAutoFit/>
          </a:bodyPr>
          <a:lstStyle/>
          <a:p>
            <a:pPr algn="r" rtl="0">
              <a:lnSpc>
                <a:spcPct val="110000"/>
              </a:lnSpc>
              <a:spcAft>
                <a:spcPts val="600"/>
              </a:spcAft>
            </a:pPr>
            <a:r>
              <a:rPr sz="1300" b="0" lang="en-US">
                <a:solidFill>
                  <a:srgbClr val="994703"/>
                </a:solidFill>
                <a:latin typeface="Cairo"/>
                <a:cs typeface="Cairo"/>
                <a:ea typeface="Cairo"/>
              </a:rPr>
              <a:t>React / TypeScript  •  Express / Node.js  •  PostgreSQL / Drizzle  •  WebSocket</a:t>
            </a:r>
          </a:p>
        </p:txBody>
      </p:sp>
      <p:sp>
        <p:nvSpPr>
          <p:cNvPr id="34" name="TextBox 33"/>
          <p:cNvSpPr txBox="1"/>
          <p:nvPr/>
        </p:nvSpPr>
        <p:spPr>
          <a:xfrm>
            <a:off x="731520" y="5961888"/>
            <a:ext cx="10725912" cy="374904"/>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4E3A00"/>
                </a:solidFill>
                <a:latin typeface="Noto Naskh Arabic"/>
                <a:cs typeface="Noto Naskh Arabic"/>
                <a:ea typeface="Noto Naskh Arabic"/>
              </a:rPr>
              <a:t>معمارية مقترحة؛ اختيار النماذج بعد مقارنة الدقة والأخطاء الزائفة والتكلفة، لا التعقيد.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القيمة المضافة • لماذا المسار المفتوح؟</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06</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الإضافة ليست أداة أخرى؛ بل اتصال خطوات التعلم.</a:t>
            </a:r>
          </a:p>
        </p:txBody>
      </p:sp>
      <p:sp>
        <p:nvSpPr>
          <p:cNvPr id="9" name="Rectangle 8"/>
          <p:cNvSpPr/>
          <p:nvPr/>
        </p:nvSpPr>
        <p:spPr>
          <a:xfrm>
            <a:off x="640080" y="2606040"/>
            <a:ext cx="10881360" cy="557784"/>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724912"/>
            <a:ext cx="4965192" cy="320040"/>
          </a:xfrm>
          <a:prstGeom prst="rect">
            <a:avLst/>
          </a:prstGeom>
          <a:noFill/>
        </p:spPr>
        <p:txBody>
          <a:bodyPr wrap="square" lIns="13716" rIns="13716" tIns="0" bIns="0">
            <a:spAutoFit/>
          </a:bodyPr>
          <a:lstStyle/>
          <a:p>
            <a:pPr algn="r" rtl="1">
              <a:lnSpc>
                <a:spcPct val="110000"/>
              </a:lnSpc>
              <a:spcAft>
                <a:spcPts val="600"/>
              </a:spcAft>
            </a:pPr>
            <a:r>
              <a:rPr sz="1600" b="1" lang="ar-SA">
                <a:solidFill>
                  <a:srgbClr val="FDF9F3"/>
                </a:solidFill>
                <a:latin typeface="Cairo"/>
                <a:cs typeface="Cairo"/>
                <a:ea typeface="Cairo"/>
              </a:rPr>
              <a:t>مَتِين: ما نقترحه</a:t>
            </a:r>
          </a:p>
        </p:txBody>
      </p:sp>
      <p:sp>
        <p:nvSpPr>
          <p:cNvPr id="11" name="TextBox 10"/>
          <p:cNvSpPr txBox="1"/>
          <p:nvPr/>
        </p:nvSpPr>
        <p:spPr>
          <a:xfrm>
            <a:off x="6245352" y="2724912"/>
            <a:ext cx="4983480" cy="320040"/>
          </a:xfrm>
          <a:prstGeom prst="rect">
            <a:avLst/>
          </a:prstGeom>
          <a:noFill/>
        </p:spPr>
        <p:txBody>
          <a:bodyPr wrap="square" lIns="13716" rIns="13716" tIns="0" bIns="0">
            <a:spAutoFit/>
          </a:bodyPr>
          <a:lstStyle/>
          <a:p>
            <a:pPr algn="r" rtl="1">
              <a:lnSpc>
                <a:spcPct val="110000"/>
              </a:lnSpc>
              <a:spcAft>
                <a:spcPts val="600"/>
              </a:spcAft>
            </a:pPr>
            <a:r>
              <a:rPr sz="1600" b="1" lang="ar-SA">
                <a:solidFill>
                  <a:srgbClr val="FDF9F3"/>
                </a:solidFill>
                <a:latin typeface="Cairo"/>
                <a:cs typeface="Cairo"/>
                <a:ea typeface="Cairo"/>
              </a:rPr>
              <a:t>الممارسة المنفصلة</a:t>
            </a:r>
          </a:p>
        </p:txBody>
      </p:sp>
      <p:sp>
        <p:nvSpPr>
          <p:cNvPr id="12" name="Rectangle 11"/>
          <p:cNvSpPr/>
          <p:nvPr/>
        </p:nvSpPr>
        <p:spPr>
          <a:xfrm>
            <a:off x="640080" y="3291840"/>
            <a:ext cx="10881360" cy="640080"/>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419856"/>
            <a:ext cx="4974336"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6D4C3D"/>
                </a:solidFill>
                <a:latin typeface="Noto Naskh Arabic"/>
                <a:cs typeface="Noto Naskh Arabic"/>
                <a:ea typeface="Noto Naskh Arabic"/>
              </a:rPr>
              <a:t>تسميع مرتبط بالنص ومواضع أخطاء الكلمات</a:t>
            </a:r>
          </a:p>
        </p:txBody>
      </p:sp>
      <p:sp>
        <p:nvSpPr>
          <p:cNvPr id="14" name="TextBox 13"/>
          <p:cNvSpPr txBox="1"/>
          <p:nvPr/>
        </p:nvSpPr>
        <p:spPr>
          <a:xfrm>
            <a:off x="6245352" y="3419856"/>
            <a:ext cx="4983480"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2A1F1A"/>
                </a:solidFill>
                <a:latin typeface="Noto Naskh Arabic"/>
                <a:cs typeface="Noto Naskh Arabic"/>
                <a:ea typeface="Noto Naskh Arabic"/>
              </a:rPr>
              <a:t>حفظ منفرد دون تغذية راجعة أثناء المراجعة</a:t>
            </a:r>
          </a:p>
        </p:txBody>
      </p:sp>
      <p:sp>
        <p:nvSpPr>
          <p:cNvPr id="15" name="Rectangle 14"/>
          <p:cNvSpPr/>
          <p:nvPr/>
        </p:nvSpPr>
        <p:spPr>
          <a:xfrm>
            <a:off x="640080" y="4005072"/>
            <a:ext cx="10881360" cy="640080"/>
          </a:xfrm>
          <a:prstGeom prst="rect">
            <a:avLst/>
          </a:prstGeom>
          <a:solidFill>
            <a:srgbClr val="FDF9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4133087"/>
            <a:ext cx="4974336"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6D4C3D"/>
                </a:solidFill>
                <a:latin typeface="Noto Naskh Arabic"/>
                <a:cs typeface="Noto Naskh Arabic"/>
                <a:ea typeface="Noto Naskh Arabic"/>
              </a:rPr>
              <a:t>شرح في سياق الدراسة مع مرجع يمكن الرجوع إليه</a:t>
            </a:r>
          </a:p>
        </p:txBody>
      </p:sp>
      <p:sp>
        <p:nvSpPr>
          <p:cNvPr id="17" name="TextBox 16"/>
          <p:cNvSpPr txBox="1"/>
          <p:nvPr/>
        </p:nvSpPr>
        <p:spPr>
          <a:xfrm>
            <a:off x="6245352" y="4133087"/>
            <a:ext cx="4983480"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2A1F1A"/>
                </a:solidFill>
                <a:latin typeface="Noto Naskh Arabic"/>
                <a:cs typeface="Noto Naskh Arabic"/>
                <a:ea typeface="Noto Naskh Arabic"/>
              </a:rPr>
              <a:t>بحث يدوي بين الشروح لفهم عبارة</a:t>
            </a:r>
          </a:p>
        </p:txBody>
      </p:sp>
      <p:sp>
        <p:nvSpPr>
          <p:cNvPr id="18" name="Rectangle 17"/>
          <p:cNvSpPr/>
          <p:nvPr/>
        </p:nvSpPr>
        <p:spPr>
          <a:xfrm>
            <a:off x="640080" y="4718304"/>
            <a:ext cx="10881360" cy="640080"/>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4846320"/>
            <a:ext cx="4974336"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6D4C3D"/>
                </a:solidFill>
                <a:latin typeface="Noto Naskh Arabic"/>
                <a:cs typeface="Noto Naskh Arabic"/>
                <a:ea typeface="Noto Naskh Arabic"/>
              </a:rPr>
              <a:t>إحالة تحمل العبارة والسؤال وسبب الحاجة إلى المختص</a:t>
            </a:r>
          </a:p>
        </p:txBody>
      </p:sp>
      <p:sp>
        <p:nvSpPr>
          <p:cNvPr id="20" name="TextBox 19"/>
          <p:cNvSpPr txBox="1"/>
          <p:nvPr/>
        </p:nvSpPr>
        <p:spPr>
          <a:xfrm>
            <a:off x="6245352" y="4846320"/>
            <a:ext cx="4983480" cy="429768"/>
          </a:xfrm>
          <a:prstGeom prst="rect">
            <a:avLst/>
          </a:prstGeom>
          <a:noFill/>
        </p:spPr>
        <p:txBody>
          <a:bodyPr wrap="square" lIns="13716" rIns="13716" tIns="0" bIns="0">
            <a:spAutoFit/>
          </a:bodyPr>
          <a:lstStyle/>
          <a:p>
            <a:pPr algn="r" rtl="1">
              <a:lnSpc>
                <a:spcPct val="110000"/>
              </a:lnSpc>
              <a:spcAft>
                <a:spcPts val="600"/>
              </a:spcAft>
            </a:pPr>
            <a:r>
              <a:rPr sz="2000" b="0" lang="ar-SA">
                <a:solidFill>
                  <a:srgbClr val="2A1F1A"/>
                </a:solidFill>
                <a:latin typeface="Noto Naskh Arabic"/>
                <a:cs typeface="Noto Naskh Arabic"/>
                <a:ea typeface="Noto Naskh Arabic"/>
              </a:rPr>
              <a:t>سؤال المختص منفصل عن موضع التعثر</a:t>
            </a:r>
          </a:p>
        </p:txBody>
      </p:sp>
      <p:sp>
        <p:nvSpPr>
          <p:cNvPr id="21" name="TextBox 20"/>
          <p:cNvSpPr txBox="1"/>
          <p:nvPr/>
        </p:nvSpPr>
        <p:spPr>
          <a:xfrm>
            <a:off x="731520" y="5623560"/>
            <a:ext cx="10716768" cy="585216"/>
          </a:xfrm>
          <a:prstGeom prst="rect">
            <a:avLst/>
          </a:prstGeom>
          <a:noFill/>
        </p:spPr>
        <p:txBody>
          <a:bodyPr wrap="square" lIns="13716" rIns="13716" tIns="0" bIns="0">
            <a:spAutoFit/>
          </a:bodyPr>
          <a:lstStyle/>
          <a:p>
            <a:pPr algn="r" rtl="1">
              <a:lnSpc>
                <a:spcPct val="110000"/>
              </a:lnSpc>
              <a:spcAft>
                <a:spcPts val="600"/>
              </a:spcAft>
            </a:pPr>
            <a:r>
              <a:rPr sz="2200" b="0" lang="ar-SA">
                <a:solidFill>
                  <a:srgbClr val="994703"/>
                </a:solidFill>
                <a:latin typeface="Noto Naskh Arabic"/>
                <a:cs typeface="Noto Naskh Arabic"/>
                <a:ea typeface="Noto Naskh Arabic"/>
              </a:rPr>
              <a:t>يجمع المقترح رحلة تعلم تفاعلية وحواراً معرفياً موثقاً لخدمة دارسي المحتوى الإسلامي.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قابلية التنفيذ • ٤–٦ أكتوبر ٢٠٢٦</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07</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لن نحاول بناء كل شيء في ثلاثة أيام.</a:t>
            </a:r>
          </a:p>
        </p:txBody>
      </p:sp>
      <p:sp>
        <p:nvSpPr>
          <p:cNvPr id="9" name="Rounded Rectangle 8"/>
          <p:cNvSpPr/>
          <p:nvPr/>
        </p:nvSpPr>
        <p:spPr>
          <a:xfrm>
            <a:off x="8339327" y="2679192"/>
            <a:ext cx="3182112" cy="3474720"/>
          </a:xfrm>
          <a:prstGeom prst="roundRect">
            <a:avLst>
              <a:gd name="adj" fmla="val 8000"/>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2962656"/>
            <a:ext cx="2670048" cy="585216"/>
          </a:xfrm>
          <a:prstGeom prst="rect">
            <a:avLst/>
          </a:prstGeom>
          <a:noFill/>
        </p:spPr>
        <p:txBody>
          <a:bodyPr wrap="square" lIns="13716" rIns="13716" tIns="0" bIns="0">
            <a:spAutoFit/>
          </a:bodyPr>
          <a:lstStyle/>
          <a:p>
            <a:pPr algn="r" rtl="1">
              <a:lnSpc>
                <a:spcPct val="110000"/>
              </a:lnSpc>
              <a:spcAft>
                <a:spcPts val="600"/>
              </a:spcAft>
            </a:pPr>
            <a:r>
              <a:rPr sz="2300" b="1" lang="ar-SA">
                <a:solidFill>
                  <a:srgbClr val="FDF9F3"/>
                </a:solidFill>
                <a:latin typeface="Cairo"/>
                <a:cs typeface="Cairo"/>
                <a:ea typeface="Cairo"/>
              </a:rPr>
              <a:t>نطاق أول محدد</a:t>
            </a:r>
          </a:p>
        </p:txBody>
      </p:sp>
      <p:sp>
        <p:nvSpPr>
          <p:cNvPr id="11" name="TextBox 10"/>
          <p:cNvSpPr txBox="1"/>
          <p:nvPr/>
        </p:nvSpPr>
        <p:spPr>
          <a:xfrm>
            <a:off x="8595360" y="3803904"/>
            <a:ext cx="2670048" cy="1481328"/>
          </a:xfrm>
          <a:prstGeom prst="rect">
            <a:avLst/>
          </a:prstGeom>
          <a:noFill/>
        </p:spPr>
        <p:txBody>
          <a:bodyPr wrap="square" lIns="13716" rIns="13716" tIns="0" bIns="0">
            <a:spAutoFit/>
          </a:bodyPr>
          <a:lstStyle/>
          <a:p>
            <a:pPr algn="r" rtl="1">
              <a:lnSpc>
                <a:spcPct val="110000"/>
              </a:lnSpc>
              <a:spcAft>
                <a:spcPts val="600"/>
              </a:spcAft>
            </a:pPr>
            <a:r>
              <a:rPr sz="2300" b="0" lang="ar-SA">
                <a:solidFill>
                  <a:srgbClr val="FDF9F3"/>
                </a:solidFill>
                <a:latin typeface="Noto Naskh Arabic"/>
                <a:cs typeface="Noto Naskh Arabic"/>
                <a:ea typeface="Noto Naskh Arabic"/>
              </a:rPr>
              <a:t>مقاطع من متن واحد</a:t>
            </a:r>
          </a:p>
          <a:p>
            <a:pPr algn="r" rtl="1">
              <a:lnSpc>
                <a:spcPct val="110000"/>
              </a:lnSpc>
              <a:spcAft>
                <a:spcPts val="600"/>
              </a:spcAft>
            </a:pPr>
            <a:r>
              <a:rPr sz="2300" b="0" lang="ar-SA">
                <a:solidFill>
                  <a:srgbClr val="FDF9F3"/>
                </a:solidFill>
                <a:latin typeface="Noto Naskh Arabic"/>
                <a:cs typeface="Noto Naskh Arabic"/>
                <a:ea typeface="Noto Naskh Arabic"/>
              </a:rPr>
              <a:t>شرح مرخّص ومراجع</a:t>
            </a:r>
          </a:p>
          <a:p>
            <a:pPr algn="r" rtl="1">
              <a:lnSpc>
                <a:spcPct val="110000"/>
              </a:lnSpc>
              <a:spcAft>
                <a:spcPts val="600"/>
              </a:spcAft>
            </a:pPr>
            <a:r>
              <a:rPr sz="2300" b="0" lang="ar-SA">
                <a:solidFill>
                  <a:srgbClr val="FDF9F3"/>
                </a:solidFill>
                <a:latin typeface="Noto Naskh Arabic"/>
                <a:cs typeface="Noto Naskh Arabic"/>
                <a:ea typeface="Noto Naskh Arabic"/>
              </a:rPr>
              <a:t>تسميع + شرح + إحالة</a:t>
            </a:r>
          </a:p>
        </p:txBody>
      </p:sp>
      <p:sp>
        <p:nvSpPr>
          <p:cNvPr id="12" name="TextBox 11"/>
          <p:cNvSpPr txBox="1"/>
          <p:nvPr/>
        </p:nvSpPr>
        <p:spPr>
          <a:xfrm>
            <a:off x="8595360" y="5541264"/>
            <a:ext cx="2670048" cy="402336"/>
          </a:xfrm>
          <a:prstGeom prst="rect">
            <a:avLst/>
          </a:prstGeom>
          <a:noFill/>
        </p:spPr>
        <p:txBody>
          <a:bodyPr wrap="square" lIns="13716" rIns="13716" tIns="0" bIns="0">
            <a:spAutoFit/>
          </a:bodyPr>
          <a:lstStyle/>
          <a:p>
            <a:pPr algn="r" rtl="1">
              <a:lnSpc>
                <a:spcPct val="110000"/>
              </a:lnSpc>
              <a:spcAft>
                <a:spcPts val="600"/>
              </a:spcAft>
            </a:pPr>
            <a:r>
              <a:rPr sz="1600" b="0" lang="ar-SA">
                <a:solidFill>
                  <a:srgbClr val="FDF9F3"/>
                </a:solidFill>
                <a:latin typeface="Noto Naskh Arabic"/>
                <a:cs typeface="Noto Naskh Arabic"/>
                <a:ea typeface="Noto Naskh Arabic"/>
              </a:rPr>
              <a:t>رحلة كاملة، لا وظائف صورية.</a:t>
            </a:r>
          </a:p>
        </p:txBody>
      </p:sp>
      <p:sp>
        <p:nvSpPr>
          <p:cNvPr id="13" name="Rounded Rectangle 12"/>
          <p:cNvSpPr/>
          <p:nvPr/>
        </p:nvSpPr>
        <p:spPr>
          <a:xfrm>
            <a:off x="6318504" y="2770632"/>
            <a:ext cx="1618488" cy="39319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816351"/>
            <a:ext cx="1399032" cy="283464"/>
          </a:xfrm>
          <a:prstGeom prst="rect">
            <a:avLst/>
          </a:prstGeom>
          <a:noFill/>
        </p:spPr>
        <p:txBody>
          <a:bodyPr wrap="square" lIns="13716" rIns="13716" tIns="0" bIns="0">
            <a:spAutoFit/>
          </a:bodyPr>
          <a:lstStyle/>
          <a:p>
            <a:pPr algn="r" rtl="1">
              <a:lnSpc>
                <a:spcPct val="110000"/>
              </a:lnSpc>
              <a:spcAft>
                <a:spcPts val="600"/>
              </a:spcAft>
            </a:pPr>
            <a:r>
              <a:rPr sz="1100" b="1" lang="ar-SA">
                <a:solidFill>
                  <a:srgbClr val="994703"/>
                </a:solidFill>
                <a:latin typeface="Cairo"/>
                <a:cs typeface="Cairo"/>
                <a:ea typeface="Cairo"/>
              </a:rPr>
              <a:t>٤ أكتوبر</a:t>
            </a:r>
          </a:p>
        </p:txBody>
      </p:sp>
      <p:sp>
        <p:nvSpPr>
          <p:cNvPr id="15" name="TextBox 14"/>
          <p:cNvSpPr txBox="1"/>
          <p:nvPr/>
        </p:nvSpPr>
        <p:spPr>
          <a:xfrm>
            <a:off x="731520" y="2770632"/>
            <a:ext cx="5257800" cy="411480"/>
          </a:xfrm>
          <a:prstGeom prst="rect">
            <a:avLst/>
          </a:prstGeom>
          <a:noFill/>
        </p:spPr>
        <p:txBody>
          <a:bodyPr wrap="square" lIns="13716" rIns="13716" tIns="0" bIns="0">
            <a:spAutoFit/>
          </a:bodyPr>
          <a:lstStyle/>
          <a:p>
            <a:pPr algn="r" rtl="1">
              <a:lnSpc>
                <a:spcPct val="110000"/>
              </a:lnSpc>
              <a:spcAft>
                <a:spcPts val="600"/>
              </a:spcAft>
            </a:pPr>
            <a:r>
              <a:rPr sz="2000" b="1" lang="ar-SA">
                <a:solidFill>
                  <a:srgbClr val="6D4C3D"/>
                </a:solidFill>
                <a:latin typeface="Cairo"/>
                <a:cs typeface="Cairo"/>
                <a:ea typeface="Cairo"/>
              </a:rPr>
              <a:t>المحتوى والصوت</a:t>
            </a:r>
          </a:p>
        </p:txBody>
      </p:sp>
      <p:sp>
        <p:nvSpPr>
          <p:cNvPr id="16" name="TextBox 15"/>
          <p:cNvSpPr txBox="1"/>
          <p:nvPr/>
        </p:nvSpPr>
        <p:spPr>
          <a:xfrm>
            <a:off x="731520" y="3291839"/>
            <a:ext cx="7196328" cy="48463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2A1F1A"/>
                </a:solidFill>
                <a:latin typeface="Noto Naskh Arabic"/>
                <a:cs typeface="Noto Naskh Arabic"/>
                <a:ea typeface="Noto Naskh Arabic"/>
              </a:rPr>
              <a:t>اعتماد المقاطع والمصدر؛ مقارنة مزودي التفريغ.</a:t>
            </a:r>
          </a:p>
        </p:txBody>
      </p:sp>
      <p:sp>
        <p:nvSpPr>
          <p:cNvPr id="17" name="Rounded Rectangle 16"/>
          <p:cNvSpPr/>
          <p:nvPr/>
        </p:nvSpPr>
        <p:spPr>
          <a:xfrm>
            <a:off x="6318504" y="3886200"/>
            <a:ext cx="1618488" cy="39319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3931920"/>
            <a:ext cx="1399032" cy="283464"/>
          </a:xfrm>
          <a:prstGeom prst="rect">
            <a:avLst/>
          </a:prstGeom>
          <a:noFill/>
        </p:spPr>
        <p:txBody>
          <a:bodyPr wrap="square" lIns="13716" rIns="13716" tIns="0" bIns="0">
            <a:spAutoFit/>
          </a:bodyPr>
          <a:lstStyle/>
          <a:p>
            <a:pPr algn="r" rtl="1">
              <a:lnSpc>
                <a:spcPct val="110000"/>
              </a:lnSpc>
              <a:spcAft>
                <a:spcPts val="600"/>
              </a:spcAft>
            </a:pPr>
            <a:r>
              <a:rPr sz="1100" b="1" lang="ar-SA">
                <a:solidFill>
                  <a:srgbClr val="994703"/>
                </a:solidFill>
                <a:latin typeface="Cairo"/>
                <a:cs typeface="Cairo"/>
                <a:ea typeface="Cairo"/>
              </a:rPr>
              <a:t>٥ أكتوبر</a:t>
            </a:r>
          </a:p>
        </p:txBody>
      </p:sp>
      <p:sp>
        <p:nvSpPr>
          <p:cNvPr id="19" name="TextBox 18"/>
          <p:cNvSpPr txBox="1"/>
          <p:nvPr/>
        </p:nvSpPr>
        <p:spPr>
          <a:xfrm>
            <a:off x="731520" y="3886200"/>
            <a:ext cx="5257800" cy="411480"/>
          </a:xfrm>
          <a:prstGeom prst="rect">
            <a:avLst/>
          </a:prstGeom>
          <a:noFill/>
        </p:spPr>
        <p:txBody>
          <a:bodyPr wrap="square" lIns="13716" rIns="13716" tIns="0" bIns="0">
            <a:spAutoFit/>
          </a:bodyPr>
          <a:lstStyle/>
          <a:p>
            <a:pPr algn="r" rtl="1">
              <a:lnSpc>
                <a:spcPct val="110000"/>
              </a:lnSpc>
              <a:spcAft>
                <a:spcPts val="600"/>
              </a:spcAft>
            </a:pPr>
            <a:r>
              <a:rPr sz="2000" b="1" lang="ar-SA">
                <a:solidFill>
                  <a:srgbClr val="6D4C3D"/>
                </a:solidFill>
                <a:latin typeface="Cairo"/>
                <a:cs typeface="Cairo"/>
                <a:ea typeface="Cairo"/>
              </a:rPr>
              <a:t>تكامل الرحلة</a:t>
            </a:r>
          </a:p>
        </p:txBody>
      </p:sp>
      <p:sp>
        <p:nvSpPr>
          <p:cNvPr id="20" name="TextBox 19"/>
          <p:cNvSpPr txBox="1"/>
          <p:nvPr/>
        </p:nvSpPr>
        <p:spPr>
          <a:xfrm>
            <a:off x="731520" y="4407408"/>
            <a:ext cx="7196328" cy="48463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2A1F1A"/>
                </a:solidFill>
                <a:latin typeface="Noto Naskh Arabic"/>
                <a:cs typeface="Noto Naskh Arabic"/>
                <a:ea typeface="Noto Naskh Arabic"/>
              </a:rPr>
              <a:t>ربط التسميع والشرح والإحالة؛ اختبار حالات الفشل.</a:t>
            </a:r>
          </a:p>
        </p:txBody>
      </p:sp>
      <p:sp>
        <p:nvSpPr>
          <p:cNvPr id="21" name="Rounded Rectangle 20"/>
          <p:cNvSpPr/>
          <p:nvPr/>
        </p:nvSpPr>
        <p:spPr>
          <a:xfrm>
            <a:off x="6318504" y="5001768"/>
            <a:ext cx="1618488" cy="393192"/>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5047488"/>
            <a:ext cx="1399032" cy="283464"/>
          </a:xfrm>
          <a:prstGeom prst="rect">
            <a:avLst/>
          </a:prstGeom>
          <a:noFill/>
        </p:spPr>
        <p:txBody>
          <a:bodyPr wrap="square" lIns="13716" rIns="13716" tIns="0" bIns="0">
            <a:spAutoFit/>
          </a:bodyPr>
          <a:lstStyle/>
          <a:p>
            <a:pPr algn="r" rtl="1">
              <a:lnSpc>
                <a:spcPct val="110000"/>
              </a:lnSpc>
              <a:spcAft>
                <a:spcPts val="600"/>
              </a:spcAft>
            </a:pPr>
            <a:r>
              <a:rPr sz="1100" b="1" lang="ar-SA">
                <a:solidFill>
                  <a:srgbClr val="994703"/>
                </a:solidFill>
                <a:latin typeface="Cairo"/>
                <a:cs typeface="Cairo"/>
                <a:ea typeface="Cairo"/>
              </a:rPr>
              <a:t>٦ أكتوبر</a:t>
            </a:r>
          </a:p>
        </p:txBody>
      </p:sp>
      <p:sp>
        <p:nvSpPr>
          <p:cNvPr id="23" name="TextBox 22"/>
          <p:cNvSpPr txBox="1"/>
          <p:nvPr/>
        </p:nvSpPr>
        <p:spPr>
          <a:xfrm>
            <a:off x="731520" y="5001768"/>
            <a:ext cx="5257800" cy="411480"/>
          </a:xfrm>
          <a:prstGeom prst="rect">
            <a:avLst/>
          </a:prstGeom>
          <a:noFill/>
        </p:spPr>
        <p:txBody>
          <a:bodyPr wrap="square" lIns="13716" rIns="13716" tIns="0" bIns="0">
            <a:spAutoFit/>
          </a:bodyPr>
          <a:lstStyle/>
          <a:p>
            <a:pPr algn="r" rtl="1">
              <a:lnSpc>
                <a:spcPct val="110000"/>
              </a:lnSpc>
              <a:spcAft>
                <a:spcPts val="600"/>
              </a:spcAft>
            </a:pPr>
            <a:r>
              <a:rPr sz="2000" b="1" lang="ar-SA">
                <a:solidFill>
                  <a:srgbClr val="6D4C3D"/>
                </a:solidFill>
                <a:latin typeface="Cairo"/>
                <a:cs typeface="Cairo"/>
                <a:ea typeface="Cairo"/>
              </a:rPr>
              <a:t>التحقق والتسليم</a:t>
            </a:r>
          </a:p>
        </p:txBody>
      </p:sp>
      <p:sp>
        <p:nvSpPr>
          <p:cNvPr id="24" name="TextBox 23"/>
          <p:cNvSpPr txBox="1"/>
          <p:nvPr/>
        </p:nvSpPr>
        <p:spPr>
          <a:xfrm>
            <a:off x="731520" y="5522976"/>
            <a:ext cx="7196328" cy="484632"/>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2A1F1A"/>
                </a:solidFill>
                <a:latin typeface="Noto Naskh Arabic"/>
                <a:cs typeface="Noto Naskh Arabic"/>
                <a:ea typeface="Noto Naskh Arabic"/>
              </a:rPr>
              <a:t>مراجعة علمية وتجربة متطوعين وتوثيق المخرجات.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معيار النجاح • ما الذي سنحاول إثباته؟</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08</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هل يفهم الطالب أسرع، دون أن نخسر الدقة؟</a:t>
            </a:r>
          </a:p>
        </p:txBody>
      </p:sp>
      <p:sp>
        <p:nvSpPr>
          <p:cNvPr id="9" name="TextBox 8"/>
          <p:cNvSpPr txBox="1"/>
          <p:nvPr/>
        </p:nvSpPr>
        <p:spPr>
          <a:xfrm>
            <a:off x="731520" y="2505456"/>
            <a:ext cx="10716768" cy="594360"/>
          </a:xfrm>
          <a:prstGeom prst="rect">
            <a:avLst/>
          </a:prstGeom>
          <a:noFill/>
        </p:spPr>
        <p:txBody>
          <a:bodyPr wrap="square" lIns="13716" rIns="13716" tIns="0" bIns="0">
            <a:spAutoFit/>
          </a:bodyPr>
          <a:lstStyle/>
          <a:p>
            <a:pPr algn="r" rtl="1">
              <a:lnSpc>
                <a:spcPct val="110000"/>
              </a:lnSpc>
              <a:spcAft>
                <a:spcPts val="600"/>
              </a:spcAft>
            </a:pPr>
            <a:r>
              <a:rPr sz="2200" b="0" lang="ar-SA">
                <a:solidFill>
                  <a:srgbClr val="2A1F1A"/>
                </a:solidFill>
                <a:latin typeface="Noto Naskh Arabic"/>
                <a:cs typeface="Noto Naskh Arabic"/>
                <a:ea typeface="Noto Naskh Arabic"/>
              </a:rPr>
              <a:t>تجربة مقترحة: ١٠ متطوعين، مهام متكافئة، وترتيب متبادل بين مَتِين والبحث اليدوي.</a:t>
            </a:r>
          </a:p>
        </p:txBody>
      </p:sp>
      <p:sp>
        <p:nvSpPr>
          <p:cNvPr id="10" name="Rounded Rectangle 9"/>
          <p:cNvSpPr/>
          <p:nvPr/>
        </p:nvSpPr>
        <p:spPr>
          <a:xfrm>
            <a:off x="640080" y="3300984"/>
            <a:ext cx="10881360" cy="704088"/>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66376" y="3483864"/>
            <a:ext cx="1399032" cy="365760"/>
          </a:xfrm>
          <a:prstGeom prst="rect">
            <a:avLst/>
          </a:prstGeom>
          <a:noFill/>
        </p:spPr>
        <p:txBody>
          <a:bodyPr wrap="square" lIns="13716" rIns="13716" tIns="0" bIns="0">
            <a:spAutoFit/>
          </a:bodyPr>
          <a:lstStyle/>
          <a:p>
            <a:pPr algn="r" rtl="1">
              <a:lnSpc>
                <a:spcPct val="110000"/>
              </a:lnSpc>
              <a:spcAft>
                <a:spcPts val="600"/>
              </a:spcAft>
            </a:pPr>
            <a:r>
              <a:rPr sz="1600" b="1" lang="ar-SA">
                <a:solidFill>
                  <a:srgbClr val="994703"/>
                </a:solidFill>
                <a:latin typeface="Cairo"/>
                <a:cs typeface="Cairo"/>
                <a:ea typeface="Cairo"/>
              </a:rPr>
              <a:t>الفهم</a:t>
            </a:r>
          </a:p>
        </p:txBody>
      </p:sp>
      <p:sp>
        <p:nvSpPr>
          <p:cNvPr id="12" name="TextBox 11"/>
          <p:cNvSpPr txBox="1"/>
          <p:nvPr/>
        </p:nvSpPr>
        <p:spPr>
          <a:xfrm>
            <a:off x="5650992" y="3465576"/>
            <a:ext cx="3904487" cy="402336"/>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زمن الوصول إلى شرح صحيح ومسنَد</a:t>
            </a:r>
          </a:p>
        </p:txBody>
      </p:sp>
      <p:sp>
        <p:nvSpPr>
          <p:cNvPr id="13" name="TextBox 12"/>
          <p:cNvSpPr txBox="1"/>
          <p:nvPr/>
        </p:nvSpPr>
        <p:spPr>
          <a:xfrm>
            <a:off x="896112" y="3447288"/>
            <a:ext cx="4416552" cy="457200"/>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2A1F1A"/>
                </a:solidFill>
                <a:latin typeface="Noto Naskh Arabic"/>
                <a:cs typeface="Noto Naskh Arabic"/>
                <a:ea typeface="Noto Naskh Arabic"/>
              </a:rPr>
              <a:t>مقارنة بالبحث اليدوي؛ لا يكفي أن تكون الإجابة أسرع.</a:t>
            </a:r>
          </a:p>
        </p:txBody>
      </p:sp>
      <p:sp>
        <p:nvSpPr>
          <p:cNvPr id="14" name="Rounded Rectangle 13"/>
          <p:cNvSpPr/>
          <p:nvPr/>
        </p:nvSpPr>
        <p:spPr>
          <a:xfrm>
            <a:off x="640080" y="4105656"/>
            <a:ext cx="10881360" cy="704088"/>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66376" y="4288536"/>
            <a:ext cx="1399032" cy="365760"/>
          </a:xfrm>
          <a:prstGeom prst="rect">
            <a:avLst/>
          </a:prstGeom>
          <a:noFill/>
        </p:spPr>
        <p:txBody>
          <a:bodyPr wrap="square" lIns="13716" rIns="13716" tIns="0" bIns="0">
            <a:spAutoFit/>
          </a:bodyPr>
          <a:lstStyle/>
          <a:p>
            <a:pPr algn="r" rtl="1">
              <a:lnSpc>
                <a:spcPct val="110000"/>
              </a:lnSpc>
              <a:spcAft>
                <a:spcPts val="600"/>
              </a:spcAft>
            </a:pPr>
            <a:r>
              <a:rPr sz="1600" b="1" lang="ar-SA">
                <a:solidFill>
                  <a:srgbClr val="994703"/>
                </a:solidFill>
                <a:latin typeface="Cairo"/>
                <a:cs typeface="Cairo"/>
                <a:ea typeface="Cairo"/>
              </a:rPr>
              <a:t>التسميع</a:t>
            </a:r>
          </a:p>
        </p:txBody>
      </p:sp>
      <p:sp>
        <p:nvSpPr>
          <p:cNvPr id="16" name="TextBox 15"/>
          <p:cNvSpPr txBox="1"/>
          <p:nvPr/>
        </p:nvSpPr>
        <p:spPr>
          <a:xfrm>
            <a:off x="5650992" y="4270248"/>
            <a:ext cx="3904487" cy="402336"/>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اكتشاف الحذف والاستبدال</a:t>
            </a:r>
          </a:p>
        </p:txBody>
      </p:sp>
      <p:sp>
        <p:nvSpPr>
          <p:cNvPr id="17" name="TextBox 16"/>
          <p:cNvSpPr txBox="1"/>
          <p:nvPr/>
        </p:nvSpPr>
        <p:spPr>
          <a:xfrm>
            <a:off x="896112" y="4251960"/>
            <a:ext cx="4416552" cy="457200"/>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2A1F1A"/>
                </a:solidFill>
                <a:latin typeface="Noto Naskh Arabic"/>
                <a:cs typeface="Noto Naskh Arabic"/>
                <a:ea typeface="Noto Naskh Arabic"/>
              </a:rPr>
              <a:t>٢٠ مقطعاً متنوعاً؛ قياس الأخطاء الزائفة وزمن التنبيه.</a:t>
            </a:r>
          </a:p>
        </p:txBody>
      </p:sp>
      <p:sp>
        <p:nvSpPr>
          <p:cNvPr id="18" name="Rounded Rectangle 17"/>
          <p:cNvSpPr/>
          <p:nvPr/>
        </p:nvSpPr>
        <p:spPr>
          <a:xfrm>
            <a:off x="640080" y="4910328"/>
            <a:ext cx="10881360" cy="704088"/>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66376" y="5093208"/>
            <a:ext cx="1399032" cy="365760"/>
          </a:xfrm>
          <a:prstGeom prst="rect">
            <a:avLst/>
          </a:prstGeom>
          <a:noFill/>
        </p:spPr>
        <p:txBody>
          <a:bodyPr wrap="square" lIns="13716" rIns="13716" tIns="0" bIns="0">
            <a:spAutoFit/>
          </a:bodyPr>
          <a:lstStyle/>
          <a:p>
            <a:pPr algn="r" rtl="1">
              <a:lnSpc>
                <a:spcPct val="110000"/>
              </a:lnSpc>
              <a:spcAft>
                <a:spcPts val="600"/>
              </a:spcAft>
            </a:pPr>
            <a:r>
              <a:rPr sz="1600" b="1" lang="ar-SA">
                <a:solidFill>
                  <a:srgbClr val="994703"/>
                </a:solidFill>
                <a:latin typeface="Cairo"/>
                <a:cs typeface="Cairo"/>
                <a:ea typeface="Cairo"/>
              </a:rPr>
              <a:t>السلامة</a:t>
            </a:r>
          </a:p>
        </p:txBody>
      </p:sp>
      <p:sp>
        <p:nvSpPr>
          <p:cNvPr id="20" name="TextBox 19"/>
          <p:cNvSpPr txBox="1"/>
          <p:nvPr/>
        </p:nvSpPr>
        <p:spPr>
          <a:xfrm>
            <a:off x="5650992" y="5074920"/>
            <a:ext cx="3904487" cy="402336"/>
          </a:xfrm>
          <a:prstGeom prst="rect">
            <a:avLst/>
          </a:prstGeom>
          <a:noFill/>
        </p:spPr>
        <p:txBody>
          <a:bodyPr wrap="square" lIns="13716" rIns="13716" tIns="0" bIns="0">
            <a:spAutoFit/>
          </a:bodyPr>
          <a:lstStyle/>
          <a:p>
            <a:pPr algn="r" rtl="1">
              <a:lnSpc>
                <a:spcPct val="110000"/>
              </a:lnSpc>
              <a:spcAft>
                <a:spcPts val="600"/>
              </a:spcAft>
            </a:pPr>
            <a:r>
              <a:rPr sz="1900" b="1" lang="ar-SA">
                <a:solidFill>
                  <a:srgbClr val="6D4C3D"/>
                </a:solidFill>
                <a:latin typeface="Cairo"/>
                <a:cs typeface="Cairo"/>
                <a:ea typeface="Cairo"/>
              </a:rPr>
              <a:t>صحة العزو والامتناع والإحالة</a:t>
            </a:r>
          </a:p>
        </p:txBody>
      </p:sp>
      <p:sp>
        <p:nvSpPr>
          <p:cNvPr id="21" name="TextBox 20"/>
          <p:cNvSpPr txBox="1"/>
          <p:nvPr/>
        </p:nvSpPr>
        <p:spPr>
          <a:xfrm>
            <a:off x="896112" y="5056632"/>
            <a:ext cx="4416552" cy="457200"/>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2A1F1A"/>
                </a:solidFill>
                <a:latin typeface="Noto Naskh Arabic"/>
                <a:cs typeface="Noto Naskh Arabic"/>
                <a:ea typeface="Noto Naskh Arabic"/>
              </a:rPr>
              <a:t>٢٠ سؤالاً؛ منها ١٠ حالات حرجة لمراجعة المختص.</a:t>
            </a:r>
          </a:p>
        </p:txBody>
      </p:sp>
      <p:sp>
        <p:nvSpPr>
          <p:cNvPr id="22" name="TextBox 21"/>
          <p:cNvSpPr txBox="1"/>
          <p:nvPr/>
        </p:nvSpPr>
        <p:spPr>
          <a:xfrm>
            <a:off x="731520" y="5925312"/>
            <a:ext cx="10716768" cy="448056"/>
          </a:xfrm>
          <a:prstGeom prst="rect">
            <a:avLst/>
          </a:prstGeom>
          <a:noFill/>
        </p:spPr>
        <p:txBody>
          <a:bodyPr wrap="square" lIns="13716" rIns="13716" tIns="0" bIns="0">
            <a:spAutoFit/>
          </a:bodyPr>
          <a:lstStyle/>
          <a:p>
            <a:pPr algn="r" rtl="1">
              <a:lnSpc>
                <a:spcPct val="110000"/>
              </a:lnSpc>
              <a:spcAft>
                <a:spcPts val="600"/>
              </a:spcAft>
            </a:pPr>
            <a:r>
              <a:rPr sz="1800" b="0" lang="ar-SA">
                <a:solidFill>
                  <a:srgbClr val="994703"/>
                </a:solidFill>
                <a:latin typeface="Noto Naskh Arabic"/>
                <a:cs typeface="Noto Naskh Arabic"/>
                <a:ea typeface="Noto Naskh Arabic"/>
              </a:rPr>
              <a:t>هدف السلامة: اجتياز الحالات الحرجة قبل الإتاحة؛ لا أرقام أداء محققة ولا ضمان «صفر خطأ».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6D4C3D"/>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6D4C3D"/>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6D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994703"/>
                </a:solidFill>
                <a:latin typeface="Cairo"/>
                <a:cs typeface="Cairo"/>
                <a:ea typeface="Cairo"/>
              </a:rPr>
              <a:t>الفريق • مسؤوليات واضحة من الفكرة إلى الاختبار</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6D4C3D"/>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6D4C3D"/>
                </a:solidFill>
                <a:latin typeface="Cairo"/>
                <a:cs typeface="Cairo"/>
                <a:ea typeface="Cairo"/>
              </a:rPr>
              <a:t>09</a:t>
            </a:r>
          </a:p>
        </p:txBody>
      </p:sp>
      <p:sp>
        <p:nvSpPr>
          <p:cNvPr id="8" name="TextBox 7"/>
          <p:cNvSpPr txBox="1"/>
          <p:nvPr/>
        </p:nvSpPr>
        <p:spPr>
          <a:xfrm>
            <a:off x="640080" y="1508760"/>
            <a:ext cx="10881360" cy="868680"/>
          </a:xfrm>
          <a:prstGeom prst="rect">
            <a:avLst/>
          </a:prstGeom>
          <a:noFill/>
        </p:spPr>
        <p:txBody>
          <a:bodyPr wrap="square" lIns="13716" rIns="13716" tIns="0" bIns="0">
            <a:spAutoFit/>
          </a:bodyPr>
          <a:lstStyle/>
          <a:p>
            <a:pPr algn="r" rtl="1">
              <a:lnSpc>
                <a:spcPct val="110000"/>
              </a:lnSpc>
              <a:spcAft>
                <a:spcPts val="600"/>
              </a:spcAft>
            </a:pPr>
            <a:r>
              <a:rPr sz="3000" b="1" lang="ar-SA">
                <a:solidFill>
                  <a:srgbClr val="6D4C3D"/>
                </a:solidFill>
                <a:latin typeface="Kufam"/>
                <a:cs typeface="Kufam"/>
                <a:ea typeface="Kufam"/>
              </a:rPr>
              <a:t>عضوان، وتكامل بين تجربة التعلم ومحركها.</a:t>
            </a:r>
          </a:p>
        </p:txBody>
      </p:sp>
      <p:sp>
        <p:nvSpPr>
          <p:cNvPr id="9" name="Rounded Rectangle 8"/>
          <p:cNvSpPr/>
          <p:nvPr/>
        </p:nvSpPr>
        <p:spPr>
          <a:xfrm>
            <a:off x="6236208" y="2670048"/>
            <a:ext cx="5276088" cy="3145536"/>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02568" y="2907792"/>
            <a:ext cx="36576" cy="2615184"/>
          </a:xfrm>
          <a:prstGeom prst="rect">
            <a:avLst/>
          </a:prstGeom>
          <a:solidFill>
            <a:srgbClr val="994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944368"/>
            <a:ext cx="4727448" cy="365760"/>
          </a:xfrm>
          <a:prstGeom prst="rect">
            <a:avLst/>
          </a:prstGeom>
          <a:noFill/>
        </p:spPr>
        <p:txBody>
          <a:bodyPr wrap="square" lIns="13716" rIns="13716" tIns="0" bIns="0">
            <a:spAutoFit/>
          </a:bodyPr>
          <a:lstStyle/>
          <a:p>
            <a:pPr algn="r" rtl="1">
              <a:lnSpc>
                <a:spcPct val="110000"/>
              </a:lnSpc>
              <a:spcAft>
                <a:spcPts val="600"/>
              </a:spcAft>
            </a:pPr>
            <a:r>
              <a:rPr sz="1300" b="1" lang="ar-SA">
                <a:solidFill>
                  <a:srgbClr val="994703"/>
                </a:solidFill>
                <a:latin typeface="Cairo"/>
                <a:cs typeface="Cairo"/>
                <a:ea typeface="Cairo"/>
              </a:rPr>
              <a:t>الفكرة • التجربة • المحتوى</a:t>
            </a:r>
          </a:p>
        </p:txBody>
      </p:sp>
      <p:sp>
        <p:nvSpPr>
          <p:cNvPr id="12" name="TextBox 11"/>
          <p:cNvSpPr txBox="1"/>
          <p:nvPr/>
        </p:nvSpPr>
        <p:spPr>
          <a:xfrm>
            <a:off x="6483096" y="3593592"/>
            <a:ext cx="4727448" cy="640080"/>
          </a:xfrm>
          <a:prstGeom prst="rect">
            <a:avLst/>
          </a:prstGeom>
          <a:noFill/>
        </p:spPr>
        <p:txBody>
          <a:bodyPr wrap="square" lIns="13716" rIns="13716" tIns="0" bIns="0">
            <a:spAutoFit/>
          </a:bodyPr>
          <a:lstStyle/>
          <a:p>
            <a:pPr algn="r" rtl="1">
              <a:lnSpc>
                <a:spcPct val="110000"/>
              </a:lnSpc>
              <a:spcAft>
                <a:spcPts val="600"/>
              </a:spcAft>
            </a:pPr>
            <a:r>
              <a:rPr sz="2100" b="1" lang="ar-SA">
                <a:solidFill>
                  <a:srgbClr val="6D4C3D"/>
                </a:solidFill>
                <a:latin typeface="Kufam"/>
                <a:cs typeface="Kufam"/>
                <a:ea typeface="Kufam"/>
              </a:rPr>
              <a:t>عبد الرحمن عماد ابوز عنين</a:t>
            </a:r>
          </a:p>
        </p:txBody>
      </p:sp>
      <p:sp>
        <p:nvSpPr>
          <p:cNvPr id="13" name="TextBox 12"/>
          <p:cNvSpPr txBox="1"/>
          <p:nvPr/>
        </p:nvSpPr>
        <p:spPr>
          <a:xfrm>
            <a:off x="6483096" y="4517136"/>
            <a:ext cx="4727448" cy="1133856"/>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2A1F1A"/>
                </a:solidFill>
                <a:latin typeface="Noto Naskh Arabic"/>
                <a:cs typeface="Noto Naskh Arabic"/>
                <a:ea typeface="Noto Naskh Arabic"/>
              </a:rPr>
              <a:t>تطوير الفكرة وتجربة المستخدم</a:t>
            </a:r>
          </a:p>
          <a:p>
            <a:pPr algn="r" rtl="1">
              <a:lnSpc>
                <a:spcPct val="110000"/>
              </a:lnSpc>
              <a:spcAft>
                <a:spcPts val="600"/>
              </a:spcAft>
            </a:pPr>
            <a:r>
              <a:rPr sz="2100" b="0" lang="ar-SA">
                <a:solidFill>
                  <a:srgbClr val="2A1F1A"/>
                </a:solidFill>
                <a:latin typeface="Noto Naskh Arabic"/>
                <a:cs typeface="Noto Naskh Arabic"/>
                <a:ea typeface="Noto Naskh Arabic"/>
              </a:rPr>
              <a:t>تصميم الواجهات</a:t>
            </a:r>
          </a:p>
          <a:p>
            <a:pPr algn="r" rtl="1">
              <a:lnSpc>
                <a:spcPct val="110000"/>
              </a:lnSpc>
              <a:spcAft>
                <a:spcPts val="600"/>
              </a:spcAft>
            </a:pPr>
            <a:r>
              <a:rPr sz="2100" b="0" lang="ar-SA">
                <a:solidFill>
                  <a:srgbClr val="2A1F1A"/>
                </a:solidFill>
                <a:latin typeface="Noto Naskh Arabic"/>
                <a:cs typeface="Noto Naskh Arabic"/>
                <a:ea typeface="Noto Naskh Arabic"/>
              </a:rPr>
              <a:t>مراجعة صحة المحتوى وضبط المصادر</a:t>
            </a:r>
          </a:p>
        </p:txBody>
      </p:sp>
      <p:sp>
        <p:nvSpPr>
          <p:cNvPr id="14" name="Rounded Rectangle 13"/>
          <p:cNvSpPr/>
          <p:nvPr/>
        </p:nvSpPr>
        <p:spPr>
          <a:xfrm>
            <a:off x="640080" y="2670048"/>
            <a:ext cx="5276088" cy="3145536"/>
          </a:xfrm>
          <a:prstGeom prst="roundRect">
            <a:avLst>
              <a:gd name="adj" fmla="val 8000"/>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2907792"/>
            <a:ext cx="36576" cy="2615184"/>
          </a:xfrm>
          <a:prstGeom prst="rect">
            <a:avLst/>
          </a:prstGeom>
          <a:solidFill>
            <a:srgbClr val="994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944368"/>
            <a:ext cx="4727448" cy="365760"/>
          </a:xfrm>
          <a:prstGeom prst="rect">
            <a:avLst/>
          </a:prstGeom>
          <a:noFill/>
        </p:spPr>
        <p:txBody>
          <a:bodyPr wrap="square" lIns="13716" rIns="13716" tIns="0" bIns="0">
            <a:spAutoFit/>
          </a:bodyPr>
          <a:lstStyle/>
          <a:p>
            <a:pPr algn="r" rtl="1">
              <a:lnSpc>
                <a:spcPct val="110000"/>
              </a:lnSpc>
              <a:spcAft>
                <a:spcPts val="600"/>
              </a:spcAft>
            </a:pPr>
            <a:r>
              <a:rPr sz="1300" b="1" lang="ar-SA">
                <a:solidFill>
                  <a:srgbClr val="994703"/>
                </a:solidFill>
                <a:latin typeface="Cairo"/>
                <a:cs typeface="Cairo"/>
                <a:ea typeface="Cairo"/>
              </a:rPr>
              <a:t>الذكاء الاصطناعي • الخادم</a:t>
            </a:r>
          </a:p>
        </p:txBody>
      </p:sp>
      <p:sp>
        <p:nvSpPr>
          <p:cNvPr id="17" name="TextBox 16"/>
          <p:cNvSpPr txBox="1"/>
          <p:nvPr/>
        </p:nvSpPr>
        <p:spPr>
          <a:xfrm>
            <a:off x="886968" y="3593592"/>
            <a:ext cx="4727448" cy="640080"/>
          </a:xfrm>
          <a:prstGeom prst="rect">
            <a:avLst/>
          </a:prstGeom>
          <a:noFill/>
        </p:spPr>
        <p:txBody>
          <a:bodyPr wrap="square" lIns="13716" rIns="13716" tIns="0" bIns="0">
            <a:spAutoFit/>
          </a:bodyPr>
          <a:lstStyle/>
          <a:p>
            <a:pPr algn="r" rtl="1">
              <a:lnSpc>
                <a:spcPct val="110000"/>
              </a:lnSpc>
              <a:spcAft>
                <a:spcPts val="600"/>
              </a:spcAft>
            </a:pPr>
            <a:r>
              <a:rPr sz="2100" b="1" lang="ar-SA">
                <a:solidFill>
                  <a:srgbClr val="6D4C3D"/>
                </a:solidFill>
                <a:latin typeface="Kufam"/>
                <a:cs typeface="Kufam"/>
                <a:ea typeface="Kufam"/>
              </a:rPr>
              <a:t>مالك نورالدين الساعدي</a:t>
            </a:r>
          </a:p>
        </p:txBody>
      </p:sp>
      <p:sp>
        <p:nvSpPr>
          <p:cNvPr id="18" name="TextBox 17"/>
          <p:cNvSpPr txBox="1"/>
          <p:nvPr/>
        </p:nvSpPr>
        <p:spPr>
          <a:xfrm>
            <a:off x="886968" y="4517136"/>
            <a:ext cx="4727448" cy="1133856"/>
          </a:xfrm>
          <a:prstGeom prst="rect">
            <a:avLst/>
          </a:prstGeom>
          <a:noFill/>
        </p:spPr>
        <p:txBody>
          <a:bodyPr wrap="square" lIns="13716" rIns="13716" tIns="0" bIns="0">
            <a:spAutoFit/>
          </a:bodyPr>
          <a:lstStyle/>
          <a:p>
            <a:pPr algn="r" rtl="1">
              <a:lnSpc>
                <a:spcPct val="110000"/>
              </a:lnSpc>
              <a:spcAft>
                <a:spcPts val="600"/>
              </a:spcAft>
            </a:pPr>
            <a:r>
              <a:rPr sz="2100" b="0" lang="ar-SA">
                <a:solidFill>
                  <a:srgbClr val="2A1F1A"/>
                </a:solidFill>
                <a:latin typeface="Noto Naskh Arabic"/>
                <a:cs typeface="Noto Naskh Arabic"/>
                <a:ea typeface="Noto Naskh Arabic"/>
              </a:rPr>
              <a:t>تطوير نماذج الذكاء الاصطناعي وتدريبها</a:t>
            </a:r>
          </a:p>
          <a:p>
            <a:pPr algn="r" rtl="1">
              <a:lnSpc>
                <a:spcPct val="110000"/>
              </a:lnSpc>
              <a:spcAft>
                <a:spcPts val="600"/>
              </a:spcAft>
            </a:pPr>
            <a:r>
              <a:rPr sz="2100" b="0" lang="ar-SA">
                <a:solidFill>
                  <a:srgbClr val="2A1F1A"/>
                </a:solidFill>
                <a:latin typeface="Noto Naskh Arabic"/>
                <a:cs typeface="Noto Naskh Arabic"/>
                <a:ea typeface="Noto Naskh Arabic"/>
              </a:rPr>
              <a:t>تطوير الواجهة الخلفية للمنصة</a:t>
            </a:r>
          </a:p>
          <a:p>
            <a:pPr algn="r" rtl="1">
              <a:lnSpc>
                <a:spcPct val="110000"/>
              </a:lnSpc>
              <a:spcAft>
                <a:spcPts val="600"/>
              </a:spcAft>
            </a:pPr>
            <a:r>
              <a:rPr sz="2100" b="0" lang="ar-SA">
                <a:solidFill>
                  <a:srgbClr val="2A1F1A"/>
                </a:solidFill>
                <a:latin typeface="Noto Naskh Arabic"/>
                <a:cs typeface="Noto Naskh Arabic"/>
                <a:ea typeface="Noto Naskh Arabic"/>
              </a:rPr>
              <a:t>ربط مكونات المعالجة والخدمات</a:t>
            </a:r>
          </a:p>
        </p:txBody>
      </p:sp>
      <p:sp>
        <p:nvSpPr>
          <p:cNvPr id="19" name="TextBox 18"/>
          <p:cNvSpPr txBox="1"/>
          <p:nvPr/>
        </p:nvSpPr>
        <p:spPr>
          <a:xfrm>
            <a:off x="731520" y="6035040"/>
            <a:ext cx="10716768" cy="384048"/>
          </a:xfrm>
          <a:prstGeom prst="rect">
            <a:avLst/>
          </a:prstGeom>
          <a:noFill/>
        </p:spPr>
        <p:txBody>
          <a:bodyPr wrap="square" lIns="13716" rIns="13716" tIns="0" bIns="0">
            <a:spAutoFit/>
          </a:bodyPr>
          <a:lstStyle/>
          <a:p>
            <a:pPr algn="r" rtl="1">
              <a:lnSpc>
                <a:spcPct val="110000"/>
              </a:lnSpc>
              <a:spcAft>
                <a:spcPts val="600"/>
              </a:spcAft>
            </a:pPr>
            <a:r>
              <a:rPr sz="1900" b="0" lang="ar-SA">
                <a:solidFill>
                  <a:srgbClr val="4E3A00"/>
                </a:solidFill>
                <a:latin typeface="Noto Naskh Arabic"/>
                <a:cs typeface="Noto Naskh Arabic"/>
                <a:ea typeface="Noto Naskh Arabic"/>
              </a:rPr>
              <a:t>المراجعة المشتركة: جودة الرحلة، صحة الإسناد، وحدود النتائج قبل التسليم.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6D4C3D"/>
        </a:solidFill>
        <a:effectLst/>
      </p:bgPr>
    </p:bg>
    <p:spTree>
      <p:nvGrpSpPr>
        <p:cNvPr id="1" name=""/>
        <p:cNvGrpSpPr/>
        <p:nvPr/>
      </p:nvGrpSpPr>
      <p:grpSpPr/>
      <p:sp>
        <p:nvSpPr>
          <p:cNvPr id="2" name="TextBox 1"/>
          <p:cNvSpPr txBox="1"/>
          <p:nvPr/>
        </p:nvSpPr>
        <p:spPr>
          <a:xfrm>
            <a:off x="6400800" y="256032"/>
            <a:ext cx="5120640" cy="292608"/>
          </a:xfrm>
          <a:prstGeom prst="rect">
            <a:avLst/>
          </a:prstGeom>
          <a:noFill/>
        </p:spPr>
        <p:txBody>
          <a:bodyPr wrap="square" lIns="13716" rIns="13716" tIns="0" bIns="0">
            <a:spAutoFit/>
          </a:bodyPr>
          <a:lstStyle/>
          <a:p>
            <a:pPr algn="r" rtl="1">
              <a:lnSpc>
                <a:spcPct val="110000"/>
              </a:lnSpc>
              <a:spcAft>
                <a:spcPts val="600"/>
              </a:spcAft>
            </a:pPr>
            <a:r>
              <a:rPr sz="1100" b="0" lang="ar-SA">
                <a:solidFill>
                  <a:srgbClr val="FDF9F3"/>
                </a:solidFill>
                <a:latin typeface="Cairo"/>
                <a:cs typeface="Cairo"/>
                <a:ea typeface="Cairo"/>
              </a:rPr>
              <a:t>منصة مَتِين  /  المسار المفتوح</a:t>
            </a:r>
          </a:p>
        </p:txBody>
      </p:sp>
      <p:sp>
        <p:nvSpPr>
          <p:cNvPr id="3" name="TextBox 2"/>
          <p:cNvSpPr txBox="1"/>
          <p:nvPr/>
        </p:nvSpPr>
        <p:spPr>
          <a:xfrm>
            <a:off x="640080" y="256032"/>
            <a:ext cx="5303520" cy="292608"/>
          </a:xfrm>
          <a:prstGeom prst="rect">
            <a:avLst/>
          </a:prstGeom>
          <a:noFill/>
        </p:spPr>
        <p:txBody>
          <a:bodyPr wrap="square" lIns="13716" rIns="13716" tIns="0" bIns="0">
            <a:spAutoFit/>
          </a:bodyPr>
          <a:lstStyle/>
          <a:p>
            <a:pPr algn="l" rtl="1">
              <a:lnSpc>
                <a:spcPct val="110000"/>
              </a:lnSpc>
              <a:spcAft>
                <a:spcPts val="600"/>
              </a:spcAft>
            </a:pPr>
            <a:r>
              <a:rPr sz="1000" b="0" lang="ar-SA">
                <a:solidFill>
                  <a:srgbClr val="FDF9F3"/>
                </a:solidFill>
                <a:latin typeface="Cairo"/>
                <a:cs typeface="Cairo"/>
                <a:ea typeface="Cairo"/>
              </a:rPr>
              <a:t>تحدي المحتوى الإسلامي ٢٠٢٦  •  مقترح فكرة</a:t>
            </a:r>
          </a:p>
        </p:txBody>
      </p:sp>
      <p:sp>
        <p:nvSpPr>
          <p:cNvPr id="4" name="Rectangle 3"/>
          <p:cNvSpPr/>
          <p:nvPr/>
        </p:nvSpPr>
        <p:spPr>
          <a:xfrm>
            <a:off x="640080" y="777240"/>
            <a:ext cx="10881360" cy="10972"/>
          </a:xfrm>
          <a:prstGeom prst="rect">
            <a:avLst/>
          </a:prstGeom>
          <a:solidFill>
            <a:srgbClr val="F4E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41832"/>
            <a:ext cx="10881360" cy="320040"/>
          </a:xfrm>
          <a:prstGeom prst="rect">
            <a:avLst/>
          </a:prstGeom>
          <a:noFill/>
        </p:spPr>
        <p:txBody>
          <a:bodyPr wrap="square" lIns="13716" rIns="13716" tIns="0" bIns="0">
            <a:spAutoFit/>
          </a:bodyPr>
          <a:lstStyle/>
          <a:p>
            <a:pPr algn="r" rtl="1">
              <a:lnSpc>
                <a:spcPct val="110000"/>
              </a:lnSpc>
              <a:spcAft>
                <a:spcPts val="600"/>
              </a:spcAft>
            </a:pPr>
            <a:r>
              <a:rPr sz="1200" b="1" lang="ar-SA">
                <a:solidFill>
                  <a:srgbClr val="F4EDE2"/>
                </a:solidFill>
                <a:latin typeface="Cairo"/>
                <a:cs typeface="Cairo"/>
                <a:ea typeface="Cairo"/>
              </a:rPr>
              <a:t>ما نريد اختباره في التحدي</a:t>
            </a:r>
          </a:p>
        </p:txBody>
      </p:sp>
      <p:sp>
        <p:nvSpPr>
          <p:cNvPr id="6" name="TextBox 5"/>
          <p:cNvSpPr txBox="1"/>
          <p:nvPr/>
        </p:nvSpPr>
        <p:spPr>
          <a:xfrm>
            <a:off x="1280160" y="6473952"/>
            <a:ext cx="10241280" cy="237744"/>
          </a:xfrm>
          <a:prstGeom prst="rect">
            <a:avLst/>
          </a:prstGeom>
          <a:noFill/>
        </p:spPr>
        <p:txBody>
          <a:bodyPr wrap="square" lIns="13716" rIns="13716" tIns="0" bIns="0">
            <a:spAutoFit/>
          </a:bodyPr>
          <a:lstStyle/>
          <a:p>
            <a:pPr algn="r" rtl="1">
              <a:lnSpc>
                <a:spcPct val="110000"/>
              </a:lnSpc>
              <a:spcAft>
                <a:spcPts val="600"/>
              </a:spcAft>
            </a:pPr>
            <a:r>
              <a:rPr sz="900" b="0" lang="ar-SA">
                <a:solidFill>
                  <a:srgbClr val="FDF9F3"/>
                </a:solidFill>
                <a:latin typeface="Cairo"/>
                <a:cs typeface="Cairo"/>
                <a:ea typeface="Cairo"/>
              </a:rPr>
              <a:t>عرض الفكرة للتسجيل • الوظائف وخطة التنفيذ مقترحة</a:t>
            </a:r>
          </a:p>
        </p:txBody>
      </p:sp>
      <p:sp>
        <p:nvSpPr>
          <p:cNvPr id="7" name="TextBox 6"/>
          <p:cNvSpPr txBox="1"/>
          <p:nvPr/>
        </p:nvSpPr>
        <p:spPr>
          <a:xfrm>
            <a:off x="640080" y="6428232"/>
            <a:ext cx="365760" cy="310896"/>
          </a:xfrm>
          <a:prstGeom prst="rect">
            <a:avLst/>
          </a:prstGeom>
          <a:noFill/>
        </p:spPr>
        <p:txBody>
          <a:bodyPr wrap="square" lIns="13716" rIns="13716" tIns="0" bIns="0">
            <a:spAutoFit/>
          </a:bodyPr>
          <a:lstStyle/>
          <a:p>
            <a:pPr algn="r" rtl="0">
              <a:lnSpc>
                <a:spcPct val="110000"/>
              </a:lnSpc>
              <a:spcAft>
                <a:spcPts val="600"/>
              </a:spcAft>
            </a:pPr>
            <a:r>
              <a:rPr sz="1200" b="0" lang="en-US">
                <a:solidFill>
                  <a:srgbClr val="FDF9F3"/>
                </a:solidFill>
                <a:latin typeface="Cairo"/>
                <a:cs typeface="Cairo"/>
                <a:ea typeface="Cairo"/>
              </a:rPr>
              <a:t>10</a:t>
            </a:r>
          </a:p>
        </p:txBody>
      </p:sp>
      <p:sp>
        <p:nvSpPr>
          <p:cNvPr id="8" name="TextBox 7"/>
          <p:cNvSpPr txBox="1"/>
          <p:nvPr/>
        </p:nvSpPr>
        <p:spPr>
          <a:xfrm>
            <a:off x="822960" y="1755648"/>
            <a:ext cx="10561320" cy="1664208"/>
          </a:xfrm>
          <a:prstGeom prst="rect">
            <a:avLst/>
          </a:prstGeom>
          <a:noFill/>
        </p:spPr>
        <p:txBody>
          <a:bodyPr wrap="square" lIns="13716" rIns="13716" tIns="0" bIns="0">
            <a:spAutoFit/>
          </a:bodyPr>
          <a:lstStyle/>
          <a:p>
            <a:pPr algn="r" rtl="1">
              <a:lnSpc>
                <a:spcPct val="110000"/>
              </a:lnSpc>
              <a:spcAft>
                <a:spcPts val="600"/>
              </a:spcAft>
            </a:pPr>
            <a:r>
              <a:rPr sz="3800" b="1" lang="ar-SA">
                <a:solidFill>
                  <a:srgbClr val="FDF9F3"/>
                </a:solidFill>
                <a:latin typeface="Kufam"/>
                <a:cs typeface="Kufam"/>
                <a:ea typeface="Kufam"/>
              </a:rPr>
              <a:t>حفظٌ لا ينفصل عن الفهم.</a:t>
            </a:r>
          </a:p>
          <a:p>
            <a:pPr algn="r" rtl="1">
              <a:lnSpc>
                <a:spcPct val="110000"/>
              </a:lnSpc>
              <a:spcAft>
                <a:spcPts val="600"/>
              </a:spcAft>
            </a:pPr>
            <a:r>
              <a:rPr sz="3800" b="1" lang="ar-SA">
                <a:solidFill>
                  <a:srgbClr val="FDF9F3"/>
                </a:solidFill>
                <a:latin typeface="Kufam"/>
                <a:cs typeface="Kufam"/>
                <a:ea typeface="Kufam"/>
              </a:rPr>
              <a:t>وفهمٌ لا ينفصل عن المصدر.</a:t>
            </a:r>
          </a:p>
        </p:txBody>
      </p:sp>
      <p:sp>
        <p:nvSpPr>
          <p:cNvPr id="9" name="TextBox 8"/>
          <p:cNvSpPr txBox="1"/>
          <p:nvPr/>
        </p:nvSpPr>
        <p:spPr>
          <a:xfrm>
            <a:off x="822960" y="3694176"/>
            <a:ext cx="10561320" cy="914400"/>
          </a:xfrm>
          <a:prstGeom prst="rect">
            <a:avLst/>
          </a:prstGeom>
          <a:noFill/>
        </p:spPr>
        <p:txBody>
          <a:bodyPr wrap="square" lIns="13716" rIns="13716" tIns="0" bIns="0">
            <a:spAutoFit/>
          </a:bodyPr>
          <a:lstStyle/>
          <a:p>
            <a:pPr algn="r" rtl="1">
              <a:lnSpc>
                <a:spcPct val="110000"/>
              </a:lnSpc>
              <a:spcAft>
                <a:spcPts val="600"/>
              </a:spcAft>
            </a:pPr>
            <a:r>
              <a:rPr sz="2600" b="0" lang="ar-SA">
                <a:solidFill>
                  <a:srgbClr val="FDF9F3"/>
                </a:solidFill>
                <a:latin typeface="Noto Naskh Arabic"/>
                <a:cs typeface="Noto Naskh Arabic"/>
                <a:ea typeface="Noto Naskh Arabic"/>
              </a:rPr>
              <a:t>نقترح مَتِين لاختبار رحلة تعلم واحدة متكاملة،</a:t>
            </a:r>
          </a:p>
          <a:p>
            <a:pPr algn="r" rtl="1">
              <a:lnSpc>
                <a:spcPct val="110000"/>
              </a:lnSpc>
              <a:spcAft>
                <a:spcPts val="600"/>
              </a:spcAft>
            </a:pPr>
            <a:r>
              <a:rPr sz="2600" b="0" lang="ar-SA">
                <a:solidFill>
                  <a:srgbClr val="FDF9F3"/>
                </a:solidFill>
                <a:latin typeface="Noto Naskh Arabic"/>
                <a:cs typeface="Noto Naskh Arabic"/>
                <a:ea typeface="Noto Naskh Arabic"/>
              </a:rPr>
              <a:t>مع نطاق صغير، ومسؤوليات واضحة، ونتائج يمكن التحقق منها.</a:t>
            </a:r>
          </a:p>
        </p:txBody>
      </p:sp>
      <p:sp>
        <p:nvSpPr>
          <p:cNvPr id="10" name="Rounded Rectangle 9"/>
          <p:cNvSpPr/>
          <p:nvPr/>
        </p:nvSpPr>
        <p:spPr>
          <a:xfrm>
            <a:off x="731520" y="5001768"/>
            <a:ext cx="10744200" cy="612648"/>
          </a:xfrm>
          <a:prstGeom prst="roundRect">
            <a:avLst>
              <a:gd name="adj" fmla="val 8000"/>
            </a:avLst>
          </a:prstGeom>
          <a:solidFill>
            <a:srgbClr val="FDF9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5157216"/>
            <a:ext cx="10305288" cy="329184"/>
          </a:xfrm>
          <a:prstGeom prst="rect">
            <a:avLst/>
          </a:prstGeom>
          <a:noFill/>
        </p:spPr>
        <p:txBody>
          <a:bodyPr wrap="square" lIns="13716" rIns="13716" tIns="0" bIns="0">
            <a:spAutoFit/>
          </a:bodyPr>
          <a:lstStyle/>
          <a:p>
            <a:pPr algn="r" rtl="1">
              <a:lnSpc>
                <a:spcPct val="110000"/>
              </a:lnSpc>
              <a:spcAft>
                <a:spcPts val="600"/>
              </a:spcAft>
            </a:pPr>
            <a:r>
              <a:rPr sz="1500" b="1" lang="ar-SA">
                <a:solidFill>
                  <a:srgbClr val="6D4C3D"/>
                </a:solidFill>
                <a:latin typeface="Cairo"/>
                <a:cs typeface="Cairo"/>
                <a:ea typeface="Cairo"/>
              </a:rPr>
              <a:t>المستهدف بنهاية التحدي: حل قابل للتجربة • مستودع عام • فيديو ≤ دقيقتين • عرض وسجل مصادر</a:t>
            </a:r>
          </a:p>
        </p:txBody>
      </p:sp>
      <p:sp>
        <p:nvSpPr>
          <p:cNvPr id="12" name="TextBox 11"/>
          <p:cNvSpPr txBox="1"/>
          <p:nvPr/>
        </p:nvSpPr>
        <p:spPr>
          <a:xfrm>
            <a:off x="822960" y="5907024"/>
            <a:ext cx="10561320" cy="402336"/>
          </a:xfrm>
          <a:prstGeom prst="rect">
            <a:avLst/>
          </a:prstGeom>
          <a:noFill/>
        </p:spPr>
        <p:txBody>
          <a:bodyPr wrap="square" lIns="13716" rIns="13716" tIns="0" bIns="0">
            <a:spAutoFit/>
          </a:bodyPr>
          <a:lstStyle/>
          <a:p>
            <a:pPr algn="r" rtl="1">
              <a:lnSpc>
                <a:spcPct val="110000"/>
              </a:lnSpc>
              <a:spcAft>
                <a:spcPts val="600"/>
              </a:spcAft>
            </a:pPr>
            <a:r>
              <a:rPr sz="1900" b="0" lang="ar-SA">
                <a:solidFill>
                  <a:srgbClr val="FDF9F3"/>
                </a:solidFill>
                <a:latin typeface="Noto Naskh Arabic"/>
                <a:cs typeface="Noto Naskh Arabic"/>
                <a:ea typeface="Noto Naskh Arabic"/>
              </a:rPr>
              <a:t>للاستمرار: قياس تكلفة دقيقة الصوت والسؤال، وضبط الاستخدام، ومراجعة المحتوى قبل توسيع المتون.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مَتِين — من الحفظ المنفرد إلى التعلم الموجّه</dc:title>
  <dc:subject>عرض فكرة للتسجيل في المسار المفتوح</dc:subject>
  <dc:creator>فريق مَتِين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