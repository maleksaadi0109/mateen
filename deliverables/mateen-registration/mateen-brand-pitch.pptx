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٢٥ ثانية. نعرض الفكرة وهوية مَتِين. التسميع، الفهم المسند، والتوجيه البشري مرتكزات رحلة التعلم المقترحة. نحن في المسار المفتوح. الصور اللاحقة من واجهة المشروع ولا تُعد بحد ذاتها إثباتاً لاختبار كل وظيفة.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صُححت الأرقام من الملف المرفق فعلياً: ٦٠ استجابة، ٤٧ من ٦٠ = ٧٨٫٣ بالمئة اختاروا ذكر المصدر ضمن عوامل الثقة، و٣٨ من ٦٠ = ٦٣٫٣ بالمئة وصفوا الفكرة بأنها ممتازة. لا نعرض هذه الآراء بوصفها نتائج منتج مُختبر. نقترح قصر المساعد على المصادر المعتمدة والامتناع والإحالة عند الحاجة؛ لا ندعي منع الخطأ بصورة مطلقة.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هذه استطلاع آراء، لا قياس أثر، والأسئلة متعددة الاختيار فلا تُجمع النسب. لا ننسب لكل المستجيبين صفة طالب كلية شرعية. البيانات تشير إلى فجوات متصلة في التعلم.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الصورتان لواجهة المشروع: لقطة حديثة للتسميع ولقطة مقدمة سابقاً من واجهة المساعد. شكل الشاشة لا يثبت وحده اكتمال التقييم الصوتي أو المرجعية العلمية؛ هذه الأمور تُختبر وتوثق مستقلاً قبل تقديم نتائج تشغيل.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هذا مسار عمل مقترح. يبدأ باختيار متن معتمد، وتقسيم الصوت وتفريغه ومقارنة الكلمات بنص المقطع. نقيم الحذف والزيادة والترتيب بعد ثبوتها؛ النطق والتشكيل ومخارج الحروف ليست حكماً أولياً. لا نعد بزمن تنبيه لم نقسه.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٣٥ ثانية. لا ندعي أن منتجات أخرى لا تقدم هذه المزايا؛ المقارنة مع الخطوات المنفصلة لدى الطالب. الإسناد والتحقق والامتناع والإحالة متطلبات للسلامة وليست شهادة بعدم وجود أخطاء. لا فتوى مولدة من النظام.</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٣٥ ثانية. هذه اختيارات معمارية مقترحة وليست شهادة بأن كل مسار يعمل بإنتاجية. الصوت خلف واجهة تسمح بتبديل مزوده. البحث في المصادر المأذون بها والتحقق من الطبعات والصفحات جزء من الخطة. التدريب المتخصص يُبحث بعد اختبار الحاجة إليه.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٣٠ ثانية. ٤٧/٦٠ = ٧٨٫٣ بالمئة اختاروا المصدر ضمن عوامل الثقة؛ ٣٨/٦٠ = ٦٣٫٣ وصفوا فكرة المساعد مع الإحالة بأنها ممتازة؛ ٣٥/٦٠ = ٥٨٫٣ قيّموا الصوت ٤ أو ٥، لكن السؤال يشمل النطق والتشكيل، وهو أوسع من المرحلة الأولى. هذا استطلاع احتياج وتقبل وليس نتيجة أداء أو دليل فعالية.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١٥ ثانية. التنفيذ والتوسع مشروطان بالاعتماد والقياس. نراجع حقوق المحتوى والمصدر والدقة والتكلفة قبل التوسعة. فريق المشروع كما قدم الأسماء والأدوار. لا نعطي رابط تجربة أو مستودعاً افتراضياً.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11887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697480" y="804672"/>
            <a:ext cx="6793992" cy="1947672"/>
          </a:xfrm>
          <a:prstGeom prst="roundRect">
            <a:avLst>
              <a:gd name="adj" fmla="val 6000"/>
            </a:avLst>
          </a:prstGeom>
          <a:solidFill>
            <a:srgbClr val="F5F0E9"/>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ateen-official-logo.png"/>
          <p:cNvPicPr>
            <a:picLocks noChangeAspect="1"/>
          </p:cNvPicPr>
          <p:nvPr/>
        </p:nvPicPr>
        <p:blipFill>
          <a:blip r:embed="rId2"/>
          <a:stretch>
            <a:fillRect/>
          </a:stretch>
        </p:blipFill>
        <p:spPr>
          <a:xfrm>
            <a:off x="4590288" y="1088136"/>
            <a:ext cx="3017520" cy="1389888"/>
          </a:xfrm>
          <a:prstGeom prst="rect">
            <a:avLst/>
          </a:prstGeom>
        </p:spPr>
      </p:pic>
      <p:sp>
        <p:nvSpPr>
          <p:cNvPr id="5" name="TextBox 4"/>
          <p:cNvSpPr txBox="1"/>
          <p:nvPr/>
        </p:nvSpPr>
        <p:spPr>
          <a:xfrm>
            <a:off x="1828800" y="2990088"/>
            <a:ext cx="8540496" cy="658368"/>
          </a:xfrm>
          <a:prstGeom prst="rect">
            <a:avLst/>
          </a:prstGeom>
          <a:noFill/>
        </p:spPr>
        <p:txBody>
          <a:bodyPr wrap="square" lIns="13716" rIns="13716" tIns="0" bIns="0">
            <a:spAutoFit/>
          </a:bodyPr>
          <a:lstStyle/>
          <a:p>
            <a:pPr algn="ctr" rtl="1">
              <a:lnSpc>
                <a:spcPct val="104000"/>
              </a:lnSpc>
              <a:spcAft>
                <a:spcPts val="200"/>
              </a:spcAft>
            </a:pPr>
            <a:r>
              <a:rPr sz="3500" b="1" lang="ar-SA">
                <a:solidFill>
                  <a:srgbClr val="6D4C3D"/>
                </a:solidFill>
                <a:latin typeface="Kufam"/>
                <a:cs typeface="Kufam"/>
                <a:ea typeface="Kufam"/>
              </a:rPr>
              <a:t>منصة مَتِين</a:t>
            </a:r>
          </a:p>
        </p:txBody>
      </p:sp>
      <p:sp>
        <p:nvSpPr>
          <p:cNvPr id="6" name="TextBox 5"/>
          <p:cNvSpPr txBox="1"/>
          <p:nvPr/>
        </p:nvSpPr>
        <p:spPr>
          <a:xfrm>
            <a:off x="1097280" y="3840480"/>
            <a:ext cx="10003536" cy="667512"/>
          </a:xfrm>
          <a:prstGeom prst="rect">
            <a:avLst/>
          </a:prstGeom>
          <a:noFill/>
        </p:spPr>
        <p:txBody>
          <a:bodyPr wrap="square" lIns="13716" rIns="13716" tIns="0" bIns="0">
            <a:spAutoFit/>
          </a:bodyPr>
          <a:lstStyle/>
          <a:p>
            <a:pPr algn="ctr" rtl="1">
              <a:lnSpc>
                <a:spcPct val="104000"/>
              </a:lnSpc>
              <a:spcAft>
                <a:spcPts val="200"/>
              </a:spcAft>
            </a:pPr>
            <a:r>
              <a:rPr sz="2400" b="0" lang="ar-SA">
                <a:solidFill>
                  <a:srgbClr val="2B2521"/>
                </a:solidFill>
                <a:latin typeface="Noto Naskh Arabic"/>
                <a:cs typeface="Noto Naskh Arabic"/>
                <a:ea typeface="Noto Naskh Arabic"/>
              </a:rPr>
              <a:t>حفظ المتون والمنظومات العلمية، وفهمها بمصدر موثوق وتوجيه بشري</a:t>
            </a:r>
          </a:p>
        </p:txBody>
      </p:sp>
      <p:sp>
        <p:nvSpPr>
          <p:cNvPr id="7" name="Rounded Rectangle 6"/>
          <p:cNvSpPr/>
          <p:nvPr/>
        </p:nvSpPr>
        <p:spPr>
          <a:xfrm>
            <a:off x="7735824" y="4983480"/>
            <a:ext cx="2679192" cy="66751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0416" y="5148072"/>
            <a:ext cx="2331720" cy="347472"/>
          </a:xfrm>
          <a:prstGeom prst="rect">
            <a:avLst/>
          </a:prstGeom>
          <a:noFill/>
        </p:spPr>
        <p:txBody>
          <a:bodyPr wrap="square" lIns="13716" rIns="13716" tIns="0" bIns="0">
            <a:spAutoFit/>
          </a:bodyPr>
          <a:lstStyle/>
          <a:p>
            <a:pPr algn="ctr" rtl="1">
              <a:lnSpc>
                <a:spcPct val="104000"/>
              </a:lnSpc>
              <a:spcAft>
                <a:spcPts val="200"/>
              </a:spcAft>
            </a:pPr>
            <a:r>
              <a:rPr sz="1700" b="1" lang="ar-SA">
                <a:solidFill>
                  <a:srgbClr val="994703"/>
                </a:solidFill>
                <a:latin typeface="Cairo"/>
                <a:cs typeface="Cairo"/>
                <a:ea typeface="Cairo"/>
              </a:rPr>
              <a:t>تسميع الكلمات</a:t>
            </a:r>
          </a:p>
        </p:txBody>
      </p:sp>
      <p:sp>
        <p:nvSpPr>
          <p:cNvPr id="9" name="Rounded Rectangle 8"/>
          <p:cNvSpPr/>
          <p:nvPr/>
        </p:nvSpPr>
        <p:spPr>
          <a:xfrm>
            <a:off x="4590288" y="4983480"/>
            <a:ext cx="2679192" cy="66751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5148072"/>
            <a:ext cx="2331720" cy="347472"/>
          </a:xfrm>
          <a:prstGeom prst="rect">
            <a:avLst/>
          </a:prstGeom>
          <a:noFill/>
        </p:spPr>
        <p:txBody>
          <a:bodyPr wrap="square" lIns="13716" rIns="13716" tIns="0" bIns="0">
            <a:spAutoFit/>
          </a:bodyPr>
          <a:lstStyle/>
          <a:p>
            <a:pPr algn="ctr" rtl="1">
              <a:lnSpc>
                <a:spcPct val="104000"/>
              </a:lnSpc>
              <a:spcAft>
                <a:spcPts val="200"/>
              </a:spcAft>
            </a:pPr>
            <a:r>
              <a:rPr sz="1700" b="1" lang="ar-SA">
                <a:solidFill>
                  <a:srgbClr val="994703"/>
                </a:solidFill>
                <a:latin typeface="Cairo"/>
                <a:cs typeface="Cairo"/>
                <a:ea typeface="Cairo"/>
              </a:rPr>
              <a:t>شرح مسند</a:t>
            </a:r>
          </a:p>
        </p:txBody>
      </p:sp>
      <p:sp>
        <p:nvSpPr>
          <p:cNvPr id="11" name="Rounded Rectangle 10"/>
          <p:cNvSpPr/>
          <p:nvPr/>
        </p:nvSpPr>
        <p:spPr>
          <a:xfrm>
            <a:off x="1444752" y="4983480"/>
            <a:ext cx="2679192" cy="66751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9344" y="5148072"/>
            <a:ext cx="2331720" cy="347472"/>
          </a:xfrm>
          <a:prstGeom prst="rect">
            <a:avLst/>
          </a:prstGeom>
          <a:noFill/>
        </p:spPr>
        <p:txBody>
          <a:bodyPr wrap="square" lIns="13716" rIns="13716" tIns="0" bIns="0">
            <a:spAutoFit/>
          </a:bodyPr>
          <a:lstStyle/>
          <a:p>
            <a:pPr algn="ctr" rtl="1">
              <a:lnSpc>
                <a:spcPct val="104000"/>
              </a:lnSpc>
              <a:spcAft>
                <a:spcPts val="200"/>
              </a:spcAft>
            </a:pPr>
            <a:r>
              <a:rPr sz="1700" b="1" lang="ar-SA">
                <a:solidFill>
                  <a:srgbClr val="994703"/>
                </a:solidFill>
                <a:latin typeface="Cairo"/>
                <a:cs typeface="Cairo"/>
                <a:ea typeface="Cairo"/>
              </a:rPr>
              <a:t>توجيه بشري</a:t>
            </a:r>
          </a:p>
        </p:txBody>
      </p:sp>
      <p:sp>
        <p:nvSpPr>
          <p:cNvPr id="13" name="TextBox 12"/>
          <p:cNvSpPr txBox="1"/>
          <p:nvPr/>
        </p:nvSpPr>
        <p:spPr>
          <a:xfrm>
            <a:off x="1097280" y="6327648"/>
            <a:ext cx="10021824" cy="329184"/>
          </a:xfrm>
          <a:prstGeom prst="rect">
            <a:avLst/>
          </a:prstGeom>
          <a:noFill/>
        </p:spPr>
        <p:txBody>
          <a:bodyPr wrap="square" lIns="13716" rIns="13716" tIns="0" bIns="0">
            <a:spAutoFit/>
          </a:bodyPr>
          <a:lstStyle/>
          <a:p>
            <a:pPr algn="ctr" rtl="1">
              <a:lnSpc>
                <a:spcPct val="104000"/>
              </a:lnSpc>
              <a:spcAft>
                <a:spcPts val="200"/>
              </a:spcAft>
            </a:pPr>
            <a:r>
              <a:rPr sz="1200" b="0" lang="ar-SA">
                <a:solidFill>
                  <a:srgbClr val="6D4C3D"/>
                </a:solidFill>
                <a:latin typeface="Cairo"/>
                <a:cs typeface="Cairo"/>
                <a:ea typeface="Cairo"/>
              </a:rPr>
              <a:t>تحدي الذكاء الاصطناعي في خدمة المحتوى الإسلامي ٢٠٢٦  •  المسار المفتوح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مَتِين | بيئة تعلم متكاملة بمرجعية واضحة</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مَتِين  |  عرض مشروع • الوظائف والخطط مقترحة ما لم يُذكر خلاف ذلك</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02 / 09</a:t>
            </a:r>
          </a:p>
        </p:txBody>
      </p:sp>
      <p:sp>
        <p:nvSpPr>
          <p:cNvPr id="10" name="TextBox 9"/>
          <p:cNvSpPr txBox="1"/>
          <p:nvPr/>
        </p:nvSpPr>
        <p:spPr>
          <a:xfrm>
            <a:off x="704088" y="1819656"/>
            <a:ext cx="10789920" cy="704088"/>
          </a:xfrm>
          <a:prstGeom prst="rect">
            <a:avLst/>
          </a:prstGeom>
          <a:noFill/>
        </p:spPr>
        <p:txBody>
          <a:bodyPr wrap="square" lIns="13716" rIns="13716" tIns="0" bIns="0">
            <a:spAutoFit/>
          </a:bodyPr>
          <a:lstStyle/>
          <a:p>
            <a:pPr algn="r" rtl="1">
              <a:lnSpc>
                <a:spcPct val="104000"/>
              </a:lnSpc>
              <a:spcAft>
                <a:spcPts val="200"/>
              </a:spcAft>
            </a:pPr>
            <a:r>
              <a:rPr sz="1950" b="0" lang="ar-SA">
                <a:solidFill>
                  <a:srgbClr val="2B2521"/>
                </a:solidFill>
                <a:latin typeface="Noto Naskh Arabic"/>
                <a:cs typeface="Noto Naskh Arabic"/>
                <a:ea typeface="Noto Naskh Arabic"/>
              </a:rPr>
              <a:t>تُعد منصة «مَتِين» بيئة تعليمية تقنية تهدف إلى تيسير حفظ وتسميع وفهم المتون والمنظومات العلمية بدمج تقنيات الذكاء الاصطناعي مع الإشراف العلمي البشري المعتمد.</a:t>
            </a:r>
          </a:p>
        </p:txBody>
      </p:sp>
      <p:sp>
        <p:nvSpPr>
          <p:cNvPr id="11" name="TextBox 10"/>
          <p:cNvSpPr txBox="1"/>
          <p:nvPr/>
        </p:nvSpPr>
        <p:spPr>
          <a:xfrm>
            <a:off x="704088" y="2532888"/>
            <a:ext cx="10789920" cy="384048"/>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994703"/>
                </a:solidFill>
                <a:latin typeface="Cairo"/>
                <a:cs typeface="Cairo"/>
                <a:ea typeface="Cairo"/>
              </a:rPr>
              <a:t>تتجسد أصالة المنصة ومرجعيتها العلمية والتقنية في أربعة محاور:</a:t>
            </a:r>
          </a:p>
        </p:txBody>
      </p:sp>
      <p:sp>
        <p:nvSpPr>
          <p:cNvPr id="12" name="Rounded Rectangle 11"/>
          <p:cNvSpPr/>
          <p:nvPr/>
        </p:nvSpPr>
        <p:spPr>
          <a:xfrm>
            <a:off x="6227064" y="2953512"/>
            <a:ext cx="5221224" cy="150876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379708" y="3163824"/>
            <a:ext cx="41148" cy="1088136"/>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218688"/>
            <a:ext cx="4709160" cy="438912"/>
          </a:xfrm>
          <a:prstGeom prst="rect">
            <a:avLst/>
          </a:prstGeom>
          <a:noFill/>
        </p:spPr>
        <p:txBody>
          <a:bodyPr wrap="square" lIns="13716" rIns="13716" tIns="0" bIns="0">
            <a:spAutoFit/>
          </a:bodyPr>
          <a:lstStyle/>
          <a:p>
            <a:pPr algn="r" rtl="1">
              <a:lnSpc>
                <a:spcPct val="104000"/>
              </a:lnSpc>
              <a:spcAft>
                <a:spcPts val="200"/>
              </a:spcAft>
            </a:pPr>
            <a:r>
              <a:rPr sz="1750" b="1" lang="ar-SA">
                <a:solidFill>
                  <a:srgbClr val="994703"/>
                </a:solidFill>
                <a:latin typeface="Cairo"/>
                <a:cs typeface="Cairo"/>
                <a:ea typeface="Cairo"/>
              </a:rPr>
              <a:t>٠١  التوثيق الشرعي الصارم  |  Strict RAG</a:t>
            </a:r>
          </a:p>
        </p:txBody>
      </p:sp>
      <p:sp>
        <p:nvSpPr>
          <p:cNvPr id="15" name="TextBox 14"/>
          <p:cNvSpPr txBox="1"/>
          <p:nvPr/>
        </p:nvSpPr>
        <p:spPr>
          <a:xfrm>
            <a:off x="6446520" y="3776472"/>
            <a:ext cx="4700016" cy="548639"/>
          </a:xfrm>
          <a:prstGeom prst="rect">
            <a:avLst/>
          </a:prstGeom>
          <a:noFill/>
        </p:spPr>
        <p:txBody>
          <a:bodyPr wrap="square" lIns="13716" rIns="13716" tIns="0" bIns="0">
            <a:spAutoFit/>
          </a:bodyPr>
          <a:lstStyle/>
          <a:p>
            <a:pPr algn="r" rtl="1">
              <a:lnSpc>
                <a:spcPct val="104000"/>
              </a:lnSpc>
              <a:spcAft>
                <a:spcPts val="200"/>
              </a:spcAft>
            </a:pPr>
            <a:r>
              <a:rPr sz="1720" b="0" lang="ar-SA">
                <a:solidFill>
                  <a:srgbClr val="2B2521"/>
                </a:solidFill>
                <a:latin typeface="Noto Naskh Arabic"/>
                <a:cs typeface="Noto Naskh Arabic"/>
                <a:ea typeface="Noto Naskh Arabic"/>
              </a:rPr>
              <a:t>إجابة من الشروح المحققة المعتمدة، مع اسم الكتاب والصفحة؛ امتناع عن الإفتاء والتكهن.</a:t>
            </a:r>
          </a:p>
        </p:txBody>
      </p:sp>
      <p:sp>
        <p:nvSpPr>
          <p:cNvPr id="16" name="Rounded Rectangle 15"/>
          <p:cNvSpPr/>
          <p:nvPr/>
        </p:nvSpPr>
        <p:spPr>
          <a:xfrm>
            <a:off x="685800" y="2953512"/>
            <a:ext cx="5221224" cy="150876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38444" y="3163824"/>
            <a:ext cx="41148" cy="1088136"/>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3218688"/>
            <a:ext cx="4709160" cy="438912"/>
          </a:xfrm>
          <a:prstGeom prst="rect">
            <a:avLst/>
          </a:prstGeom>
          <a:noFill/>
        </p:spPr>
        <p:txBody>
          <a:bodyPr wrap="square" lIns="13716" rIns="13716" tIns="0" bIns="0">
            <a:spAutoFit/>
          </a:bodyPr>
          <a:lstStyle/>
          <a:p>
            <a:pPr algn="r" rtl="1">
              <a:lnSpc>
                <a:spcPct val="104000"/>
              </a:lnSpc>
              <a:spcAft>
                <a:spcPts val="200"/>
              </a:spcAft>
            </a:pPr>
            <a:r>
              <a:rPr sz="1750" b="1" lang="ar-SA">
                <a:solidFill>
                  <a:srgbClr val="994703"/>
                </a:solidFill>
                <a:latin typeface="Cairo"/>
                <a:cs typeface="Cairo"/>
                <a:ea typeface="Cairo"/>
              </a:rPr>
              <a:t>٠٢  التسميع الصوتي الذكي</a:t>
            </a:r>
          </a:p>
        </p:txBody>
      </p:sp>
      <p:sp>
        <p:nvSpPr>
          <p:cNvPr id="19" name="TextBox 18"/>
          <p:cNvSpPr txBox="1"/>
          <p:nvPr/>
        </p:nvSpPr>
        <p:spPr>
          <a:xfrm>
            <a:off x="905256" y="3776472"/>
            <a:ext cx="4700016" cy="548639"/>
          </a:xfrm>
          <a:prstGeom prst="rect">
            <a:avLst/>
          </a:prstGeom>
          <a:noFill/>
        </p:spPr>
        <p:txBody>
          <a:bodyPr wrap="square" lIns="13716" rIns="13716" tIns="0" bIns="0">
            <a:spAutoFit/>
          </a:bodyPr>
          <a:lstStyle/>
          <a:p>
            <a:pPr algn="r" rtl="1">
              <a:lnSpc>
                <a:spcPct val="104000"/>
              </a:lnSpc>
              <a:spcAft>
                <a:spcPts val="200"/>
              </a:spcAft>
            </a:pPr>
            <a:r>
              <a:rPr sz="1720" b="0" lang="ar-SA">
                <a:solidFill>
                  <a:srgbClr val="2B2521"/>
                </a:solidFill>
                <a:latin typeface="Noto Naskh Arabic"/>
                <a:cs typeface="Noto Naskh Arabic"/>
                <a:ea typeface="Noto Naskh Arabic"/>
              </a:rPr>
              <a:t>تسميع مقطعاً بمقطع؛ مطابقة كلمات لرصد الزيادة والنقص والترتيب، لا حكم من نموذج محادثة عام.</a:t>
            </a:r>
          </a:p>
        </p:txBody>
      </p:sp>
      <p:sp>
        <p:nvSpPr>
          <p:cNvPr id="20" name="Rounded Rectangle 19"/>
          <p:cNvSpPr/>
          <p:nvPr/>
        </p:nvSpPr>
        <p:spPr>
          <a:xfrm>
            <a:off x="6227064" y="4608576"/>
            <a:ext cx="5221224" cy="144475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379708" y="4818888"/>
            <a:ext cx="41148" cy="102412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873752"/>
            <a:ext cx="4709160" cy="438912"/>
          </a:xfrm>
          <a:prstGeom prst="rect">
            <a:avLst/>
          </a:prstGeom>
          <a:noFill/>
        </p:spPr>
        <p:txBody>
          <a:bodyPr wrap="square" lIns="13716" rIns="13716" tIns="0" bIns="0">
            <a:spAutoFit/>
          </a:bodyPr>
          <a:lstStyle/>
          <a:p>
            <a:pPr algn="r" rtl="1">
              <a:lnSpc>
                <a:spcPct val="104000"/>
              </a:lnSpc>
              <a:spcAft>
                <a:spcPts val="200"/>
              </a:spcAft>
            </a:pPr>
            <a:r>
              <a:rPr sz="1750" b="1" lang="ar-SA">
                <a:solidFill>
                  <a:srgbClr val="994703"/>
                </a:solidFill>
                <a:latin typeface="Cairo"/>
                <a:cs typeface="Cairo"/>
                <a:ea typeface="Cairo"/>
              </a:rPr>
              <a:t>٠٣  الإشراف البشري  |  Human-in-the-Loop</a:t>
            </a:r>
          </a:p>
        </p:txBody>
      </p:sp>
      <p:sp>
        <p:nvSpPr>
          <p:cNvPr id="23" name="TextBox 22"/>
          <p:cNvSpPr txBox="1"/>
          <p:nvPr/>
        </p:nvSpPr>
        <p:spPr>
          <a:xfrm>
            <a:off x="6446520" y="5431536"/>
            <a:ext cx="4700016" cy="484632"/>
          </a:xfrm>
          <a:prstGeom prst="rect">
            <a:avLst/>
          </a:prstGeom>
          <a:noFill/>
        </p:spPr>
        <p:txBody>
          <a:bodyPr wrap="square" lIns="13716" rIns="13716" tIns="0" bIns="0">
            <a:spAutoFit/>
          </a:bodyPr>
          <a:lstStyle/>
          <a:p>
            <a:pPr algn="r" rtl="1">
              <a:lnSpc>
                <a:spcPct val="104000"/>
              </a:lnSpc>
              <a:spcAft>
                <a:spcPts val="200"/>
              </a:spcAft>
            </a:pPr>
            <a:r>
              <a:rPr sz="1720" b="0" lang="ar-SA">
                <a:solidFill>
                  <a:srgbClr val="2B2521"/>
                </a:solidFill>
                <a:latin typeface="Noto Naskh Arabic"/>
                <a:cs typeface="Noto Naskh Arabic"/>
                <a:ea typeface="Noto Naskh Arabic"/>
              </a:rPr>
              <a:t>إحالة الحالات المعقدة والاستفسارات المتقدمة إلى معلم معتمد؛ والسؤال المباشر متاح.</a:t>
            </a:r>
          </a:p>
        </p:txBody>
      </p:sp>
      <p:sp>
        <p:nvSpPr>
          <p:cNvPr id="24" name="Rounded Rectangle 23"/>
          <p:cNvSpPr/>
          <p:nvPr/>
        </p:nvSpPr>
        <p:spPr>
          <a:xfrm>
            <a:off x="685800" y="4608576"/>
            <a:ext cx="5221224" cy="144475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38444" y="4818888"/>
            <a:ext cx="41148" cy="102412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4873752"/>
            <a:ext cx="4709160" cy="438912"/>
          </a:xfrm>
          <a:prstGeom prst="rect">
            <a:avLst/>
          </a:prstGeom>
          <a:noFill/>
        </p:spPr>
        <p:txBody>
          <a:bodyPr wrap="square" lIns="13716" rIns="13716" tIns="0" bIns="0">
            <a:spAutoFit/>
          </a:bodyPr>
          <a:lstStyle/>
          <a:p>
            <a:pPr algn="r" rtl="1">
              <a:lnSpc>
                <a:spcPct val="104000"/>
              </a:lnSpc>
              <a:spcAft>
                <a:spcPts val="200"/>
              </a:spcAft>
            </a:pPr>
            <a:r>
              <a:rPr sz="1750" b="1" lang="ar-SA">
                <a:solidFill>
                  <a:srgbClr val="994703"/>
                </a:solidFill>
                <a:latin typeface="Cairo"/>
                <a:cs typeface="Cairo"/>
                <a:ea typeface="Cairo"/>
              </a:rPr>
              <a:t>٠٤  الواقعية والتحقق الميداني</a:t>
            </a:r>
          </a:p>
        </p:txBody>
      </p:sp>
      <p:sp>
        <p:nvSpPr>
          <p:cNvPr id="27" name="TextBox 26"/>
          <p:cNvSpPr txBox="1"/>
          <p:nvPr/>
        </p:nvSpPr>
        <p:spPr>
          <a:xfrm>
            <a:off x="905256" y="5431536"/>
            <a:ext cx="4700016" cy="484632"/>
          </a:xfrm>
          <a:prstGeom prst="rect">
            <a:avLst/>
          </a:prstGeom>
          <a:noFill/>
        </p:spPr>
        <p:txBody>
          <a:bodyPr wrap="square" lIns="13716" rIns="13716" tIns="0" bIns="0">
            <a:spAutoFit/>
          </a:bodyPr>
          <a:lstStyle/>
          <a:p>
            <a:pPr algn="r" rtl="1">
              <a:lnSpc>
                <a:spcPct val="104000"/>
              </a:lnSpc>
              <a:spcAft>
                <a:spcPts val="200"/>
              </a:spcAft>
            </a:pPr>
            <a:r>
              <a:rPr sz="1680" b="0" lang="ar-SA">
                <a:solidFill>
                  <a:srgbClr val="2B2521"/>
                </a:solidFill>
                <a:latin typeface="Noto Naskh Arabic"/>
                <a:cs typeface="Noto Naskh Arabic"/>
                <a:ea typeface="Noto Naskh Arabic"/>
              </a:rPr>
              <a:t>استبيان من ٦٠ استجابة: ٧٨٫٣٪ اختاروا ذكر المصدر ضمن عوامل الثقة، و٦٣٫٣٪ وصفوا المساعد مع الإحالة بأنه ممتاز.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المشكلة | رحلة الطالب موزعة بين الحفظ والفهم والتوجيه</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المصدر: استبيان الفريق، ٦٠ استجابة، س٢–٣؛ متعدد الاختيارات وعينته استطلاعية.</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03 / 09</a:t>
            </a:r>
          </a:p>
        </p:txBody>
      </p:sp>
      <p:sp>
        <p:nvSpPr>
          <p:cNvPr id="10" name="TextBox 9"/>
          <p:cNvSpPr txBox="1"/>
          <p:nvPr/>
        </p:nvSpPr>
        <p:spPr>
          <a:xfrm>
            <a:off x="722376" y="1892807"/>
            <a:ext cx="10698480" cy="393192"/>
          </a:xfrm>
          <a:prstGeom prst="rect">
            <a:avLst/>
          </a:prstGeom>
          <a:noFill/>
        </p:spPr>
        <p:txBody>
          <a:bodyPr wrap="square" lIns="13716" rIns="13716" tIns="0" bIns="0">
            <a:spAutoFit/>
          </a:bodyPr>
          <a:lstStyle/>
          <a:p>
            <a:pPr algn="r" rtl="1">
              <a:lnSpc>
                <a:spcPct val="104000"/>
              </a:lnSpc>
              <a:spcAft>
                <a:spcPts val="200"/>
              </a:spcAft>
            </a:pPr>
            <a:r>
              <a:rPr sz="1900" b="0" lang="ar-SA">
                <a:solidFill>
                  <a:srgbClr val="685F57"/>
                </a:solidFill>
                <a:latin typeface="Cairo"/>
                <a:cs typeface="Cairo"/>
                <a:ea typeface="Cairo"/>
              </a:rPr>
              <a:t>ثلاث فجوات مترابطة ظهرت في استجابات العينة:</a:t>
            </a:r>
          </a:p>
        </p:txBody>
      </p:sp>
      <p:sp>
        <p:nvSpPr>
          <p:cNvPr id="11" name="Rounded Rectangle 10"/>
          <p:cNvSpPr/>
          <p:nvPr/>
        </p:nvSpPr>
        <p:spPr>
          <a:xfrm>
            <a:off x="7863840" y="2542032"/>
            <a:ext cx="3447288" cy="301752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1583" y="2834640"/>
            <a:ext cx="2980944" cy="777240"/>
          </a:xfrm>
          <a:prstGeom prst="rect">
            <a:avLst/>
          </a:prstGeom>
          <a:noFill/>
        </p:spPr>
        <p:txBody>
          <a:bodyPr wrap="square" lIns="13716" rIns="13716" tIns="0" bIns="0">
            <a:spAutoFit/>
          </a:bodyPr>
          <a:lstStyle/>
          <a:p>
            <a:pPr algn="r" rtl="1">
              <a:lnSpc>
                <a:spcPct val="104000"/>
              </a:lnSpc>
              <a:spcAft>
                <a:spcPts val="200"/>
              </a:spcAft>
            </a:pPr>
            <a:r>
              <a:rPr sz="4300" b="1" lang="ar-SA">
                <a:solidFill>
                  <a:srgbClr val="6D4C3D"/>
                </a:solidFill>
                <a:latin typeface="Cairo"/>
                <a:cs typeface="Cairo"/>
                <a:ea typeface="Cairo"/>
              </a:rPr>
              <a:t>٧٠٪</a:t>
            </a:r>
          </a:p>
        </p:txBody>
      </p:sp>
      <p:sp>
        <p:nvSpPr>
          <p:cNvPr id="13" name="TextBox 12"/>
          <p:cNvSpPr txBox="1"/>
          <p:nvPr/>
        </p:nvSpPr>
        <p:spPr>
          <a:xfrm>
            <a:off x="8101583" y="3785615"/>
            <a:ext cx="2990088" cy="448056"/>
          </a:xfrm>
          <a:prstGeom prst="rect">
            <a:avLst/>
          </a:prstGeom>
          <a:noFill/>
        </p:spPr>
        <p:txBody>
          <a:bodyPr wrap="square" lIns="13716" rIns="13716" tIns="0" bIns="0">
            <a:spAutoFit/>
          </a:bodyPr>
          <a:lstStyle/>
          <a:p>
            <a:pPr algn="r" rtl="1">
              <a:lnSpc>
                <a:spcPct val="104000"/>
              </a:lnSpc>
              <a:spcAft>
                <a:spcPts val="200"/>
              </a:spcAft>
            </a:pPr>
            <a:r>
              <a:rPr sz="2000" b="1" lang="ar-SA">
                <a:solidFill>
                  <a:srgbClr val="6D4C3D"/>
                </a:solidFill>
                <a:latin typeface="Cairo"/>
                <a:cs typeface="Cairo"/>
                <a:ea typeface="Cairo"/>
              </a:rPr>
              <a:t>ضعف التفاعل</a:t>
            </a:r>
          </a:p>
        </p:txBody>
      </p:sp>
      <p:sp>
        <p:nvSpPr>
          <p:cNvPr id="14" name="TextBox 13"/>
          <p:cNvSpPr txBox="1"/>
          <p:nvPr/>
        </p:nvSpPr>
        <p:spPr>
          <a:xfrm>
            <a:off x="8101583" y="4462272"/>
            <a:ext cx="2962656" cy="804672"/>
          </a:xfrm>
          <a:prstGeom prst="rect">
            <a:avLst/>
          </a:prstGeom>
          <a:noFill/>
        </p:spPr>
        <p:txBody>
          <a:bodyPr wrap="square" lIns="13716" rIns="13716" tIns="0" bIns="0">
            <a:spAutoFit/>
          </a:bodyPr>
          <a:lstStyle/>
          <a:p>
            <a:pPr algn="r" rtl="1">
              <a:lnSpc>
                <a:spcPct val="104000"/>
              </a:lnSpc>
              <a:spcAft>
                <a:spcPts val="200"/>
              </a:spcAft>
            </a:pPr>
            <a:r>
              <a:rPr sz="1900" b="0" lang="ar-SA">
                <a:solidFill>
                  <a:srgbClr val="2B2521"/>
                </a:solidFill>
                <a:latin typeface="Noto Naskh Arabic"/>
                <a:cs typeface="Noto Naskh Arabic"/>
                <a:ea typeface="Noto Naskh Arabic"/>
              </a:rPr>
              <a:t>٤٢ من ٦٠ اختاروا الملل وفقدان الحافز.</a:t>
            </a:r>
          </a:p>
        </p:txBody>
      </p:sp>
      <p:sp>
        <p:nvSpPr>
          <p:cNvPr id="15" name="Rounded Rectangle 14"/>
          <p:cNvSpPr/>
          <p:nvPr/>
        </p:nvSpPr>
        <p:spPr>
          <a:xfrm>
            <a:off x="4261104" y="2542032"/>
            <a:ext cx="3447288" cy="301752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8848" y="2834640"/>
            <a:ext cx="2980944" cy="777240"/>
          </a:xfrm>
          <a:prstGeom prst="rect">
            <a:avLst/>
          </a:prstGeom>
          <a:noFill/>
        </p:spPr>
        <p:txBody>
          <a:bodyPr wrap="square" lIns="13716" rIns="13716" tIns="0" bIns="0">
            <a:spAutoFit/>
          </a:bodyPr>
          <a:lstStyle/>
          <a:p>
            <a:pPr algn="r" rtl="1">
              <a:lnSpc>
                <a:spcPct val="104000"/>
              </a:lnSpc>
              <a:spcAft>
                <a:spcPts val="200"/>
              </a:spcAft>
            </a:pPr>
            <a:r>
              <a:rPr sz="4300" b="1" lang="ar-SA">
                <a:solidFill>
                  <a:srgbClr val="994703"/>
                </a:solidFill>
                <a:latin typeface="Cairo"/>
                <a:cs typeface="Cairo"/>
                <a:ea typeface="Cairo"/>
              </a:rPr>
              <a:t>٤٦٫٧٪</a:t>
            </a:r>
          </a:p>
        </p:txBody>
      </p:sp>
      <p:sp>
        <p:nvSpPr>
          <p:cNvPr id="17" name="TextBox 16"/>
          <p:cNvSpPr txBox="1"/>
          <p:nvPr/>
        </p:nvSpPr>
        <p:spPr>
          <a:xfrm>
            <a:off x="4498848" y="3785615"/>
            <a:ext cx="2990088" cy="448056"/>
          </a:xfrm>
          <a:prstGeom prst="rect">
            <a:avLst/>
          </a:prstGeom>
          <a:noFill/>
        </p:spPr>
        <p:txBody>
          <a:bodyPr wrap="square" lIns="13716" rIns="13716" tIns="0" bIns="0">
            <a:spAutoFit/>
          </a:bodyPr>
          <a:lstStyle/>
          <a:p>
            <a:pPr algn="r" rtl="1">
              <a:lnSpc>
                <a:spcPct val="104000"/>
              </a:lnSpc>
              <a:spcAft>
                <a:spcPts val="200"/>
              </a:spcAft>
            </a:pPr>
            <a:r>
              <a:rPr sz="2000" b="1" lang="ar-SA">
                <a:solidFill>
                  <a:srgbClr val="6D4C3D"/>
                </a:solidFill>
                <a:latin typeface="Cairo"/>
                <a:cs typeface="Cairo"/>
                <a:ea typeface="Cairo"/>
              </a:rPr>
              <a:t>صعوبة إيجاد معلّم</a:t>
            </a:r>
          </a:p>
        </p:txBody>
      </p:sp>
      <p:sp>
        <p:nvSpPr>
          <p:cNvPr id="18" name="TextBox 17"/>
          <p:cNvSpPr txBox="1"/>
          <p:nvPr/>
        </p:nvSpPr>
        <p:spPr>
          <a:xfrm>
            <a:off x="4498848" y="4462272"/>
            <a:ext cx="2962656" cy="804672"/>
          </a:xfrm>
          <a:prstGeom prst="rect">
            <a:avLst/>
          </a:prstGeom>
          <a:noFill/>
        </p:spPr>
        <p:txBody>
          <a:bodyPr wrap="square" lIns="13716" rIns="13716" tIns="0" bIns="0">
            <a:spAutoFit/>
          </a:bodyPr>
          <a:lstStyle/>
          <a:p>
            <a:pPr algn="r" rtl="1">
              <a:lnSpc>
                <a:spcPct val="104000"/>
              </a:lnSpc>
              <a:spcAft>
                <a:spcPts val="200"/>
              </a:spcAft>
            </a:pPr>
            <a:r>
              <a:rPr sz="1900" b="0" lang="ar-SA">
                <a:solidFill>
                  <a:srgbClr val="2B2521"/>
                </a:solidFill>
                <a:latin typeface="Noto Naskh Arabic"/>
                <a:cs typeface="Noto Naskh Arabic"/>
                <a:ea typeface="Noto Naskh Arabic"/>
              </a:rPr>
              <a:t>٢٨ من ٦٠ ذكروا صعوبة إيجاد من يُسمّع ويصحح.</a:t>
            </a:r>
          </a:p>
        </p:txBody>
      </p:sp>
      <p:sp>
        <p:nvSpPr>
          <p:cNvPr id="19" name="Rounded Rectangle 18"/>
          <p:cNvSpPr/>
          <p:nvPr/>
        </p:nvSpPr>
        <p:spPr>
          <a:xfrm>
            <a:off x="658368" y="2542032"/>
            <a:ext cx="3447288" cy="301752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834640"/>
            <a:ext cx="2980944" cy="777240"/>
          </a:xfrm>
          <a:prstGeom prst="rect">
            <a:avLst/>
          </a:prstGeom>
          <a:noFill/>
        </p:spPr>
        <p:txBody>
          <a:bodyPr wrap="square" lIns="13716" rIns="13716" tIns="0" bIns="0">
            <a:spAutoFit/>
          </a:bodyPr>
          <a:lstStyle/>
          <a:p>
            <a:pPr algn="r" rtl="1">
              <a:lnSpc>
                <a:spcPct val="104000"/>
              </a:lnSpc>
              <a:spcAft>
                <a:spcPts val="200"/>
              </a:spcAft>
            </a:pPr>
            <a:r>
              <a:rPr sz="4300" b="1" lang="ar-SA">
                <a:solidFill>
                  <a:srgbClr val="4E3A00"/>
                </a:solidFill>
                <a:latin typeface="Cairo"/>
                <a:cs typeface="Cairo"/>
                <a:ea typeface="Cairo"/>
              </a:rPr>
              <a:t>٥٠٪</a:t>
            </a:r>
          </a:p>
        </p:txBody>
      </p:sp>
      <p:sp>
        <p:nvSpPr>
          <p:cNvPr id="21" name="TextBox 20"/>
          <p:cNvSpPr txBox="1"/>
          <p:nvPr/>
        </p:nvSpPr>
        <p:spPr>
          <a:xfrm>
            <a:off x="896112" y="3785615"/>
            <a:ext cx="2990088" cy="448056"/>
          </a:xfrm>
          <a:prstGeom prst="rect">
            <a:avLst/>
          </a:prstGeom>
          <a:noFill/>
        </p:spPr>
        <p:txBody>
          <a:bodyPr wrap="square" lIns="13716" rIns="13716" tIns="0" bIns="0">
            <a:spAutoFit/>
          </a:bodyPr>
          <a:lstStyle/>
          <a:p>
            <a:pPr algn="r" rtl="1">
              <a:lnSpc>
                <a:spcPct val="104000"/>
              </a:lnSpc>
              <a:spcAft>
                <a:spcPts val="200"/>
              </a:spcAft>
            </a:pPr>
            <a:r>
              <a:rPr sz="2000" b="1" lang="ar-SA">
                <a:solidFill>
                  <a:srgbClr val="6D4C3D"/>
                </a:solidFill>
                <a:latin typeface="Cairo"/>
                <a:cs typeface="Cairo"/>
                <a:ea typeface="Cairo"/>
              </a:rPr>
              <a:t>تشتت الشروح</a:t>
            </a:r>
          </a:p>
        </p:txBody>
      </p:sp>
      <p:sp>
        <p:nvSpPr>
          <p:cNvPr id="22" name="TextBox 21"/>
          <p:cNvSpPr txBox="1"/>
          <p:nvPr/>
        </p:nvSpPr>
        <p:spPr>
          <a:xfrm>
            <a:off x="896112" y="4462272"/>
            <a:ext cx="2962656" cy="804672"/>
          </a:xfrm>
          <a:prstGeom prst="rect">
            <a:avLst/>
          </a:prstGeom>
          <a:noFill/>
        </p:spPr>
        <p:txBody>
          <a:bodyPr wrap="square" lIns="13716" rIns="13716" tIns="0" bIns="0">
            <a:spAutoFit/>
          </a:bodyPr>
          <a:lstStyle/>
          <a:p>
            <a:pPr algn="r" rtl="1">
              <a:lnSpc>
                <a:spcPct val="104000"/>
              </a:lnSpc>
              <a:spcAft>
                <a:spcPts val="200"/>
              </a:spcAft>
            </a:pPr>
            <a:r>
              <a:rPr sz="1900" b="0" lang="ar-SA">
                <a:solidFill>
                  <a:srgbClr val="2B2521"/>
                </a:solidFill>
                <a:latin typeface="Noto Naskh Arabic"/>
                <a:cs typeface="Noto Naskh Arabic"/>
                <a:ea typeface="Noto Naskh Arabic"/>
              </a:rPr>
              <a:t>٣٠ من ٦٠ اختاروا طول الشروح وتشتتها.</a:t>
            </a:r>
          </a:p>
        </p:txBody>
      </p:sp>
      <p:sp>
        <p:nvSpPr>
          <p:cNvPr id="23" name="Rounded Rectangle 22"/>
          <p:cNvSpPr/>
          <p:nvPr/>
        </p:nvSpPr>
        <p:spPr>
          <a:xfrm>
            <a:off x="685800" y="5769864"/>
            <a:ext cx="10762488" cy="475488"/>
          </a:xfrm>
          <a:prstGeom prst="roundRect">
            <a:avLst>
              <a:gd name="adj" fmla="val 6000"/>
            </a:avLst>
          </a:prstGeom>
          <a:solidFill>
            <a:srgbClr val="E9DBCD"/>
          </a:solidFill>
          <a:ln>
            <a:solidFill>
              <a:srgbClr val="E9DB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5861304"/>
            <a:ext cx="10241280" cy="301752"/>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6D4C3D"/>
                </a:solidFill>
                <a:latin typeface="Cairo"/>
                <a:cs typeface="Cairo"/>
                <a:ea typeface="Cairo"/>
              </a:rPr>
              <a:t>المطلوب: وصل التسميع بالشرح المسند ثم التوجيه، بدل ترك كل خطوة منفصلة.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الحل | واجهة تجمع التسميع والمساعد في سياق واحد</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لقطات من واجهة مشروع مَتِين؛ لا تُستخدم لإثبات دقة نموذج الصوت أو صحة جميع الإجابات.</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04 / 09</a:t>
            </a:r>
          </a:p>
        </p:txBody>
      </p:sp>
      <p:sp>
        <p:nvSpPr>
          <p:cNvPr id="10" name="TextBox 9"/>
          <p:cNvSpPr txBox="1"/>
          <p:nvPr/>
        </p:nvSpPr>
        <p:spPr>
          <a:xfrm>
            <a:off x="713232" y="1810512"/>
            <a:ext cx="10698480" cy="365760"/>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994703"/>
                </a:solidFill>
                <a:latin typeface="Cairo"/>
                <a:cs typeface="Cairo"/>
                <a:ea typeface="Cairo"/>
              </a:rPr>
              <a:t>صور المشروع</a:t>
            </a:r>
          </a:p>
        </p:txBody>
      </p:sp>
      <p:sp>
        <p:nvSpPr>
          <p:cNvPr id="11" name="Rounded Rectangle 10"/>
          <p:cNvSpPr/>
          <p:nvPr/>
        </p:nvSpPr>
        <p:spPr>
          <a:xfrm>
            <a:off x="6208776" y="2295144"/>
            <a:ext cx="5239512" cy="315468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roject-recitation-crop.jpg"/>
          <p:cNvPicPr>
            <a:picLocks noChangeAspect="1"/>
          </p:cNvPicPr>
          <p:nvPr/>
        </p:nvPicPr>
        <p:blipFill>
          <a:blip r:embed="rId3"/>
          <a:stretch>
            <a:fillRect/>
          </a:stretch>
        </p:blipFill>
        <p:spPr>
          <a:xfrm>
            <a:off x="6336792" y="2423160"/>
            <a:ext cx="4983480" cy="2523744"/>
          </a:xfrm>
          <a:prstGeom prst="rect">
            <a:avLst/>
          </a:prstGeom>
        </p:spPr>
      </p:pic>
      <p:sp>
        <p:nvSpPr>
          <p:cNvPr id="13" name="TextBox 12"/>
          <p:cNvSpPr txBox="1"/>
          <p:nvPr/>
        </p:nvSpPr>
        <p:spPr>
          <a:xfrm>
            <a:off x="6391656" y="5047488"/>
            <a:ext cx="4828032" cy="301752"/>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6D4C3D"/>
                </a:solidFill>
                <a:latin typeface="Cairo"/>
                <a:cs typeface="Cairo"/>
                <a:ea typeface="Cairo"/>
              </a:rPr>
              <a:t>واجهة التسميع والنص الدراسي</a:t>
            </a:r>
          </a:p>
        </p:txBody>
      </p:sp>
      <p:sp>
        <p:nvSpPr>
          <p:cNvPr id="14" name="Rounded Rectangle 13"/>
          <p:cNvSpPr/>
          <p:nvPr/>
        </p:nvSpPr>
        <p:spPr>
          <a:xfrm>
            <a:off x="685800" y="2295144"/>
            <a:ext cx="5239512" cy="315468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roject-assistant-crop.jpg"/>
          <p:cNvPicPr>
            <a:picLocks noChangeAspect="1"/>
          </p:cNvPicPr>
          <p:nvPr/>
        </p:nvPicPr>
        <p:blipFill>
          <a:blip r:embed="rId4"/>
          <a:stretch>
            <a:fillRect/>
          </a:stretch>
        </p:blipFill>
        <p:spPr>
          <a:xfrm>
            <a:off x="813816" y="2423160"/>
            <a:ext cx="4983480" cy="2523744"/>
          </a:xfrm>
          <a:prstGeom prst="rect">
            <a:avLst/>
          </a:prstGeom>
        </p:spPr>
      </p:pic>
      <p:sp>
        <p:nvSpPr>
          <p:cNvPr id="16" name="TextBox 15"/>
          <p:cNvSpPr txBox="1"/>
          <p:nvPr/>
        </p:nvSpPr>
        <p:spPr>
          <a:xfrm>
            <a:off x="868680" y="5047488"/>
            <a:ext cx="4828032" cy="301752"/>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6D4C3D"/>
                </a:solidFill>
                <a:latin typeface="Cairo"/>
                <a:cs typeface="Cairo"/>
                <a:ea typeface="Cairo"/>
              </a:rPr>
              <a:t>واجهة المساعد والسؤال</a:t>
            </a:r>
          </a:p>
        </p:txBody>
      </p:sp>
      <p:sp>
        <p:nvSpPr>
          <p:cNvPr id="17" name="TextBox 16"/>
          <p:cNvSpPr txBox="1"/>
          <p:nvPr/>
        </p:nvSpPr>
        <p:spPr>
          <a:xfrm>
            <a:off x="749808" y="5696712"/>
            <a:ext cx="10570464" cy="594360"/>
          </a:xfrm>
          <a:prstGeom prst="rect">
            <a:avLst/>
          </a:prstGeom>
          <a:noFill/>
        </p:spPr>
        <p:txBody>
          <a:bodyPr wrap="square" lIns="13716" rIns="13716" tIns="0" bIns="0">
            <a:spAutoFit/>
          </a:bodyPr>
          <a:lstStyle/>
          <a:p>
            <a:pPr algn="r" rtl="1">
              <a:lnSpc>
                <a:spcPct val="104000"/>
              </a:lnSpc>
              <a:spcAft>
                <a:spcPts val="200"/>
              </a:spcAft>
            </a:pPr>
            <a:r>
              <a:rPr sz="1900" b="0" lang="ar-SA">
                <a:solidFill>
                  <a:srgbClr val="2B2521"/>
                </a:solidFill>
                <a:latin typeface="Noto Naskh Arabic"/>
                <a:cs typeface="Noto Naskh Arabic"/>
                <a:ea typeface="Noto Naskh Arabic"/>
              </a:rPr>
              <a:t>المبدأ: يراجع الطالب موضعه، ثم يطلب شرحاً مسنداً أو توجيهاً بشرياً عند الحاجة.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آلية العمل | من صوت الطالب إلى قرار قابل للفهم</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مَتِين  |  عرض مشروع • الوظائف والخطط مقترحة ما لم يُذكر خلاف ذلك</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05 / 09</a:t>
            </a:r>
          </a:p>
        </p:txBody>
      </p:sp>
      <p:sp>
        <p:nvSpPr>
          <p:cNvPr id="10" name="Rounded Rectangle 9"/>
          <p:cNvSpPr/>
          <p:nvPr/>
        </p:nvSpPr>
        <p:spPr>
          <a:xfrm>
            <a:off x="8851392" y="2542032"/>
            <a:ext cx="2596896" cy="251460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2752344"/>
            <a:ext cx="2231136" cy="557784"/>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994703"/>
                </a:solidFill>
                <a:latin typeface="Cairo"/>
                <a:cs typeface="Cairo"/>
                <a:ea typeface="Cairo"/>
              </a:rPr>
              <a:t>٠١</a:t>
            </a:r>
          </a:p>
        </p:txBody>
      </p:sp>
      <p:sp>
        <p:nvSpPr>
          <p:cNvPr id="12" name="TextBox 11"/>
          <p:cNvSpPr txBox="1"/>
          <p:nvPr/>
        </p:nvSpPr>
        <p:spPr>
          <a:xfrm>
            <a:off x="9043416" y="3538728"/>
            <a:ext cx="2212848" cy="384048"/>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6D4C3D"/>
                </a:solidFill>
                <a:latin typeface="Cairo"/>
                <a:cs typeface="Cairo"/>
                <a:ea typeface="Cairo"/>
              </a:rPr>
              <a:t>تحديد المقطع</a:t>
            </a:r>
          </a:p>
        </p:txBody>
      </p:sp>
      <p:sp>
        <p:nvSpPr>
          <p:cNvPr id="13" name="TextBox 12"/>
          <p:cNvSpPr txBox="1"/>
          <p:nvPr/>
        </p:nvSpPr>
        <p:spPr>
          <a:xfrm>
            <a:off x="9043416" y="4114800"/>
            <a:ext cx="2231136" cy="795528"/>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متن محقق ومقطع واضح للنطاق.</a:t>
            </a:r>
          </a:p>
        </p:txBody>
      </p:sp>
      <p:sp>
        <p:nvSpPr>
          <p:cNvPr id="14" name="TextBox 13"/>
          <p:cNvSpPr txBox="1"/>
          <p:nvPr/>
        </p:nvSpPr>
        <p:spPr>
          <a:xfrm>
            <a:off x="8595360" y="3584448"/>
            <a:ext cx="237744" cy="402336"/>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994703"/>
                </a:solidFill>
                <a:latin typeface="Cairo"/>
                <a:cs typeface="Cairo"/>
                <a:ea typeface="Cairo"/>
              </a:rPr>
              <a:t>←</a:t>
            </a:r>
          </a:p>
        </p:txBody>
      </p:sp>
      <p:sp>
        <p:nvSpPr>
          <p:cNvPr id="15" name="Rounded Rectangle 14"/>
          <p:cNvSpPr/>
          <p:nvPr/>
        </p:nvSpPr>
        <p:spPr>
          <a:xfrm>
            <a:off x="6126480" y="2542032"/>
            <a:ext cx="2596896" cy="251460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2752344"/>
            <a:ext cx="2231136" cy="557784"/>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994703"/>
                </a:solidFill>
                <a:latin typeface="Cairo"/>
                <a:cs typeface="Cairo"/>
                <a:ea typeface="Cairo"/>
              </a:rPr>
              <a:t>٠٢</a:t>
            </a:r>
          </a:p>
        </p:txBody>
      </p:sp>
      <p:sp>
        <p:nvSpPr>
          <p:cNvPr id="17" name="TextBox 16"/>
          <p:cNvSpPr txBox="1"/>
          <p:nvPr/>
        </p:nvSpPr>
        <p:spPr>
          <a:xfrm>
            <a:off x="6318504" y="3538728"/>
            <a:ext cx="2212848" cy="384048"/>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6D4C3D"/>
                </a:solidFill>
                <a:latin typeface="Cairo"/>
                <a:cs typeface="Cairo"/>
                <a:ea typeface="Cairo"/>
              </a:rPr>
              <a:t>استقبال الصوت</a:t>
            </a:r>
          </a:p>
        </p:txBody>
      </p:sp>
      <p:sp>
        <p:nvSpPr>
          <p:cNvPr id="18" name="TextBox 17"/>
          <p:cNvSpPr txBox="1"/>
          <p:nvPr/>
        </p:nvSpPr>
        <p:spPr>
          <a:xfrm>
            <a:off x="6318504" y="4114800"/>
            <a:ext cx="2231136" cy="795528"/>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تسجيل مقاطع قصيرة بإذن الطالب.</a:t>
            </a:r>
          </a:p>
        </p:txBody>
      </p:sp>
      <p:sp>
        <p:nvSpPr>
          <p:cNvPr id="19" name="TextBox 18"/>
          <p:cNvSpPr txBox="1"/>
          <p:nvPr/>
        </p:nvSpPr>
        <p:spPr>
          <a:xfrm>
            <a:off x="5870448" y="3584448"/>
            <a:ext cx="237744" cy="402336"/>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994703"/>
                </a:solidFill>
                <a:latin typeface="Cairo"/>
                <a:cs typeface="Cairo"/>
                <a:ea typeface="Cairo"/>
              </a:rPr>
              <a:t>←</a:t>
            </a:r>
          </a:p>
        </p:txBody>
      </p:sp>
      <p:sp>
        <p:nvSpPr>
          <p:cNvPr id="20" name="Rounded Rectangle 19"/>
          <p:cNvSpPr/>
          <p:nvPr/>
        </p:nvSpPr>
        <p:spPr>
          <a:xfrm>
            <a:off x="3401568" y="2542032"/>
            <a:ext cx="2596896" cy="251460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3592" y="2752344"/>
            <a:ext cx="2231136" cy="557784"/>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994703"/>
                </a:solidFill>
                <a:latin typeface="Cairo"/>
                <a:cs typeface="Cairo"/>
                <a:ea typeface="Cairo"/>
              </a:rPr>
              <a:t>٠٣</a:t>
            </a:r>
          </a:p>
        </p:txBody>
      </p:sp>
      <p:sp>
        <p:nvSpPr>
          <p:cNvPr id="22" name="TextBox 21"/>
          <p:cNvSpPr txBox="1"/>
          <p:nvPr/>
        </p:nvSpPr>
        <p:spPr>
          <a:xfrm>
            <a:off x="3593592" y="3538728"/>
            <a:ext cx="2212848" cy="384048"/>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6D4C3D"/>
                </a:solidFill>
                <a:latin typeface="Cairo"/>
                <a:cs typeface="Cairo"/>
                <a:ea typeface="Cairo"/>
              </a:rPr>
              <a:t>تفريغ ومطابقة</a:t>
            </a:r>
          </a:p>
        </p:txBody>
      </p:sp>
      <p:sp>
        <p:nvSpPr>
          <p:cNvPr id="23" name="TextBox 22"/>
          <p:cNvSpPr txBox="1"/>
          <p:nvPr/>
        </p:nvSpPr>
        <p:spPr>
          <a:xfrm>
            <a:off x="3593592" y="4114800"/>
            <a:ext cx="2231136" cy="795528"/>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كشف حذف أو استبدال أو زيادة الكلمات.</a:t>
            </a:r>
          </a:p>
        </p:txBody>
      </p:sp>
      <p:sp>
        <p:nvSpPr>
          <p:cNvPr id="24" name="TextBox 23"/>
          <p:cNvSpPr txBox="1"/>
          <p:nvPr/>
        </p:nvSpPr>
        <p:spPr>
          <a:xfrm>
            <a:off x="3145536" y="3584448"/>
            <a:ext cx="237744" cy="402336"/>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994703"/>
                </a:solidFill>
                <a:latin typeface="Cairo"/>
                <a:cs typeface="Cairo"/>
                <a:ea typeface="Cairo"/>
              </a:rPr>
              <a:t>←</a:t>
            </a:r>
          </a:p>
        </p:txBody>
      </p:sp>
      <p:sp>
        <p:nvSpPr>
          <p:cNvPr id="25" name="Rounded Rectangle 24"/>
          <p:cNvSpPr/>
          <p:nvPr/>
        </p:nvSpPr>
        <p:spPr>
          <a:xfrm>
            <a:off x="676656" y="2542032"/>
            <a:ext cx="2596896" cy="2514600"/>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2752344"/>
            <a:ext cx="2231136" cy="557784"/>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994703"/>
                </a:solidFill>
                <a:latin typeface="Cairo"/>
                <a:cs typeface="Cairo"/>
                <a:ea typeface="Cairo"/>
              </a:rPr>
              <a:t>٠٤</a:t>
            </a:r>
          </a:p>
        </p:txBody>
      </p:sp>
      <p:sp>
        <p:nvSpPr>
          <p:cNvPr id="27" name="TextBox 26"/>
          <p:cNvSpPr txBox="1"/>
          <p:nvPr/>
        </p:nvSpPr>
        <p:spPr>
          <a:xfrm>
            <a:off x="868680" y="3538728"/>
            <a:ext cx="2212848" cy="384048"/>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6D4C3D"/>
                </a:solidFill>
                <a:latin typeface="Cairo"/>
                <a:cs typeface="Cairo"/>
                <a:ea typeface="Cairo"/>
              </a:rPr>
              <a:t>تنبيه أو إعادة</a:t>
            </a:r>
          </a:p>
        </p:txBody>
      </p:sp>
      <p:sp>
        <p:nvSpPr>
          <p:cNvPr id="28" name="TextBox 27"/>
          <p:cNvSpPr txBox="1"/>
          <p:nvPr/>
        </p:nvSpPr>
        <p:spPr>
          <a:xfrm>
            <a:off x="868680" y="4114800"/>
            <a:ext cx="2231136" cy="795528"/>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نتيجة مؤكدة؛ وغير الواضح يُعاد.</a:t>
            </a:r>
          </a:p>
        </p:txBody>
      </p:sp>
      <p:sp>
        <p:nvSpPr>
          <p:cNvPr id="29" name="Rounded Rectangle 28"/>
          <p:cNvSpPr/>
          <p:nvPr/>
        </p:nvSpPr>
        <p:spPr>
          <a:xfrm>
            <a:off x="685800" y="5449824"/>
            <a:ext cx="10716768" cy="786384"/>
          </a:xfrm>
          <a:prstGeom prst="roundRect">
            <a:avLst>
              <a:gd name="adj" fmla="val 6000"/>
            </a:avLst>
          </a:prstGeom>
          <a:solidFill>
            <a:srgbClr val="E9DBCD"/>
          </a:solidFill>
          <a:ln>
            <a:solidFill>
              <a:srgbClr val="E9DB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623560"/>
            <a:ext cx="10241280" cy="420624"/>
          </a:xfrm>
          <a:prstGeom prst="rect">
            <a:avLst/>
          </a:prstGeom>
          <a:noFill/>
        </p:spPr>
        <p:txBody>
          <a:bodyPr wrap="square" lIns="13716" rIns="13716" tIns="0" bIns="0">
            <a:spAutoFit/>
          </a:bodyPr>
          <a:lstStyle/>
          <a:p>
            <a:pPr algn="r" rtl="1">
              <a:lnSpc>
                <a:spcPct val="104000"/>
              </a:lnSpc>
              <a:spcAft>
                <a:spcPts val="200"/>
              </a:spcAft>
            </a:pPr>
            <a:r>
              <a:rPr sz="1900" b="1" lang="ar-SA">
                <a:solidFill>
                  <a:srgbClr val="6D4C3D"/>
                </a:solidFill>
                <a:latin typeface="Cairo"/>
                <a:cs typeface="Cairo"/>
                <a:ea typeface="Cairo"/>
              </a:rPr>
              <a:t>لا يُحتسب الصمت وحده حذفاً، ولا تتحول قراءة غير واضحة إلى خطأ حفظ مؤكد.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القيمة المضافة | كل خطوة تقود إلى التالية</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مَتِين  |  عرض مشروع • الوظائف والخطط مقترحة ما لم يُذكر خلاف ذلك</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06 / 09</a:t>
            </a:r>
          </a:p>
        </p:txBody>
      </p:sp>
      <p:sp>
        <p:nvSpPr>
          <p:cNvPr id="10" name="Rounded Rectangle 9"/>
          <p:cNvSpPr/>
          <p:nvPr/>
        </p:nvSpPr>
        <p:spPr>
          <a:xfrm>
            <a:off x="685800" y="2157984"/>
            <a:ext cx="10771632" cy="585216"/>
          </a:xfrm>
          <a:prstGeom prst="roundRect">
            <a:avLst>
              <a:gd name="adj" fmla="val 6000"/>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295144"/>
            <a:ext cx="4700016" cy="338328"/>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FFFFFF"/>
                </a:solidFill>
                <a:latin typeface="Cairo"/>
                <a:cs typeface="Cairo"/>
                <a:ea typeface="Cairo"/>
              </a:rPr>
              <a:t>الممارسة المتفرقة</a:t>
            </a:r>
          </a:p>
        </p:txBody>
      </p:sp>
      <p:sp>
        <p:nvSpPr>
          <p:cNvPr id="12" name="TextBox 11"/>
          <p:cNvSpPr txBox="1"/>
          <p:nvPr/>
        </p:nvSpPr>
        <p:spPr>
          <a:xfrm>
            <a:off x="1042415" y="2295144"/>
            <a:ext cx="4956048" cy="338328"/>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FFFFFF"/>
                </a:solidFill>
                <a:latin typeface="Cairo"/>
                <a:cs typeface="Cairo"/>
                <a:ea typeface="Cairo"/>
              </a:rPr>
              <a:t>ما تقترحه مَتِين</a:t>
            </a:r>
          </a:p>
        </p:txBody>
      </p:sp>
      <p:sp>
        <p:nvSpPr>
          <p:cNvPr id="13" name="Rounded Rectangle 12"/>
          <p:cNvSpPr/>
          <p:nvPr/>
        </p:nvSpPr>
        <p:spPr>
          <a:xfrm>
            <a:off x="685800" y="2862072"/>
            <a:ext cx="10771632" cy="658368"/>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36208" y="2999232"/>
            <a:ext cx="4828032" cy="393192"/>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685F57"/>
                </a:solidFill>
                <a:latin typeface="Noto Naskh Arabic"/>
                <a:cs typeface="Noto Naskh Arabic"/>
                <a:ea typeface="Noto Naskh Arabic"/>
              </a:rPr>
              <a:t>حفظ فردي دون موضع واضح للخطأ</a:t>
            </a:r>
          </a:p>
        </p:txBody>
      </p:sp>
      <p:sp>
        <p:nvSpPr>
          <p:cNvPr id="15" name="TextBox 14"/>
          <p:cNvSpPr txBox="1"/>
          <p:nvPr/>
        </p:nvSpPr>
        <p:spPr>
          <a:xfrm>
            <a:off x="932688" y="2999232"/>
            <a:ext cx="4901184" cy="393192"/>
          </a:xfrm>
          <a:prstGeom prst="rect">
            <a:avLst/>
          </a:prstGeom>
          <a:noFill/>
        </p:spPr>
        <p:txBody>
          <a:bodyPr wrap="square" lIns="13716" rIns="13716" tIns="0" bIns="0">
            <a:spAutoFit/>
          </a:bodyPr>
          <a:lstStyle/>
          <a:p>
            <a:pPr algn="r" rtl="1">
              <a:lnSpc>
                <a:spcPct val="104000"/>
              </a:lnSpc>
              <a:spcAft>
                <a:spcPts val="200"/>
              </a:spcAft>
            </a:pPr>
            <a:r>
              <a:rPr sz="1800" b="1" lang="ar-SA">
                <a:solidFill>
                  <a:srgbClr val="6D4C3D"/>
                </a:solidFill>
                <a:latin typeface="Noto Naskh Arabic"/>
                <a:cs typeface="Noto Naskh Arabic"/>
                <a:ea typeface="Noto Naskh Arabic"/>
              </a:rPr>
              <a:t>تسميع مرتبط بالمقطع وموضع الكلمة</a:t>
            </a:r>
          </a:p>
        </p:txBody>
      </p:sp>
      <p:sp>
        <p:nvSpPr>
          <p:cNvPr id="16" name="Rounded Rectangle 15"/>
          <p:cNvSpPr/>
          <p:nvPr/>
        </p:nvSpPr>
        <p:spPr>
          <a:xfrm>
            <a:off x="685800" y="3621024"/>
            <a:ext cx="10771632" cy="658368"/>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3758184"/>
            <a:ext cx="4828032" cy="393192"/>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685F57"/>
                </a:solidFill>
                <a:latin typeface="Noto Naskh Arabic"/>
                <a:cs typeface="Noto Naskh Arabic"/>
                <a:ea typeface="Noto Naskh Arabic"/>
              </a:rPr>
              <a:t>بحث منفصل بين الشروح</a:t>
            </a:r>
          </a:p>
        </p:txBody>
      </p:sp>
      <p:sp>
        <p:nvSpPr>
          <p:cNvPr id="18" name="TextBox 17"/>
          <p:cNvSpPr txBox="1"/>
          <p:nvPr/>
        </p:nvSpPr>
        <p:spPr>
          <a:xfrm>
            <a:off x="932688" y="3758184"/>
            <a:ext cx="4901184" cy="393192"/>
          </a:xfrm>
          <a:prstGeom prst="rect">
            <a:avLst/>
          </a:prstGeom>
          <a:noFill/>
        </p:spPr>
        <p:txBody>
          <a:bodyPr wrap="square" lIns="13716" rIns="13716" tIns="0" bIns="0">
            <a:spAutoFit/>
          </a:bodyPr>
          <a:lstStyle/>
          <a:p>
            <a:pPr algn="r" rtl="1">
              <a:lnSpc>
                <a:spcPct val="104000"/>
              </a:lnSpc>
              <a:spcAft>
                <a:spcPts val="200"/>
              </a:spcAft>
            </a:pPr>
            <a:r>
              <a:rPr sz="1800" b="1" lang="ar-SA">
                <a:solidFill>
                  <a:srgbClr val="6D4C3D"/>
                </a:solidFill>
                <a:latin typeface="Noto Naskh Arabic"/>
                <a:cs typeface="Noto Naskh Arabic"/>
                <a:ea typeface="Noto Naskh Arabic"/>
              </a:rPr>
              <a:t>شرح في سياق النص مع عزو للكتاب والصفحة</a:t>
            </a:r>
          </a:p>
        </p:txBody>
      </p:sp>
      <p:sp>
        <p:nvSpPr>
          <p:cNvPr id="19" name="Rounded Rectangle 18"/>
          <p:cNvSpPr/>
          <p:nvPr/>
        </p:nvSpPr>
        <p:spPr>
          <a:xfrm>
            <a:off x="685800" y="4379976"/>
            <a:ext cx="10771632" cy="658368"/>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6208" y="4517136"/>
            <a:ext cx="4828032" cy="393192"/>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685F57"/>
                </a:solidFill>
                <a:latin typeface="Noto Naskh Arabic"/>
                <a:cs typeface="Noto Naskh Arabic"/>
                <a:ea typeface="Noto Naskh Arabic"/>
              </a:rPr>
              <a:t>سؤال غير مرتبط بموضع التعثر</a:t>
            </a:r>
          </a:p>
        </p:txBody>
      </p:sp>
      <p:sp>
        <p:nvSpPr>
          <p:cNvPr id="21" name="TextBox 20"/>
          <p:cNvSpPr txBox="1"/>
          <p:nvPr/>
        </p:nvSpPr>
        <p:spPr>
          <a:xfrm>
            <a:off x="932688" y="4517136"/>
            <a:ext cx="4901184" cy="393192"/>
          </a:xfrm>
          <a:prstGeom prst="rect">
            <a:avLst/>
          </a:prstGeom>
          <a:noFill/>
        </p:spPr>
        <p:txBody>
          <a:bodyPr wrap="square" lIns="13716" rIns="13716" tIns="0" bIns="0">
            <a:spAutoFit/>
          </a:bodyPr>
          <a:lstStyle/>
          <a:p>
            <a:pPr algn="r" rtl="1">
              <a:lnSpc>
                <a:spcPct val="104000"/>
              </a:lnSpc>
              <a:spcAft>
                <a:spcPts val="200"/>
              </a:spcAft>
            </a:pPr>
            <a:r>
              <a:rPr sz="1800" b="1" lang="ar-SA">
                <a:solidFill>
                  <a:srgbClr val="6D4C3D"/>
                </a:solidFill>
                <a:latin typeface="Noto Naskh Arabic"/>
                <a:cs typeface="Noto Naskh Arabic"/>
                <a:ea typeface="Noto Naskh Arabic"/>
              </a:rPr>
              <a:t>إحالة تحمل سؤال الطالب وسياقه بموافقته</a:t>
            </a:r>
          </a:p>
        </p:txBody>
      </p:sp>
      <p:sp>
        <p:nvSpPr>
          <p:cNvPr id="22" name="Rounded Rectangle 21"/>
          <p:cNvSpPr/>
          <p:nvPr/>
        </p:nvSpPr>
        <p:spPr>
          <a:xfrm>
            <a:off x="685800" y="5367528"/>
            <a:ext cx="10771632" cy="850392"/>
          </a:xfrm>
          <a:prstGeom prst="roundRect">
            <a:avLst>
              <a:gd name="adj" fmla="val 6000"/>
            </a:avLst>
          </a:prstGeom>
          <a:solidFill>
            <a:srgbClr val="F5F0E9"/>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5559552"/>
            <a:ext cx="10195560" cy="457200"/>
          </a:xfrm>
          <a:prstGeom prst="rect">
            <a:avLst/>
          </a:prstGeom>
          <a:noFill/>
        </p:spPr>
        <p:txBody>
          <a:bodyPr wrap="square" lIns="13716" rIns="13716" tIns="0" bIns="0">
            <a:spAutoFit/>
          </a:bodyPr>
          <a:lstStyle/>
          <a:p>
            <a:pPr algn="r" rtl="1">
              <a:lnSpc>
                <a:spcPct val="104000"/>
              </a:lnSpc>
              <a:spcAft>
                <a:spcPts val="200"/>
              </a:spcAft>
            </a:pPr>
            <a:r>
              <a:rPr sz="1900" b="1" lang="ar-SA">
                <a:solidFill>
                  <a:srgbClr val="4E3A00"/>
                </a:solidFill>
                <a:latin typeface="Cairo"/>
                <a:cs typeface="Cairo"/>
                <a:ea typeface="Cairo"/>
              </a:rPr>
              <a:t>السلامة العلمية: مصدر معتمد ← استشهاد قابل للتحقق ← إجابة محدودة أو امتناع وإحالة.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التقنيات | معمارية قابلة للاختبار والاستبدال</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مَتِين  |  عرض مشروع • الوظائف والخطط مقترحة ما لم يُذكر خلاف ذلك</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07 / 09</a:t>
            </a:r>
          </a:p>
        </p:txBody>
      </p:sp>
      <p:sp>
        <p:nvSpPr>
          <p:cNvPr id="10" name="Rounded Rectangle 9"/>
          <p:cNvSpPr/>
          <p:nvPr/>
        </p:nvSpPr>
        <p:spPr>
          <a:xfrm>
            <a:off x="694944" y="2148840"/>
            <a:ext cx="10771632" cy="539496"/>
          </a:xfrm>
          <a:prstGeom prst="roundRect">
            <a:avLst>
              <a:gd name="adj" fmla="val 6000"/>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0536" y="2267712"/>
            <a:ext cx="2359152" cy="310896"/>
          </a:xfrm>
          <a:prstGeom prst="rect">
            <a:avLst/>
          </a:prstGeom>
          <a:noFill/>
        </p:spPr>
        <p:txBody>
          <a:bodyPr wrap="square" lIns="13716" rIns="13716" tIns="0" bIns="0">
            <a:spAutoFit/>
          </a:bodyPr>
          <a:lstStyle/>
          <a:p>
            <a:pPr algn="r" rtl="1">
              <a:lnSpc>
                <a:spcPct val="104000"/>
              </a:lnSpc>
              <a:spcAft>
                <a:spcPts val="200"/>
              </a:spcAft>
            </a:pPr>
            <a:r>
              <a:rPr sz="1600" b="1" lang="ar-SA">
                <a:solidFill>
                  <a:srgbClr val="FFFFFF"/>
                </a:solidFill>
                <a:latin typeface="Cairo"/>
                <a:cs typeface="Cairo"/>
                <a:ea typeface="Cairo"/>
              </a:rPr>
              <a:t>الطبقة</a:t>
            </a:r>
          </a:p>
        </p:txBody>
      </p:sp>
      <p:sp>
        <p:nvSpPr>
          <p:cNvPr id="12" name="TextBox 11"/>
          <p:cNvSpPr txBox="1"/>
          <p:nvPr/>
        </p:nvSpPr>
        <p:spPr>
          <a:xfrm>
            <a:off x="4032504" y="2267712"/>
            <a:ext cx="4663440" cy="310896"/>
          </a:xfrm>
          <a:prstGeom prst="rect">
            <a:avLst/>
          </a:prstGeom>
          <a:noFill/>
        </p:spPr>
        <p:txBody>
          <a:bodyPr wrap="square" lIns="13716" rIns="13716" tIns="0" bIns="0">
            <a:spAutoFit/>
          </a:bodyPr>
          <a:lstStyle/>
          <a:p>
            <a:pPr algn="r" rtl="1">
              <a:lnSpc>
                <a:spcPct val="104000"/>
              </a:lnSpc>
              <a:spcAft>
                <a:spcPts val="200"/>
              </a:spcAft>
            </a:pPr>
            <a:r>
              <a:rPr sz="1600" b="1" lang="ar-SA">
                <a:solidFill>
                  <a:srgbClr val="FFFFFF"/>
                </a:solidFill>
                <a:latin typeface="Cairo"/>
                <a:cs typeface="Cairo"/>
                <a:ea typeface="Cairo"/>
              </a:rPr>
              <a:t>الخيار المقترح</a:t>
            </a:r>
          </a:p>
        </p:txBody>
      </p:sp>
      <p:sp>
        <p:nvSpPr>
          <p:cNvPr id="13" name="TextBox 12"/>
          <p:cNvSpPr txBox="1"/>
          <p:nvPr/>
        </p:nvSpPr>
        <p:spPr>
          <a:xfrm>
            <a:off x="941832" y="2267712"/>
            <a:ext cx="2898648" cy="310896"/>
          </a:xfrm>
          <a:prstGeom prst="rect">
            <a:avLst/>
          </a:prstGeom>
          <a:noFill/>
        </p:spPr>
        <p:txBody>
          <a:bodyPr wrap="square" lIns="13716" rIns="13716" tIns="0" bIns="0">
            <a:spAutoFit/>
          </a:bodyPr>
          <a:lstStyle/>
          <a:p>
            <a:pPr algn="r" rtl="1">
              <a:lnSpc>
                <a:spcPct val="104000"/>
              </a:lnSpc>
              <a:spcAft>
                <a:spcPts val="200"/>
              </a:spcAft>
            </a:pPr>
            <a:r>
              <a:rPr sz="1600" b="1" lang="ar-SA">
                <a:solidFill>
                  <a:srgbClr val="FFFFFF"/>
                </a:solidFill>
                <a:latin typeface="Cairo"/>
                <a:cs typeface="Cairo"/>
                <a:ea typeface="Cairo"/>
              </a:rPr>
              <a:t>الغاية</a:t>
            </a:r>
          </a:p>
        </p:txBody>
      </p:sp>
      <p:sp>
        <p:nvSpPr>
          <p:cNvPr id="14" name="Rounded Rectangle 13"/>
          <p:cNvSpPr/>
          <p:nvPr/>
        </p:nvSpPr>
        <p:spPr>
          <a:xfrm>
            <a:off x="694944" y="2843784"/>
            <a:ext cx="10771632" cy="603504"/>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42248" y="2962656"/>
            <a:ext cx="2340864" cy="365760"/>
          </a:xfrm>
          <a:prstGeom prst="rect">
            <a:avLst/>
          </a:prstGeom>
          <a:noFill/>
        </p:spPr>
        <p:txBody>
          <a:bodyPr wrap="square" lIns="13716" rIns="13716" tIns="0" bIns="0">
            <a:spAutoFit/>
          </a:bodyPr>
          <a:lstStyle/>
          <a:p>
            <a:pPr algn="r" rtl="1">
              <a:lnSpc>
                <a:spcPct val="104000"/>
              </a:lnSpc>
              <a:spcAft>
                <a:spcPts val="200"/>
              </a:spcAft>
            </a:pPr>
            <a:r>
              <a:rPr sz="1600" b="1" lang="ar-SA">
                <a:solidFill>
                  <a:srgbClr val="6D4C3D"/>
                </a:solidFill>
                <a:latin typeface="Cairo"/>
                <a:cs typeface="Cairo"/>
                <a:ea typeface="Cairo"/>
              </a:rPr>
              <a:t>الواجهة</a:t>
            </a:r>
          </a:p>
        </p:txBody>
      </p:sp>
      <p:sp>
        <p:nvSpPr>
          <p:cNvPr id="16" name="TextBox 15"/>
          <p:cNvSpPr txBox="1"/>
          <p:nvPr/>
        </p:nvSpPr>
        <p:spPr>
          <a:xfrm>
            <a:off x="3858768" y="2980944"/>
            <a:ext cx="4828032" cy="347472"/>
          </a:xfrm>
          <a:prstGeom prst="rect">
            <a:avLst/>
          </a:prstGeom>
          <a:noFill/>
        </p:spPr>
        <p:txBody>
          <a:bodyPr wrap="square" lIns="13716" rIns="13716" tIns="0" bIns="0">
            <a:spAutoFit/>
          </a:bodyPr>
          <a:lstStyle/>
          <a:p>
            <a:pPr algn="r" rtl="1">
              <a:lnSpc>
                <a:spcPct val="104000"/>
              </a:lnSpc>
              <a:spcAft>
                <a:spcPts val="200"/>
              </a:spcAft>
            </a:pPr>
            <a:r>
              <a:rPr sz="1500" b="0" lang="ar-SA">
                <a:solidFill>
                  <a:srgbClr val="994703"/>
                </a:solidFill>
                <a:latin typeface="Cairo"/>
                <a:cs typeface="Cairo"/>
                <a:ea typeface="Cairo"/>
              </a:rPr>
              <a:t>React + TypeScript + Tailwind</a:t>
            </a:r>
          </a:p>
        </p:txBody>
      </p:sp>
      <p:sp>
        <p:nvSpPr>
          <p:cNvPr id="17" name="TextBox 16"/>
          <p:cNvSpPr txBox="1"/>
          <p:nvPr/>
        </p:nvSpPr>
        <p:spPr>
          <a:xfrm>
            <a:off x="932688" y="2971800"/>
            <a:ext cx="2852928" cy="356616"/>
          </a:xfrm>
          <a:prstGeom prst="rect">
            <a:avLst/>
          </a:prstGeom>
          <a:noFill/>
        </p:spPr>
        <p:txBody>
          <a:bodyPr wrap="square" lIns="13716" rIns="13716" tIns="0" bIns="0">
            <a:spAutoFit/>
          </a:bodyPr>
          <a:lstStyle/>
          <a:p>
            <a:pPr algn="r" rtl="1">
              <a:lnSpc>
                <a:spcPct val="104000"/>
              </a:lnSpc>
              <a:spcAft>
                <a:spcPts val="200"/>
              </a:spcAft>
            </a:pPr>
            <a:r>
              <a:rPr sz="1650" b="0" lang="ar-SA">
                <a:solidFill>
                  <a:srgbClr val="2B2521"/>
                </a:solidFill>
                <a:latin typeface="Noto Naskh Arabic"/>
                <a:cs typeface="Noto Naskh Arabic"/>
                <a:ea typeface="Noto Naskh Arabic"/>
              </a:rPr>
              <a:t>قراءة وتفاعل عربي RTL</a:t>
            </a:r>
          </a:p>
        </p:txBody>
      </p:sp>
      <p:sp>
        <p:nvSpPr>
          <p:cNvPr id="18" name="Rounded Rectangle 17"/>
          <p:cNvSpPr/>
          <p:nvPr/>
        </p:nvSpPr>
        <p:spPr>
          <a:xfrm>
            <a:off x="694944" y="3529584"/>
            <a:ext cx="10771632" cy="603504"/>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42248" y="3648456"/>
            <a:ext cx="2340864" cy="365760"/>
          </a:xfrm>
          <a:prstGeom prst="rect">
            <a:avLst/>
          </a:prstGeom>
          <a:noFill/>
        </p:spPr>
        <p:txBody>
          <a:bodyPr wrap="square" lIns="13716" rIns="13716" tIns="0" bIns="0">
            <a:spAutoFit/>
          </a:bodyPr>
          <a:lstStyle/>
          <a:p>
            <a:pPr algn="r" rtl="1">
              <a:lnSpc>
                <a:spcPct val="104000"/>
              </a:lnSpc>
              <a:spcAft>
                <a:spcPts val="200"/>
              </a:spcAft>
            </a:pPr>
            <a:r>
              <a:rPr sz="1600" b="1" lang="ar-SA">
                <a:solidFill>
                  <a:srgbClr val="6D4C3D"/>
                </a:solidFill>
                <a:latin typeface="Cairo"/>
                <a:cs typeface="Cairo"/>
                <a:ea typeface="Cairo"/>
              </a:rPr>
              <a:t>الخادم والبيانات</a:t>
            </a:r>
          </a:p>
        </p:txBody>
      </p:sp>
      <p:sp>
        <p:nvSpPr>
          <p:cNvPr id="20" name="TextBox 19"/>
          <p:cNvSpPr txBox="1"/>
          <p:nvPr/>
        </p:nvSpPr>
        <p:spPr>
          <a:xfrm>
            <a:off x="3858768" y="3666744"/>
            <a:ext cx="4828032" cy="347472"/>
          </a:xfrm>
          <a:prstGeom prst="rect">
            <a:avLst/>
          </a:prstGeom>
          <a:noFill/>
        </p:spPr>
        <p:txBody>
          <a:bodyPr wrap="square" lIns="13716" rIns="13716" tIns="0" bIns="0">
            <a:spAutoFit/>
          </a:bodyPr>
          <a:lstStyle/>
          <a:p>
            <a:pPr algn="r" rtl="1">
              <a:lnSpc>
                <a:spcPct val="104000"/>
              </a:lnSpc>
              <a:spcAft>
                <a:spcPts val="200"/>
              </a:spcAft>
            </a:pPr>
            <a:r>
              <a:rPr sz="1500" b="0" lang="ar-SA">
                <a:solidFill>
                  <a:srgbClr val="994703"/>
                </a:solidFill>
                <a:latin typeface="Cairo"/>
                <a:cs typeface="Cairo"/>
                <a:ea typeface="Cairo"/>
              </a:rPr>
              <a:t>Node.js + Express + PostgreSQL / Drizzle</a:t>
            </a:r>
          </a:p>
        </p:txBody>
      </p:sp>
      <p:sp>
        <p:nvSpPr>
          <p:cNvPr id="21" name="TextBox 20"/>
          <p:cNvSpPr txBox="1"/>
          <p:nvPr/>
        </p:nvSpPr>
        <p:spPr>
          <a:xfrm>
            <a:off x="932688" y="3657600"/>
            <a:ext cx="2852928" cy="356616"/>
          </a:xfrm>
          <a:prstGeom prst="rect">
            <a:avLst/>
          </a:prstGeom>
          <a:noFill/>
        </p:spPr>
        <p:txBody>
          <a:bodyPr wrap="square" lIns="13716" rIns="13716" tIns="0" bIns="0">
            <a:spAutoFit/>
          </a:bodyPr>
          <a:lstStyle/>
          <a:p>
            <a:pPr algn="r" rtl="1">
              <a:lnSpc>
                <a:spcPct val="104000"/>
              </a:lnSpc>
              <a:spcAft>
                <a:spcPts val="200"/>
              </a:spcAft>
            </a:pPr>
            <a:r>
              <a:rPr sz="1650" b="0" lang="ar-SA">
                <a:solidFill>
                  <a:srgbClr val="2B2521"/>
                </a:solidFill>
                <a:latin typeface="Noto Naskh Arabic"/>
                <a:cs typeface="Noto Naskh Arabic"/>
                <a:ea typeface="Noto Naskh Arabic"/>
              </a:rPr>
              <a:t>صلاحيات ومحتوى وتقدم</a:t>
            </a:r>
          </a:p>
        </p:txBody>
      </p:sp>
      <p:sp>
        <p:nvSpPr>
          <p:cNvPr id="22" name="Rounded Rectangle 21"/>
          <p:cNvSpPr/>
          <p:nvPr/>
        </p:nvSpPr>
        <p:spPr>
          <a:xfrm>
            <a:off x="694944" y="4215383"/>
            <a:ext cx="10771632" cy="603504"/>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42248" y="4334255"/>
            <a:ext cx="2340864" cy="365760"/>
          </a:xfrm>
          <a:prstGeom prst="rect">
            <a:avLst/>
          </a:prstGeom>
          <a:noFill/>
        </p:spPr>
        <p:txBody>
          <a:bodyPr wrap="square" lIns="13716" rIns="13716" tIns="0" bIns="0">
            <a:spAutoFit/>
          </a:bodyPr>
          <a:lstStyle/>
          <a:p>
            <a:pPr algn="r" rtl="1">
              <a:lnSpc>
                <a:spcPct val="104000"/>
              </a:lnSpc>
              <a:spcAft>
                <a:spcPts val="200"/>
              </a:spcAft>
            </a:pPr>
            <a:r>
              <a:rPr sz="1600" b="1" lang="ar-SA">
                <a:solidFill>
                  <a:srgbClr val="6D4C3D"/>
                </a:solidFill>
                <a:latin typeface="Cairo"/>
                <a:cs typeface="Cairo"/>
                <a:ea typeface="Cairo"/>
              </a:rPr>
              <a:t>الصوت</a:t>
            </a:r>
          </a:p>
        </p:txBody>
      </p:sp>
      <p:sp>
        <p:nvSpPr>
          <p:cNvPr id="24" name="TextBox 23"/>
          <p:cNvSpPr txBox="1"/>
          <p:nvPr/>
        </p:nvSpPr>
        <p:spPr>
          <a:xfrm>
            <a:off x="3858768" y="4352544"/>
            <a:ext cx="4828032" cy="347472"/>
          </a:xfrm>
          <a:prstGeom prst="rect">
            <a:avLst/>
          </a:prstGeom>
          <a:noFill/>
        </p:spPr>
        <p:txBody>
          <a:bodyPr wrap="square" lIns="13716" rIns="13716" tIns="0" bIns="0">
            <a:spAutoFit/>
          </a:bodyPr>
          <a:lstStyle/>
          <a:p>
            <a:pPr algn="r" rtl="1">
              <a:lnSpc>
                <a:spcPct val="104000"/>
              </a:lnSpc>
              <a:spcAft>
                <a:spcPts val="200"/>
              </a:spcAft>
            </a:pPr>
            <a:r>
              <a:rPr sz="1500" b="0" lang="ar-SA">
                <a:solidFill>
                  <a:srgbClr val="994703"/>
                </a:solidFill>
                <a:latin typeface="Cairo"/>
                <a:cs typeface="Cairo"/>
                <a:ea typeface="Cairo"/>
              </a:rPr>
              <a:t>تفريغ قابل للمقارنة + مطابقة كلمات</a:t>
            </a:r>
          </a:p>
        </p:txBody>
      </p:sp>
      <p:sp>
        <p:nvSpPr>
          <p:cNvPr id="25" name="TextBox 24"/>
          <p:cNvSpPr txBox="1"/>
          <p:nvPr/>
        </p:nvSpPr>
        <p:spPr>
          <a:xfrm>
            <a:off x="932688" y="4343399"/>
            <a:ext cx="2852928" cy="356616"/>
          </a:xfrm>
          <a:prstGeom prst="rect">
            <a:avLst/>
          </a:prstGeom>
          <a:noFill/>
        </p:spPr>
        <p:txBody>
          <a:bodyPr wrap="square" lIns="13716" rIns="13716" tIns="0" bIns="0">
            <a:spAutoFit/>
          </a:bodyPr>
          <a:lstStyle/>
          <a:p>
            <a:pPr algn="r" rtl="1">
              <a:lnSpc>
                <a:spcPct val="104000"/>
              </a:lnSpc>
              <a:spcAft>
                <a:spcPts val="200"/>
              </a:spcAft>
            </a:pPr>
            <a:r>
              <a:rPr sz="1650" b="0" lang="ar-SA">
                <a:solidFill>
                  <a:srgbClr val="2B2521"/>
                </a:solidFill>
                <a:latin typeface="Noto Naskh Arabic"/>
                <a:cs typeface="Noto Naskh Arabic"/>
                <a:ea typeface="Noto Naskh Arabic"/>
              </a:rPr>
              <a:t>رصد الخطأ بعد التأكد</a:t>
            </a:r>
          </a:p>
        </p:txBody>
      </p:sp>
      <p:sp>
        <p:nvSpPr>
          <p:cNvPr id="26" name="Rounded Rectangle 25"/>
          <p:cNvSpPr/>
          <p:nvPr/>
        </p:nvSpPr>
        <p:spPr>
          <a:xfrm>
            <a:off x="694944" y="4901183"/>
            <a:ext cx="10771632" cy="603504"/>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42248" y="5020055"/>
            <a:ext cx="2340864" cy="365760"/>
          </a:xfrm>
          <a:prstGeom prst="rect">
            <a:avLst/>
          </a:prstGeom>
          <a:noFill/>
        </p:spPr>
        <p:txBody>
          <a:bodyPr wrap="square" lIns="13716" rIns="13716" tIns="0" bIns="0">
            <a:spAutoFit/>
          </a:bodyPr>
          <a:lstStyle/>
          <a:p>
            <a:pPr algn="r" rtl="1">
              <a:lnSpc>
                <a:spcPct val="104000"/>
              </a:lnSpc>
              <a:spcAft>
                <a:spcPts val="200"/>
              </a:spcAft>
            </a:pPr>
            <a:r>
              <a:rPr sz="1600" b="1" lang="ar-SA">
                <a:solidFill>
                  <a:srgbClr val="6D4C3D"/>
                </a:solidFill>
                <a:latin typeface="Cairo"/>
                <a:cs typeface="Cairo"/>
                <a:ea typeface="Cairo"/>
              </a:rPr>
              <a:t>المعرفة</a:t>
            </a:r>
          </a:p>
        </p:txBody>
      </p:sp>
      <p:sp>
        <p:nvSpPr>
          <p:cNvPr id="28" name="TextBox 27"/>
          <p:cNvSpPr txBox="1"/>
          <p:nvPr/>
        </p:nvSpPr>
        <p:spPr>
          <a:xfrm>
            <a:off x="3858768" y="5038344"/>
            <a:ext cx="4828032" cy="347472"/>
          </a:xfrm>
          <a:prstGeom prst="rect">
            <a:avLst/>
          </a:prstGeom>
          <a:noFill/>
        </p:spPr>
        <p:txBody>
          <a:bodyPr wrap="square" lIns="13716" rIns="13716" tIns="0" bIns="0">
            <a:spAutoFit/>
          </a:bodyPr>
          <a:lstStyle/>
          <a:p>
            <a:pPr algn="r" rtl="1">
              <a:lnSpc>
                <a:spcPct val="104000"/>
              </a:lnSpc>
              <a:spcAft>
                <a:spcPts val="200"/>
              </a:spcAft>
            </a:pPr>
            <a:r>
              <a:rPr sz="1500" b="0" lang="ar-SA">
                <a:solidFill>
                  <a:srgbClr val="994703"/>
                </a:solidFill>
                <a:latin typeface="Cairo"/>
                <a:cs typeface="Cairo"/>
                <a:ea typeface="Cairo"/>
              </a:rPr>
              <a:t>بحث نصي ودلالي + استرجاع مسند</a:t>
            </a:r>
          </a:p>
        </p:txBody>
      </p:sp>
      <p:sp>
        <p:nvSpPr>
          <p:cNvPr id="29" name="TextBox 28"/>
          <p:cNvSpPr txBox="1"/>
          <p:nvPr/>
        </p:nvSpPr>
        <p:spPr>
          <a:xfrm>
            <a:off x="932688" y="5029199"/>
            <a:ext cx="2852928" cy="356616"/>
          </a:xfrm>
          <a:prstGeom prst="rect">
            <a:avLst/>
          </a:prstGeom>
          <a:noFill/>
        </p:spPr>
        <p:txBody>
          <a:bodyPr wrap="square" lIns="13716" rIns="13716" tIns="0" bIns="0">
            <a:spAutoFit/>
          </a:bodyPr>
          <a:lstStyle/>
          <a:p>
            <a:pPr algn="r" rtl="1">
              <a:lnSpc>
                <a:spcPct val="104000"/>
              </a:lnSpc>
              <a:spcAft>
                <a:spcPts val="200"/>
              </a:spcAft>
            </a:pPr>
            <a:r>
              <a:rPr sz="1650" b="0" lang="ar-SA">
                <a:solidFill>
                  <a:srgbClr val="2B2521"/>
                </a:solidFill>
                <a:latin typeface="Noto Naskh Arabic"/>
                <a:cs typeface="Noto Naskh Arabic"/>
                <a:ea typeface="Noto Naskh Arabic"/>
              </a:rPr>
              <a:t>شرح بعزو يمكن مراجعته</a:t>
            </a:r>
          </a:p>
        </p:txBody>
      </p:sp>
      <p:sp>
        <p:nvSpPr>
          <p:cNvPr id="30" name="TextBox 29"/>
          <p:cNvSpPr txBox="1"/>
          <p:nvPr/>
        </p:nvSpPr>
        <p:spPr>
          <a:xfrm>
            <a:off x="768096" y="5806440"/>
            <a:ext cx="10533888" cy="466344"/>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4E3A00"/>
                </a:solidFill>
                <a:latin typeface="Noto Naskh Arabic"/>
                <a:cs typeface="Noto Naskh Arabic"/>
                <a:ea typeface="Noto Naskh Arabic"/>
              </a:rPr>
              <a:t>يُحسم اختيار مزود الصوت بعد قياس دقة الكشف، الأخطاء الزائفة، التكلفة والاحتفاظ بالبيانات.</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النتائج | تقبّل الفكرة لا يساوي نجاح المنتج بعد</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المصدر: استبيان الفريق، ٦٠ استجابة، الأسئلة ٤–٦. النتائج تفضيلات معلنة وليست أثر استخدام.</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08 / 09</a:t>
            </a:r>
          </a:p>
        </p:txBody>
      </p:sp>
      <p:sp>
        <p:nvSpPr>
          <p:cNvPr id="10" name="Rounded Rectangle 9"/>
          <p:cNvSpPr/>
          <p:nvPr/>
        </p:nvSpPr>
        <p:spPr>
          <a:xfrm>
            <a:off x="7872983" y="2560320"/>
            <a:ext cx="3465576" cy="3081528"/>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01583" y="2889504"/>
            <a:ext cx="3017520" cy="850392"/>
          </a:xfrm>
          <a:prstGeom prst="rect">
            <a:avLst/>
          </a:prstGeom>
          <a:noFill/>
        </p:spPr>
        <p:txBody>
          <a:bodyPr wrap="square" lIns="13716" rIns="13716" tIns="0" bIns="0">
            <a:spAutoFit/>
          </a:bodyPr>
          <a:lstStyle/>
          <a:p>
            <a:pPr algn="r" rtl="1">
              <a:lnSpc>
                <a:spcPct val="104000"/>
              </a:lnSpc>
              <a:spcAft>
                <a:spcPts val="200"/>
              </a:spcAft>
            </a:pPr>
            <a:r>
              <a:rPr sz="4000" b="1" lang="ar-SA">
                <a:solidFill>
                  <a:srgbClr val="6D4C3D"/>
                </a:solidFill>
                <a:latin typeface="Cairo"/>
                <a:cs typeface="Cairo"/>
                <a:ea typeface="Cairo"/>
              </a:rPr>
              <a:t>٧٨٫٣٪</a:t>
            </a:r>
          </a:p>
        </p:txBody>
      </p:sp>
      <p:sp>
        <p:nvSpPr>
          <p:cNvPr id="12" name="TextBox 11"/>
          <p:cNvSpPr txBox="1"/>
          <p:nvPr/>
        </p:nvSpPr>
        <p:spPr>
          <a:xfrm>
            <a:off x="8101583" y="3950208"/>
            <a:ext cx="2980944" cy="411480"/>
          </a:xfrm>
          <a:prstGeom prst="rect">
            <a:avLst/>
          </a:prstGeom>
          <a:noFill/>
        </p:spPr>
        <p:txBody>
          <a:bodyPr wrap="square" lIns="13716" rIns="13716" tIns="0" bIns="0">
            <a:spAutoFit/>
          </a:bodyPr>
          <a:lstStyle/>
          <a:p>
            <a:pPr algn="r" rtl="1">
              <a:lnSpc>
                <a:spcPct val="104000"/>
              </a:lnSpc>
              <a:spcAft>
                <a:spcPts val="200"/>
              </a:spcAft>
            </a:pPr>
            <a:r>
              <a:rPr sz="1900" b="1" lang="ar-SA">
                <a:solidFill>
                  <a:srgbClr val="6D4C3D"/>
                </a:solidFill>
                <a:latin typeface="Cairo"/>
                <a:cs typeface="Cairo"/>
                <a:ea typeface="Cairo"/>
              </a:rPr>
              <a:t>ذكر المصدر</a:t>
            </a:r>
          </a:p>
        </p:txBody>
      </p:sp>
      <p:sp>
        <p:nvSpPr>
          <p:cNvPr id="13" name="TextBox 12"/>
          <p:cNvSpPr txBox="1"/>
          <p:nvPr/>
        </p:nvSpPr>
        <p:spPr>
          <a:xfrm>
            <a:off x="8101583" y="4617720"/>
            <a:ext cx="2999232" cy="832104"/>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٤٧ من ٦٠ اختاروا ذكر المرجع ضمن عوامل الثقة.</a:t>
            </a:r>
          </a:p>
        </p:txBody>
      </p:sp>
      <p:sp>
        <p:nvSpPr>
          <p:cNvPr id="14" name="Rounded Rectangle 13"/>
          <p:cNvSpPr/>
          <p:nvPr/>
        </p:nvSpPr>
        <p:spPr>
          <a:xfrm>
            <a:off x="4251960" y="2560320"/>
            <a:ext cx="3465576" cy="3081528"/>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889504"/>
            <a:ext cx="3017520" cy="850392"/>
          </a:xfrm>
          <a:prstGeom prst="rect">
            <a:avLst/>
          </a:prstGeom>
          <a:noFill/>
        </p:spPr>
        <p:txBody>
          <a:bodyPr wrap="square" lIns="13716" rIns="13716" tIns="0" bIns="0">
            <a:spAutoFit/>
          </a:bodyPr>
          <a:lstStyle/>
          <a:p>
            <a:pPr algn="r" rtl="1">
              <a:lnSpc>
                <a:spcPct val="104000"/>
              </a:lnSpc>
              <a:spcAft>
                <a:spcPts val="200"/>
              </a:spcAft>
            </a:pPr>
            <a:r>
              <a:rPr sz="4000" b="1" lang="ar-SA">
                <a:solidFill>
                  <a:srgbClr val="994703"/>
                </a:solidFill>
                <a:latin typeface="Cairo"/>
                <a:cs typeface="Cairo"/>
                <a:ea typeface="Cairo"/>
              </a:rPr>
              <a:t>٦٣٫٣٪</a:t>
            </a:r>
          </a:p>
        </p:txBody>
      </p:sp>
      <p:sp>
        <p:nvSpPr>
          <p:cNvPr id="16" name="TextBox 15"/>
          <p:cNvSpPr txBox="1"/>
          <p:nvPr/>
        </p:nvSpPr>
        <p:spPr>
          <a:xfrm>
            <a:off x="4480560" y="3950208"/>
            <a:ext cx="2980944" cy="411480"/>
          </a:xfrm>
          <a:prstGeom prst="rect">
            <a:avLst/>
          </a:prstGeom>
          <a:noFill/>
        </p:spPr>
        <p:txBody>
          <a:bodyPr wrap="square" lIns="13716" rIns="13716" tIns="0" bIns="0">
            <a:spAutoFit/>
          </a:bodyPr>
          <a:lstStyle/>
          <a:p>
            <a:pPr algn="r" rtl="1">
              <a:lnSpc>
                <a:spcPct val="104000"/>
              </a:lnSpc>
              <a:spcAft>
                <a:spcPts val="200"/>
              </a:spcAft>
            </a:pPr>
            <a:r>
              <a:rPr sz="1900" b="1" lang="ar-SA">
                <a:solidFill>
                  <a:srgbClr val="6D4C3D"/>
                </a:solidFill>
                <a:latin typeface="Cairo"/>
                <a:cs typeface="Cairo"/>
                <a:ea typeface="Cairo"/>
              </a:rPr>
              <a:t>المساعد والإحالة</a:t>
            </a:r>
          </a:p>
        </p:txBody>
      </p:sp>
      <p:sp>
        <p:nvSpPr>
          <p:cNvPr id="17" name="TextBox 16"/>
          <p:cNvSpPr txBox="1"/>
          <p:nvPr/>
        </p:nvSpPr>
        <p:spPr>
          <a:xfrm>
            <a:off x="4480560" y="4617720"/>
            <a:ext cx="2999232" cy="832104"/>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٣٨ من ٦٠ وصفوا هذا التصور بأنه ممتاز.</a:t>
            </a:r>
          </a:p>
        </p:txBody>
      </p:sp>
      <p:sp>
        <p:nvSpPr>
          <p:cNvPr id="18" name="Rounded Rectangle 17"/>
          <p:cNvSpPr/>
          <p:nvPr/>
        </p:nvSpPr>
        <p:spPr>
          <a:xfrm>
            <a:off x="649224" y="2560320"/>
            <a:ext cx="3465576" cy="3081528"/>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2889504"/>
            <a:ext cx="3017520" cy="850392"/>
          </a:xfrm>
          <a:prstGeom prst="rect">
            <a:avLst/>
          </a:prstGeom>
          <a:noFill/>
        </p:spPr>
        <p:txBody>
          <a:bodyPr wrap="square" lIns="13716" rIns="13716" tIns="0" bIns="0">
            <a:spAutoFit/>
          </a:bodyPr>
          <a:lstStyle/>
          <a:p>
            <a:pPr algn="r" rtl="1">
              <a:lnSpc>
                <a:spcPct val="104000"/>
              </a:lnSpc>
              <a:spcAft>
                <a:spcPts val="200"/>
              </a:spcAft>
            </a:pPr>
            <a:r>
              <a:rPr sz="4000" b="1" lang="ar-SA">
                <a:solidFill>
                  <a:srgbClr val="4E3A00"/>
                </a:solidFill>
                <a:latin typeface="Cairo"/>
                <a:cs typeface="Cairo"/>
                <a:ea typeface="Cairo"/>
              </a:rPr>
              <a:t>٥٨٫٣٪</a:t>
            </a:r>
          </a:p>
        </p:txBody>
      </p:sp>
      <p:sp>
        <p:nvSpPr>
          <p:cNvPr id="20" name="TextBox 19"/>
          <p:cNvSpPr txBox="1"/>
          <p:nvPr/>
        </p:nvSpPr>
        <p:spPr>
          <a:xfrm>
            <a:off x="877824" y="3950208"/>
            <a:ext cx="2980944" cy="411480"/>
          </a:xfrm>
          <a:prstGeom prst="rect">
            <a:avLst/>
          </a:prstGeom>
          <a:noFill/>
        </p:spPr>
        <p:txBody>
          <a:bodyPr wrap="square" lIns="13716" rIns="13716" tIns="0" bIns="0">
            <a:spAutoFit/>
          </a:bodyPr>
          <a:lstStyle/>
          <a:p>
            <a:pPr algn="r" rtl="1">
              <a:lnSpc>
                <a:spcPct val="104000"/>
              </a:lnSpc>
              <a:spcAft>
                <a:spcPts val="200"/>
              </a:spcAft>
            </a:pPr>
            <a:r>
              <a:rPr sz="1900" b="1" lang="ar-SA">
                <a:solidFill>
                  <a:srgbClr val="6D4C3D"/>
                </a:solidFill>
                <a:latin typeface="Cairo"/>
                <a:cs typeface="Cairo"/>
                <a:ea typeface="Cairo"/>
              </a:rPr>
              <a:t>صوت مقترح</a:t>
            </a:r>
          </a:p>
        </p:txBody>
      </p:sp>
      <p:sp>
        <p:nvSpPr>
          <p:cNvPr id="21" name="TextBox 20"/>
          <p:cNvSpPr txBox="1"/>
          <p:nvPr/>
        </p:nvSpPr>
        <p:spPr>
          <a:xfrm>
            <a:off x="877824" y="4617720"/>
            <a:ext cx="2999232" cy="832104"/>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٣٥ من ٦٠ قيّموا فكرة صوتية أوسع بـ٤–٥ من ٥.</a:t>
            </a:r>
          </a:p>
        </p:txBody>
      </p:sp>
      <p:sp>
        <p:nvSpPr>
          <p:cNvPr id="22" name="TextBox 21"/>
          <p:cNvSpPr txBox="1"/>
          <p:nvPr/>
        </p:nvSpPr>
        <p:spPr>
          <a:xfrm>
            <a:off x="740664" y="5870448"/>
            <a:ext cx="10561320" cy="475488"/>
          </a:xfrm>
          <a:prstGeom prst="rect">
            <a:avLst/>
          </a:prstGeom>
          <a:noFill/>
        </p:spPr>
        <p:txBody>
          <a:bodyPr wrap="square" lIns="13716" rIns="13716" tIns="0" bIns="0">
            <a:spAutoFit/>
          </a:bodyPr>
          <a:lstStyle/>
          <a:p>
            <a:pPr algn="r" rtl="1">
              <a:lnSpc>
                <a:spcPct val="104000"/>
              </a:lnSpc>
              <a:spcAft>
                <a:spcPts val="200"/>
              </a:spcAft>
            </a:pPr>
            <a:r>
              <a:rPr sz="1800" b="1" lang="ar-SA">
                <a:solidFill>
                  <a:srgbClr val="6D4C3D"/>
                </a:solidFill>
                <a:latin typeface="Cairo"/>
                <a:cs typeface="Cairo"/>
                <a:ea typeface="Cairo"/>
              </a:rPr>
              <a:t>الخطوة التالية: اختبار دقة التسميع وصحة العزو وإتمام الرحلة قبل إعلان نتائج أداء.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Rectangle 1"/>
          <p:cNvSpPr/>
          <p:nvPr/>
        </p:nvSpPr>
        <p:spPr>
          <a:xfrm>
            <a:off x="0" y="0"/>
            <a:ext cx="12191999" cy="96012"/>
          </a:xfrm>
          <a:prstGeom prst="rect">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teen-official-logo.png"/>
          <p:cNvPicPr>
            <a:picLocks noChangeAspect="1"/>
          </p:cNvPicPr>
          <p:nvPr/>
        </p:nvPicPr>
        <p:blipFill>
          <a:blip r:embed="rId2"/>
          <a:stretch>
            <a:fillRect/>
          </a:stretch>
        </p:blipFill>
        <p:spPr>
          <a:xfrm>
            <a:off x="10625328" y="210312"/>
            <a:ext cx="850392" cy="402336"/>
          </a:xfrm>
          <a:prstGeom prst="rect">
            <a:avLst/>
          </a:prstGeom>
        </p:spPr>
      </p:pic>
      <p:sp>
        <p:nvSpPr>
          <p:cNvPr id="4" name="TextBox 3"/>
          <p:cNvSpPr txBox="1"/>
          <p:nvPr/>
        </p:nvSpPr>
        <p:spPr>
          <a:xfrm>
            <a:off x="640080" y="265176"/>
            <a:ext cx="9537192" cy="256032"/>
          </a:xfrm>
          <a:prstGeom prst="rect">
            <a:avLst/>
          </a:prstGeom>
          <a:noFill/>
        </p:spPr>
        <p:txBody>
          <a:bodyPr wrap="square" lIns="13716" rIns="13716" tIns="0" bIns="0">
            <a:spAutoFit/>
          </a:bodyPr>
          <a:lstStyle/>
          <a:p>
            <a:pPr algn="r" rtl="1">
              <a:lnSpc>
                <a:spcPct val="104000"/>
              </a:lnSpc>
              <a:spcAft>
                <a:spcPts val="200"/>
              </a:spcAft>
            </a:pPr>
            <a:r>
              <a:rPr sz="1000" b="1" lang="ar-SA">
                <a:solidFill>
                  <a:srgbClr val="6D4C3D"/>
                </a:solidFill>
                <a:latin typeface="Cairo"/>
                <a:cs typeface="Cairo"/>
                <a:ea typeface="Cairo"/>
              </a:rPr>
              <a:t>تصور المشروع • المسار المفتوح</a:t>
            </a:r>
          </a:p>
        </p:txBody>
      </p:sp>
      <p:sp>
        <p:nvSpPr>
          <p:cNvPr id="5" name="Rectangle 4"/>
          <p:cNvSpPr/>
          <p:nvPr/>
        </p:nvSpPr>
        <p:spPr>
          <a:xfrm>
            <a:off x="658368" y="786384"/>
            <a:ext cx="10881360" cy="12801"/>
          </a:xfrm>
          <a:prstGeom prst="rect">
            <a:avLst/>
          </a:prstGeom>
          <a:solidFill>
            <a:srgbClr val="DDD1C5"/>
          </a:solidFill>
          <a:ln>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32688"/>
            <a:ext cx="10863072" cy="822960"/>
          </a:xfrm>
          <a:prstGeom prst="rect">
            <a:avLst/>
          </a:prstGeom>
          <a:noFill/>
        </p:spPr>
        <p:txBody>
          <a:bodyPr wrap="square" lIns="13716" rIns="13716" tIns="0" bIns="0">
            <a:spAutoFit/>
          </a:bodyPr>
          <a:lstStyle/>
          <a:p>
            <a:pPr algn="r" rtl="1">
              <a:lnSpc>
                <a:spcPct val="104000"/>
              </a:lnSpc>
              <a:spcAft>
                <a:spcPts val="200"/>
              </a:spcAft>
            </a:pPr>
            <a:r>
              <a:rPr sz="2900" b="1" lang="ar-SA">
                <a:solidFill>
                  <a:srgbClr val="6D4C3D"/>
                </a:solidFill>
                <a:latin typeface="Kufam"/>
                <a:cs typeface="Kufam"/>
                <a:ea typeface="Kufam"/>
              </a:rPr>
              <a:t>الاستمرار | نثبت رحلة واحدة ثم نتوسع بمسؤولية</a:t>
            </a:r>
          </a:p>
        </p:txBody>
      </p:sp>
      <p:sp>
        <p:nvSpPr>
          <p:cNvPr id="7" name="Rectangle 6"/>
          <p:cNvSpPr/>
          <p:nvPr/>
        </p:nvSpPr>
        <p:spPr>
          <a:xfrm>
            <a:off x="10835640" y="1792224"/>
            <a:ext cx="667512" cy="41148"/>
          </a:xfrm>
          <a:prstGeom prst="rect">
            <a:avLst/>
          </a:prstGeom>
          <a:solidFill>
            <a:srgbClr val="994703"/>
          </a:solidFill>
          <a:ln>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6501384"/>
            <a:ext cx="10241280" cy="210312"/>
          </a:xfrm>
          <a:prstGeom prst="rect">
            <a:avLst/>
          </a:prstGeom>
          <a:noFill/>
        </p:spPr>
        <p:txBody>
          <a:bodyPr wrap="square" lIns="13716" rIns="13716" tIns="0" bIns="0">
            <a:spAutoFit/>
          </a:bodyPr>
          <a:lstStyle/>
          <a:p>
            <a:pPr algn="r" rtl="1">
              <a:lnSpc>
                <a:spcPct val="104000"/>
              </a:lnSpc>
              <a:spcAft>
                <a:spcPts val="200"/>
              </a:spcAft>
            </a:pPr>
            <a:r>
              <a:rPr sz="900" b="0" lang="ar-SA">
                <a:solidFill>
                  <a:srgbClr val="685F57"/>
                </a:solidFill>
                <a:latin typeface="Cairo"/>
                <a:cs typeface="Cairo"/>
                <a:ea typeface="Cairo"/>
              </a:rPr>
              <a:t>مَتِين  |  عرض مشروع • الوظائف والخطط مقترحة ما لم يُذكر خلاف ذلك</a:t>
            </a:r>
          </a:p>
        </p:txBody>
      </p:sp>
      <p:sp>
        <p:nvSpPr>
          <p:cNvPr id="9" name="TextBox 8"/>
          <p:cNvSpPr txBox="1"/>
          <p:nvPr/>
        </p:nvSpPr>
        <p:spPr>
          <a:xfrm>
            <a:off x="667512" y="6473952"/>
            <a:ext cx="621792" cy="237744"/>
          </a:xfrm>
          <a:prstGeom prst="rect">
            <a:avLst/>
          </a:prstGeom>
          <a:noFill/>
        </p:spPr>
        <p:txBody>
          <a:bodyPr wrap="square" lIns="13716" rIns="13716" tIns="0" bIns="0">
            <a:spAutoFit/>
          </a:bodyPr>
          <a:lstStyle/>
          <a:p>
            <a:pPr algn="l" rtl="0">
              <a:lnSpc>
                <a:spcPct val="104000"/>
              </a:lnSpc>
              <a:spcAft>
                <a:spcPts val="200"/>
              </a:spcAft>
            </a:pPr>
            <a:r>
              <a:rPr sz="1000" b="0" lang="en-US">
                <a:solidFill>
                  <a:srgbClr val="6D4C3D"/>
                </a:solidFill>
                <a:latin typeface="Cairo"/>
                <a:cs typeface="Cairo"/>
                <a:ea typeface="Cairo"/>
              </a:rPr>
              <a:t>09 / 09</a:t>
            </a:r>
          </a:p>
        </p:txBody>
      </p:sp>
      <p:sp>
        <p:nvSpPr>
          <p:cNvPr id="10" name="Rounded Rectangle 9"/>
          <p:cNvSpPr/>
          <p:nvPr/>
        </p:nvSpPr>
        <p:spPr>
          <a:xfrm>
            <a:off x="7900416" y="2185416"/>
            <a:ext cx="3447288" cy="217627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01584" y="2414016"/>
            <a:ext cx="3017520" cy="429768"/>
          </a:xfrm>
          <a:prstGeom prst="rect">
            <a:avLst/>
          </a:prstGeom>
          <a:noFill/>
        </p:spPr>
        <p:txBody>
          <a:bodyPr wrap="square" lIns="13716" rIns="13716" tIns="0" bIns="0">
            <a:spAutoFit/>
          </a:bodyPr>
          <a:lstStyle/>
          <a:p>
            <a:pPr algn="r" rtl="1">
              <a:lnSpc>
                <a:spcPct val="104000"/>
              </a:lnSpc>
              <a:spcAft>
                <a:spcPts val="200"/>
              </a:spcAft>
            </a:pPr>
            <a:r>
              <a:rPr sz="2200" b="1" lang="ar-SA">
                <a:solidFill>
                  <a:srgbClr val="994703"/>
                </a:solidFill>
                <a:latin typeface="Cairo"/>
                <a:cs typeface="Cairo"/>
                <a:ea typeface="Cairo"/>
              </a:rPr>
              <a:t>٠١</a:t>
            </a:r>
          </a:p>
        </p:txBody>
      </p:sp>
      <p:sp>
        <p:nvSpPr>
          <p:cNvPr id="12" name="TextBox 11"/>
          <p:cNvSpPr txBox="1"/>
          <p:nvPr/>
        </p:nvSpPr>
        <p:spPr>
          <a:xfrm>
            <a:off x="8101584" y="2935224"/>
            <a:ext cx="3008376" cy="374904"/>
          </a:xfrm>
          <a:prstGeom prst="rect">
            <a:avLst/>
          </a:prstGeom>
          <a:noFill/>
        </p:spPr>
        <p:txBody>
          <a:bodyPr wrap="square" lIns="13716" rIns="13716" tIns="0" bIns="0">
            <a:spAutoFit/>
          </a:bodyPr>
          <a:lstStyle/>
          <a:p>
            <a:pPr algn="r" rtl="1">
              <a:lnSpc>
                <a:spcPct val="104000"/>
              </a:lnSpc>
              <a:spcAft>
                <a:spcPts val="200"/>
              </a:spcAft>
            </a:pPr>
            <a:r>
              <a:rPr sz="1800" b="1" lang="ar-SA">
                <a:solidFill>
                  <a:srgbClr val="6D4C3D"/>
                </a:solidFill>
                <a:latin typeface="Cairo"/>
                <a:cs typeface="Cairo"/>
                <a:ea typeface="Cairo"/>
              </a:rPr>
              <a:t>نطاق أول</a:t>
            </a:r>
          </a:p>
        </p:txBody>
      </p:sp>
      <p:sp>
        <p:nvSpPr>
          <p:cNvPr id="13" name="TextBox 12"/>
          <p:cNvSpPr txBox="1"/>
          <p:nvPr/>
        </p:nvSpPr>
        <p:spPr>
          <a:xfrm>
            <a:off x="8101584" y="3511296"/>
            <a:ext cx="3008376" cy="731520"/>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متن معتمد واحد؛ كلمات وشرح مسند وإحالة نصية.</a:t>
            </a:r>
          </a:p>
        </p:txBody>
      </p:sp>
      <p:sp>
        <p:nvSpPr>
          <p:cNvPr id="14" name="Rounded Rectangle 13"/>
          <p:cNvSpPr/>
          <p:nvPr/>
        </p:nvSpPr>
        <p:spPr>
          <a:xfrm>
            <a:off x="4261104" y="2185416"/>
            <a:ext cx="3447288" cy="217627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2414016"/>
            <a:ext cx="3017520" cy="429768"/>
          </a:xfrm>
          <a:prstGeom prst="rect">
            <a:avLst/>
          </a:prstGeom>
          <a:noFill/>
        </p:spPr>
        <p:txBody>
          <a:bodyPr wrap="square" lIns="13716" rIns="13716" tIns="0" bIns="0">
            <a:spAutoFit/>
          </a:bodyPr>
          <a:lstStyle/>
          <a:p>
            <a:pPr algn="r" rtl="1">
              <a:lnSpc>
                <a:spcPct val="104000"/>
              </a:lnSpc>
              <a:spcAft>
                <a:spcPts val="200"/>
              </a:spcAft>
            </a:pPr>
            <a:r>
              <a:rPr sz="2200" b="1" lang="ar-SA">
                <a:solidFill>
                  <a:srgbClr val="994703"/>
                </a:solidFill>
                <a:latin typeface="Cairo"/>
                <a:cs typeface="Cairo"/>
                <a:ea typeface="Cairo"/>
              </a:rPr>
              <a:t>٠٢</a:t>
            </a:r>
          </a:p>
        </p:txBody>
      </p:sp>
      <p:sp>
        <p:nvSpPr>
          <p:cNvPr id="16" name="TextBox 15"/>
          <p:cNvSpPr txBox="1"/>
          <p:nvPr/>
        </p:nvSpPr>
        <p:spPr>
          <a:xfrm>
            <a:off x="4462272" y="2935224"/>
            <a:ext cx="3008376" cy="374904"/>
          </a:xfrm>
          <a:prstGeom prst="rect">
            <a:avLst/>
          </a:prstGeom>
          <a:noFill/>
        </p:spPr>
        <p:txBody>
          <a:bodyPr wrap="square" lIns="13716" rIns="13716" tIns="0" bIns="0">
            <a:spAutoFit/>
          </a:bodyPr>
          <a:lstStyle/>
          <a:p>
            <a:pPr algn="r" rtl="1">
              <a:lnSpc>
                <a:spcPct val="104000"/>
              </a:lnSpc>
              <a:spcAft>
                <a:spcPts val="200"/>
              </a:spcAft>
            </a:pPr>
            <a:r>
              <a:rPr sz="1800" b="1" lang="ar-SA">
                <a:solidFill>
                  <a:srgbClr val="6D4C3D"/>
                </a:solidFill>
                <a:latin typeface="Cairo"/>
                <a:cs typeface="Cairo"/>
                <a:ea typeface="Cairo"/>
              </a:rPr>
              <a:t>قياس وتطوير</a:t>
            </a:r>
          </a:p>
        </p:txBody>
      </p:sp>
      <p:sp>
        <p:nvSpPr>
          <p:cNvPr id="17" name="TextBox 16"/>
          <p:cNvSpPr txBox="1"/>
          <p:nvPr/>
        </p:nvSpPr>
        <p:spPr>
          <a:xfrm>
            <a:off x="4462272" y="3511296"/>
            <a:ext cx="3008376" cy="731520"/>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دقة الكشف والعزو؛ تكلفة الصوت والسؤال والمراجعة.</a:t>
            </a:r>
          </a:p>
        </p:txBody>
      </p:sp>
      <p:sp>
        <p:nvSpPr>
          <p:cNvPr id="18" name="Rounded Rectangle 17"/>
          <p:cNvSpPr/>
          <p:nvPr/>
        </p:nvSpPr>
        <p:spPr>
          <a:xfrm>
            <a:off x="658368" y="2185416"/>
            <a:ext cx="3447288" cy="2176272"/>
          </a:xfrm>
          <a:prstGeom prst="roundRect">
            <a:avLst>
              <a:gd name="adj" fmla="val 6000"/>
            </a:avLst>
          </a:prstGeom>
          <a:solidFill>
            <a:srgbClr val="FFFFFF"/>
          </a:solidFill>
          <a:ln w="10795">
            <a:solidFill>
              <a:srgbClr val="DD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2414016"/>
            <a:ext cx="3017520" cy="429768"/>
          </a:xfrm>
          <a:prstGeom prst="rect">
            <a:avLst/>
          </a:prstGeom>
          <a:noFill/>
        </p:spPr>
        <p:txBody>
          <a:bodyPr wrap="square" lIns="13716" rIns="13716" tIns="0" bIns="0">
            <a:spAutoFit/>
          </a:bodyPr>
          <a:lstStyle/>
          <a:p>
            <a:pPr algn="r" rtl="1">
              <a:lnSpc>
                <a:spcPct val="104000"/>
              </a:lnSpc>
              <a:spcAft>
                <a:spcPts val="200"/>
              </a:spcAft>
            </a:pPr>
            <a:r>
              <a:rPr sz="2200" b="1" lang="ar-SA">
                <a:solidFill>
                  <a:srgbClr val="994703"/>
                </a:solidFill>
                <a:latin typeface="Cairo"/>
                <a:cs typeface="Cairo"/>
                <a:ea typeface="Cairo"/>
              </a:rPr>
              <a:t>٠٣</a:t>
            </a:r>
          </a:p>
        </p:txBody>
      </p:sp>
      <p:sp>
        <p:nvSpPr>
          <p:cNvPr id="20" name="TextBox 19"/>
          <p:cNvSpPr txBox="1"/>
          <p:nvPr/>
        </p:nvSpPr>
        <p:spPr>
          <a:xfrm>
            <a:off x="859536" y="2935224"/>
            <a:ext cx="3008376" cy="374904"/>
          </a:xfrm>
          <a:prstGeom prst="rect">
            <a:avLst/>
          </a:prstGeom>
          <a:noFill/>
        </p:spPr>
        <p:txBody>
          <a:bodyPr wrap="square" lIns="13716" rIns="13716" tIns="0" bIns="0">
            <a:spAutoFit/>
          </a:bodyPr>
          <a:lstStyle/>
          <a:p>
            <a:pPr algn="r" rtl="1">
              <a:lnSpc>
                <a:spcPct val="104000"/>
              </a:lnSpc>
              <a:spcAft>
                <a:spcPts val="200"/>
              </a:spcAft>
            </a:pPr>
            <a:r>
              <a:rPr sz="1800" b="1" lang="ar-SA">
                <a:solidFill>
                  <a:srgbClr val="6D4C3D"/>
                </a:solidFill>
                <a:latin typeface="Cairo"/>
                <a:cs typeface="Cairo"/>
                <a:ea typeface="Cairo"/>
              </a:rPr>
              <a:t>توسع مشروط</a:t>
            </a:r>
          </a:p>
        </p:txBody>
      </p:sp>
      <p:sp>
        <p:nvSpPr>
          <p:cNvPr id="21" name="TextBox 20"/>
          <p:cNvSpPr txBox="1"/>
          <p:nvPr/>
        </p:nvSpPr>
        <p:spPr>
          <a:xfrm>
            <a:off x="859536" y="3511296"/>
            <a:ext cx="3008376" cy="731520"/>
          </a:xfrm>
          <a:prstGeom prst="rect">
            <a:avLst/>
          </a:prstGeom>
          <a:noFill/>
        </p:spPr>
        <p:txBody>
          <a:bodyPr wrap="square" lIns="13716" rIns="13716" tIns="0" bIns="0">
            <a:spAutoFit/>
          </a:bodyPr>
          <a:lstStyle/>
          <a:p>
            <a:pPr algn="r" rtl="1">
              <a:lnSpc>
                <a:spcPct val="104000"/>
              </a:lnSpc>
              <a:spcAft>
                <a:spcPts val="200"/>
              </a:spcAft>
            </a:pPr>
            <a:r>
              <a:rPr sz="1800" b="0" lang="ar-SA">
                <a:solidFill>
                  <a:srgbClr val="2B2521"/>
                </a:solidFill>
                <a:latin typeface="Noto Naskh Arabic"/>
                <a:cs typeface="Noto Naskh Arabic"/>
                <a:ea typeface="Noto Naskh Arabic"/>
              </a:rPr>
              <a:t>متون إضافية بعد الترخيص والاختبار والتدقيق.</a:t>
            </a:r>
          </a:p>
        </p:txBody>
      </p:sp>
      <p:sp>
        <p:nvSpPr>
          <p:cNvPr id="22" name="Rounded Rectangle 21"/>
          <p:cNvSpPr/>
          <p:nvPr/>
        </p:nvSpPr>
        <p:spPr>
          <a:xfrm>
            <a:off x="676656" y="4681728"/>
            <a:ext cx="10789920" cy="1069848"/>
          </a:xfrm>
          <a:prstGeom prst="roundRect">
            <a:avLst>
              <a:gd name="adj" fmla="val 6000"/>
            </a:avLst>
          </a:prstGeom>
          <a:solidFill>
            <a:srgbClr val="6D4C3D"/>
          </a:solidFill>
          <a:ln>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81344" y="4892040"/>
            <a:ext cx="5020056" cy="356616"/>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FFFFFF"/>
                </a:solidFill>
                <a:latin typeface="Cairo"/>
                <a:cs typeface="Cairo"/>
                <a:ea typeface="Cairo"/>
              </a:rPr>
              <a:t>عبد الرحمن عماد ابوز عنين</a:t>
            </a:r>
          </a:p>
        </p:txBody>
      </p:sp>
      <p:sp>
        <p:nvSpPr>
          <p:cNvPr id="24" name="TextBox 23"/>
          <p:cNvSpPr txBox="1"/>
          <p:nvPr/>
        </p:nvSpPr>
        <p:spPr>
          <a:xfrm>
            <a:off x="6181344" y="5330952"/>
            <a:ext cx="5020056" cy="256032"/>
          </a:xfrm>
          <a:prstGeom prst="rect">
            <a:avLst/>
          </a:prstGeom>
          <a:noFill/>
        </p:spPr>
        <p:txBody>
          <a:bodyPr wrap="square" lIns="13716" rIns="13716" tIns="0" bIns="0">
            <a:spAutoFit/>
          </a:bodyPr>
          <a:lstStyle/>
          <a:p>
            <a:pPr algn="r" rtl="1">
              <a:lnSpc>
                <a:spcPct val="104000"/>
              </a:lnSpc>
              <a:spcAft>
                <a:spcPts val="200"/>
              </a:spcAft>
            </a:pPr>
            <a:r>
              <a:rPr sz="1350" b="0" lang="ar-SA">
                <a:solidFill>
                  <a:srgbClr val="FFFFFF"/>
                </a:solidFill>
                <a:latin typeface="Cairo"/>
                <a:cs typeface="Cairo"/>
                <a:ea typeface="Cairo"/>
              </a:rPr>
              <a:t>الفكرة والتجربة والواجهات ومراجعة المصادر</a:t>
            </a:r>
          </a:p>
        </p:txBody>
      </p:sp>
      <p:sp>
        <p:nvSpPr>
          <p:cNvPr id="25" name="TextBox 24"/>
          <p:cNvSpPr txBox="1"/>
          <p:nvPr/>
        </p:nvSpPr>
        <p:spPr>
          <a:xfrm>
            <a:off x="960120" y="4892040"/>
            <a:ext cx="4809744" cy="356616"/>
          </a:xfrm>
          <a:prstGeom prst="rect">
            <a:avLst/>
          </a:prstGeom>
          <a:noFill/>
        </p:spPr>
        <p:txBody>
          <a:bodyPr wrap="square" lIns="13716" rIns="13716" tIns="0" bIns="0">
            <a:spAutoFit/>
          </a:bodyPr>
          <a:lstStyle/>
          <a:p>
            <a:pPr algn="r" rtl="1">
              <a:lnSpc>
                <a:spcPct val="104000"/>
              </a:lnSpc>
              <a:spcAft>
                <a:spcPts val="200"/>
              </a:spcAft>
            </a:pPr>
            <a:r>
              <a:rPr sz="1700" b="1" lang="ar-SA">
                <a:solidFill>
                  <a:srgbClr val="FFFFFF"/>
                </a:solidFill>
                <a:latin typeface="Cairo"/>
                <a:cs typeface="Cairo"/>
                <a:ea typeface="Cairo"/>
              </a:rPr>
              <a:t>مالك نورالدين الساعدي</a:t>
            </a:r>
          </a:p>
        </p:txBody>
      </p:sp>
      <p:sp>
        <p:nvSpPr>
          <p:cNvPr id="26" name="TextBox 25"/>
          <p:cNvSpPr txBox="1"/>
          <p:nvPr/>
        </p:nvSpPr>
        <p:spPr>
          <a:xfrm>
            <a:off x="960120" y="5330952"/>
            <a:ext cx="4809744" cy="256032"/>
          </a:xfrm>
          <a:prstGeom prst="rect">
            <a:avLst/>
          </a:prstGeom>
          <a:noFill/>
        </p:spPr>
        <p:txBody>
          <a:bodyPr wrap="square" lIns="13716" rIns="13716" tIns="0" bIns="0">
            <a:spAutoFit/>
          </a:bodyPr>
          <a:lstStyle/>
          <a:p>
            <a:pPr algn="r" rtl="1">
              <a:lnSpc>
                <a:spcPct val="104000"/>
              </a:lnSpc>
              <a:spcAft>
                <a:spcPts val="200"/>
              </a:spcAft>
            </a:pPr>
            <a:r>
              <a:rPr sz="1350" b="0" lang="ar-SA">
                <a:solidFill>
                  <a:srgbClr val="FFFFFF"/>
                </a:solidFill>
                <a:latin typeface="Cairo"/>
                <a:cs typeface="Cairo"/>
                <a:ea typeface="Cairo"/>
              </a:rPr>
              <a:t>الذكاء الاصطناعي والنماذج والخادم</a:t>
            </a:r>
          </a:p>
        </p:txBody>
      </p:sp>
      <p:sp>
        <p:nvSpPr>
          <p:cNvPr id="27" name="TextBox 26"/>
          <p:cNvSpPr txBox="1"/>
          <p:nvPr/>
        </p:nvSpPr>
        <p:spPr>
          <a:xfrm>
            <a:off x="1024128" y="5980176"/>
            <a:ext cx="10104120" cy="338328"/>
          </a:xfrm>
          <a:prstGeom prst="rect">
            <a:avLst/>
          </a:prstGeom>
          <a:noFill/>
        </p:spPr>
        <p:txBody>
          <a:bodyPr wrap="square" lIns="13716" rIns="13716" tIns="0" bIns="0">
            <a:spAutoFit/>
          </a:bodyPr>
          <a:lstStyle/>
          <a:p>
            <a:pPr algn="ctr" rtl="1">
              <a:lnSpc>
                <a:spcPct val="104000"/>
              </a:lnSpc>
              <a:spcAft>
                <a:spcPts val="200"/>
              </a:spcAft>
            </a:pPr>
            <a:r>
              <a:rPr sz="1800" b="1" lang="ar-SA">
                <a:solidFill>
                  <a:srgbClr val="4E3A00"/>
                </a:solidFill>
                <a:latin typeface="Cairo"/>
                <a:cs typeface="Cairo"/>
                <a:ea typeface="Cairo"/>
              </a:rPr>
              <a:t>مَتِين: تقنية مساعدة، ومصدر يمكن التحقق منه، ومعلّم لا يغيب عن القرار.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مَتِين | عرض الفكرة بهوية المشروع</dc:title>
  <dc:subject>عرض من تسع شرائح للمسار المفتوح</dc:subject>
  <dc:creator>فريق مَتِين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